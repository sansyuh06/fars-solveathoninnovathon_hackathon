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69" r:id="rId4"/>
    <p:sldId id="265" r:id="rId5"/>
    <p:sldId id="264" r:id="rId6"/>
    <p:sldId id="277" r:id="rId7"/>
    <p:sldId id="266" r:id="rId8"/>
    <p:sldId id="267" r:id="rId9"/>
    <p:sldId id="258" r:id="rId10"/>
    <p:sldId id="268" r:id="rId11"/>
    <p:sldId id="270" r:id="rId12"/>
    <p:sldId id="275" r:id="rId13"/>
    <p:sldId id="276" r:id="rId14"/>
    <p:sldId id="273" r:id="rId15"/>
    <p:sldId id="271" r:id="rId16"/>
    <p:sldId id="260" r:id="rId17"/>
    <p:sldId id="26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46"/>
    <a:srgbClr val="008C43"/>
    <a:srgbClr val="FFFFFF"/>
    <a:srgbClr val="EB1C2E"/>
    <a:srgbClr val="EB1C2F"/>
    <a:srgbClr val="0000FF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6E536-39BC-4164-8424-E59AFDE85D1D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663B7-90FC-406D-8A58-AD97D4944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8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739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8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9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59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2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4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5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9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8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9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1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57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sldNum" idx="12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11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t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F1D77-033E-4CA1-8E38-FA3FD1DCBFAA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16E22-ECD3-47EC-9FC3-1801D83190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3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3.png"/><Relationship Id="rId5" Type="http://schemas.openxmlformats.org/officeDocument/2006/relationships/image" Target="../media/image8.jpe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743390" TargetMode="External"/><Relationship Id="rId2" Type="http://schemas.openxmlformats.org/officeDocument/2006/relationships/hyperlink" Target="https://ieeexplore.ieee.org/document/897108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png"/><Relationship Id="rId5" Type="http://schemas.openxmlformats.org/officeDocument/2006/relationships/image" Target="../media/image16.emf"/><Relationship Id="rId10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3894130" y="388168"/>
            <a:ext cx="6212205" cy="493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0454"/>
              </a:lnSpc>
              <a:buClr>
                <a:srgbClr val="000000"/>
              </a:buClr>
              <a:buSzPts val="1100"/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SUBJECTSUBJECTSUBJECT CODECODECODE</a:t>
            </a:r>
            <a:endParaRPr sz="1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>
              <a:spcBef>
                <a:spcPts val="30"/>
              </a:spcBef>
              <a:buClr>
                <a:srgbClr val="000000"/>
              </a:buClr>
              <a:buSzPts val="1000"/>
            </a:pPr>
            <a:endParaRPr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TYPETYPETYPE THETHETHE SUBJECTSUBJECTSUBJECT NAMENAMENAME HEREHEREHERE</a:t>
            </a:r>
            <a:endParaRPr sz="1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-98961" y="0"/>
            <a:ext cx="12191999" cy="68579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675119" y="4042279"/>
            <a:ext cx="2636251" cy="110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22884">
              <a:buClr>
                <a:srgbClr val="000000"/>
              </a:buClr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    II	    III</a:t>
            </a:r>
            <a:endParaRPr sz="3600" baseline="30000" dirty="0">
              <a:solidFill>
                <a:srgbClr val="00000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12700" algn="ctr">
              <a:spcBef>
                <a:spcPts val="1780"/>
              </a:spcBef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LIVE-IN-LAB PROJECT WORK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4718649" y="457714"/>
            <a:ext cx="5979452" cy="398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22350">
              <a:buClr>
                <a:srgbClr val="000000"/>
              </a:buClr>
              <a:buSzPts val="1800"/>
            </a:pPr>
            <a:r>
              <a:rPr lang="en-US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	SOLVEATHON</a:t>
            </a:r>
            <a:endParaRPr lang="en-US" dirty="0">
              <a:solidFill>
                <a:srgbClr val="000000"/>
              </a:solidFill>
              <a:latin typeface="Aptos Display"/>
              <a:ea typeface="Roboto"/>
              <a:cs typeface="Times New Roman"/>
            </a:endParaRP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-US" sz="1600" b="1" dirty="0" err="1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Reg.Number</a:t>
            </a: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:    1.  412414921042		</a:t>
            </a:r>
            <a:endParaRPr lang="en-US" sz="1600" b="1" dirty="0">
              <a:solidFill>
                <a:srgbClr val="FFFFFF"/>
              </a:solidFill>
              <a:latin typeface="Aptos Display"/>
              <a:ea typeface="Roboto"/>
              <a:cs typeface="Times New Roman"/>
            </a:endParaRP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	             2.412414921004</a:t>
            </a:r>
            <a:endParaRPr lang="en-US" sz="1600" b="1" dirty="0">
              <a:solidFill>
                <a:srgbClr val="FFFFFF"/>
              </a:solidFill>
              <a:latin typeface="Aptos Display"/>
              <a:ea typeface="Roboto"/>
              <a:cs typeface="Times New Roman"/>
            </a:endParaRP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	         	   3. 412414921039</a:t>
            </a:r>
            <a:endParaRPr lang="en-US" sz="1600" b="1" dirty="0">
              <a:solidFill>
                <a:srgbClr val="FFFFFF"/>
              </a:solidFill>
              <a:latin typeface="Aptos Display"/>
              <a:ea typeface="Roboto"/>
              <a:cs typeface="Times New Roman"/>
            </a:endParaRPr>
          </a:p>
          <a:p>
            <a:pPr marL="12700" marR="5080">
              <a:lnSpc>
                <a:spcPct val="150000"/>
              </a:lnSpc>
              <a:buSzPts val="1600"/>
            </a:pP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		   </a:t>
            </a:r>
            <a:endParaRPr lang="en-US" dirty="0">
              <a:latin typeface="Aptos Display"/>
            </a:endParaRP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endParaRPr lang="en-US" sz="1600" b="1" dirty="0">
              <a:solidFill>
                <a:srgbClr val="FFFFFF"/>
              </a:solidFill>
              <a:latin typeface="Aptos Display"/>
              <a:ea typeface="Roboto"/>
              <a:cs typeface="Times New Roman" panose="02020603050405020304" pitchFamily="18" charset="0"/>
            </a:endParaRP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endParaRPr lang="en-US" sz="1600" b="1" dirty="0">
              <a:solidFill>
                <a:srgbClr val="FFFFFF"/>
              </a:solidFill>
              <a:latin typeface="Aptos Display"/>
              <a:ea typeface="Roboto"/>
              <a:cs typeface="Times New Roman" panose="02020603050405020304" pitchFamily="18" charset="0"/>
            </a:endParaRP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Name : 	         1. ROHITH VIJAY R</a:t>
            </a: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   		        2. AKASH SANTHNU SUNDAR</a:t>
            </a:r>
            <a:b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</a:b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                               3. PUNEETESHWAAR S P</a:t>
            </a:r>
            <a:endParaRPr lang="en-US" sz="1600" b="1" dirty="0">
              <a:solidFill>
                <a:srgbClr val="FFFFFF"/>
              </a:solidFill>
              <a:latin typeface="Aptos Display"/>
              <a:ea typeface="Roboto"/>
              <a:cs typeface="Times New Roman"/>
            </a:endParaRPr>
          </a:p>
          <a:p>
            <a:pPr marL="12700" marR="508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-US" sz="1600" b="1" dirty="0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     	      Project Title :  </a:t>
            </a:r>
            <a:r>
              <a:rPr lang="en-US" sz="1600" b="1" dirty="0">
                <a:solidFill>
                  <a:schemeClr val="bg1"/>
                </a:solidFill>
                <a:latin typeface="Aptos Display"/>
                <a:cs typeface="Times New Roman"/>
              </a:rPr>
              <a:t>FULLY AUTOMATED ROBOTIC SYSTEMS</a:t>
            </a:r>
            <a:endParaRPr lang="en-US" dirty="0">
              <a:solidFill>
                <a:schemeClr val="bg1"/>
              </a:solidFill>
              <a:latin typeface="Aptos Display"/>
              <a:ea typeface="Roboto"/>
              <a:cs typeface="Times New Roman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5122679" y="5048704"/>
            <a:ext cx="1371596" cy="22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>
              <a:buSzPts val="1600"/>
            </a:pPr>
            <a:r>
              <a:rPr lang="en-US" sz="1400" b="1">
                <a:solidFill>
                  <a:srgbClr val="FFFFFF"/>
                </a:solidFill>
                <a:latin typeface="Aptos Display"/>
                <a:ea typeface="Roboto"/>
                <a:cs typeface="Times New Roman"/>
                <a:sym typeface="Roboto"/>
              </a:rPr>
              <a:t>GUIDE NAME :</a:t>
            </a:r>
            <a:endParaRPr lang="en-US" sz="1400" b="1">
              <a:latin typeface="Aptos Display"/>
              <a:ea typeface="Robo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5C3387-4F0D-9BF1-B615-84005C6CCB7E}"/>
              </a:ext>
            </a:extLst>
          </p:cNvPr>
          <p:cNvSpPr txBox="1"/>
          <p:nvPr/>
        </p:nvSpPr>
        <p:spPr>
          <a:xfrm>
            <a:off x="6494275" y="4975889"/>
            <a:ext cx="17598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ptos Display"/>
                <a:cs typeface="Times New Roman"/>
              </a:rPr>
              <a:t>Dr. P . </a:t>
            </a:r>
            <a:r>
              <a:rPr lang="en-US" b="1" err="1">
                <a:solidFill>
                  <a:schemeClr val="bg1"/>
                </a:solidFill>
                <a:latin typeface="Aptos Display"/>
                <a:cs typeface="Times New Roman"/>
              </a:rPr>
              <a:t>Rayavel</a:t>
            </a:r>
            <a:endParaRPr lang="en-IN" b="1" err="1">
              <a:solidFill>
                <a:schemeClr val="bg1"/>
              </a:solidFill>
              <a:latin typeface="Aptos Display"/>
              <a:cs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C51809-0F28-F698-7F73-EEFFFB59BC32}"/>
              </a:ext>
            </a:extLst>
          </p:cNvPr>
          <p:cNvSpPr/>
          <p:nvPr/>
        </p:nvSpPr>
        <p:spPr>
          <a:xfrm>
            <a:off x="6001731" y="5307291"/>
            <a:ext cx="5113111" cy="463838"/>
          </a:xfrm>
          <a:prstGeom prst="roundRect">
            <a:avLst/>
          </a:prstGeom>
          <a:solidFill>
            <a:srgbClr val="009746"/>
          </a:solidFill>
          <a:ln>
            <a:solidFill>
              <a:srgbClr val="0097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6C3B56-7512-EA26-C1F5-2A9F278C827B}"/>
              </a:ext>
            </a:extLst>
          </p:cNvPr>
          <p:cNvSpPr/>
          <p:nvPr/>
        </p:nvSpPr>
        <p:spPr>
          <a:xfrm>
            <a:off x="5997038" y="432825"/>
            <a:ext cx="2301934" cy="297357"/>
          </a:xfrm>
          <a:prstGeom prst="roundRect">
            <a:avLst/>
          </a:prstGeom>
          <a:solidFill>
            <a:srgbClr val="009746"/>
          </a:solidFill>
          <a:ln>
            <a:solidFill>
              <a:srgbClr val="0097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Sustainable Development Goal 3 - Wikipedia">
            <a:extLst>
              <a:ext uri="{FF2B5EF4-FFF2-40B4-BE49-F238E27FC236}">
                <a16:creationId xmlns:a16="http://schemas.microsoft.com/office/drawing/2014/main" id="{9B37874F-4675-DED9-A0BB-F64BEA2E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29" y="5944425"/>
            <a:ext cx="793727" cy="79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937" y="1477639"/>
            <a:ext cx="10515600" cy="849085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solidFill>
                  <a:srgbClr val="C00000"/>
                </a:solidFill>
                <a:latin typeface="Aptos Display"/>
                <a:cs typeface="Times New Roman"/>
              </a:rPr>
              <a:t>FULLY AUTOMATED ROBOTIC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6880" y="2969623"/>
            <a:ext cx="8599714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000" b="1" cap="none" spc="0">
                <a:ln w="11430"/>
                <a:solidFill>
                  <a:srgbClr val="0000FF"/>
                </a:solidFill>
                <a:latin typeface="Aptos Display"/>
                <a:cs typeface="Times New Roman" panose="02020603050405020304" pitchFamily="18" charset="0"/>
              </a:rPr>
              <a:t>Primary Goal </a:t>
            </a:r>
            <a:r>
              <a:rPr lang="en-US" sz="2000" b="1">
                <a:ln w="11430"/>
                <a:solidFill>
                  <a:srgbClr val="0000FF"/>
                </a:solidFill>
                <a:latin typeface="Aptos Display"/>
                <a:cs typeface="Times New Roman" panose="02020603050405020304" pitchFamily="18" charset="0"/>
              </a:rPr>
              <a:t>N</a:t>
            </a:r>
            <a:r>
              <a:rPr lang="en-US" sz="2000" b="1" cap="none" spc="0">
                <a:ln w="11430"/>
                <a:solidFill>
                  <a:srgbClr val="0000FF"/>
                </a:solidFill>
                <a:latin typeface="Aptos Display"/>
                <a:cs typeface="Times New Roman" panose="02020603050405020304" pitchFamily="18" charset="0"/>
              </a:rPr>
              <a:t>o		:    09 – </a:t>
            </a:r>
            <a:r>
              <a:rPr lang="en-US" sz="2000" b="1">
                <a:ln w="11430"/>
                <a:solidFill>
                  <a:srgbClr val="0000FF"/>
                </a:solidFill>
                <a:latin typeface="Aptos Display"/>
                <a:ea typeface="Tahoma" panose="020B0604030504040204" pitchFamily="34" charset="0"/>
                <a:cs typeface="Times New Roman" panose="02020603050405020304" pitchFamily="18" charset="0"/>
              </a:rPr>
              <a:t>Industry, Innovation and Infrastructure</a:t>
            </a:r>
            <a:endParaRPr lang="en-US" sz="2000" b="1" cap="none" spc="0">
              <a:ln w="11430"/>
              <a:solidFill>
                <a:srgbClr val="0000FF"/>
              </a:solidFill>
              <a:latin typeface="Aptos Display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2000" b="1" cap="none" spc="0">
              <a:ln w="11430"/>
              <a:solidFill>
                <a:srgbClr val="0000FF"/>
              </a:solidFill>
              <a:latin typeface="Aptos Display"/>
              <a:cs typeface="Times New Roman" panose="02020603050405020304" pitchFamily="18" charset="0"/>
            </a:endParaRPr>
          </a:p>
          <a:p>
            <a:r>
              <a:rPr lang="en-US" sz="2000" b="1">
                <a:ln w="11430"/>
                <a:solidFill>
                  <a:srgbClr val="0000FF"/>
                </a:solidFill>
                <a:latin typeface="Aptos Display"/>
                <a:cs typeface="Times New Roman"/>
              </a:rPr>
              <a:t>Secondary Goal No	:    08 – Decent work and economic growth</a:t>
            </a:r>
          </a:p>
          <a:p>
            <a:endParaRPr lang="en-US" sz="2000" b="1">
              <a:ln w="11430"/>
              <a:solidFill>
                <a:srgbClr val="0000FF"/>
              </a:solidFill>
              <a:latin typeface="Aptos Display"/>
              <a:cs typeface="Times New Roman" panose="02020603050405020304" pitchFamily="18" charset="0"/>
            </a:endParaRPr>
          </a:p>
          <a:p>
            <a:r>
              <a:rPr lang="en-US" sz="2000" b="1" cap="none" spc="0">
                <a:ln w="11430"/>
                <a:solidFill>
                  <a:srgbClr val="0000FF"/>
                </a:solidFill>
                <a:latin typeface="Aptos Display"/>
                <a:cs typeface="Times New Roman" panose="02020603050405020304" pitchFamily="18" charset="0"/>
              </a:rPr>
              <a:t>Tertiary Goal No		:    17 – Partnership fo</a:t>
            </a:r>
            <a:r>
              <a:rPr lang="en-US" sz="2000" b="1">
                <a:ln w="11430"/>
                <a:solidFill>
                  <a:srgbClr val="0000FF"/>
                </a:solidFill>
                <a:latin typeface="Aptos Display"/>
                <a:cs typeface="Times New Roman" panose="02020603050405020304" pitchFamily="18" charset="0"/>
              </a:rPr>
              <a:t>r all the goals</a:t>
            </a:r>
            <a:endParaRPr lang="en-US" sz="2000" b="1" cap="none" spc="0">
              <a:ln w="11430"/>
              <a:solidFill>
                <a:srgbClr val="0000FF"/>
              </a:solidFill>
              <a:latin typeface="Aptos Display"/>
              <a:cs typeface="Times New Roman" panose="02020603050405020304" pitchFamily="18" charset="0"/>
            </a:endParaRPr>
          </a:p>
        </p:txBody>
      </p:sp>
      <p:pic>
        <p:nvPicPr>
          <p:cNvPr id="5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FEB44C-196E-A60D-211C-69BCA371DA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1" t="21481" r="20074" b="20303"/>
          <a:stretch/>
        </p:blipFill>
        <p:spPr>
          <a:xfrm>
            <a:off x="2088776" y="376518"/>
            <a:ext cx="448236" cy="2599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61F01F-AF8C-4602-7F1C-3307F1DF8757}"/>
              </a:ext>
            </a:extLst>
          </p:cNvPr>
          <p:cNvSpPr txBox="1"/>
          <p:nvPr/>
        </p:nvSpPr>
        <p:spPr>
          <a:xfrm>
            <a:off x="3048740" y="214205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200" dirty="0">
                <a:solidFill>
                  <a:srgbClr val="002060"/>
                </a:solidFill>
                <a:latin typeface="Bell MT"/>
                <a:ea typeface="+mj-ea"/>
                <a:cs typeface="+mj-cs"/>
              </a:rPr>
              <a:t>DOMAIN : </a:t>
            </a:r>
            <a:r>
              <a:rPr lang="en-US" b="1" dirty="0">
                <a:solidFill>
                  <a:srgbClr val="002060"/>
                </a:solidFill>
                <a:latin typeface="Bell MT"/>
                <a:ea typeface="+mj-ea"/>
                <a:cs typeface="+mj-cs"/>
              </a:rPr>
              <a:t>MACHINE LEARNING AND ROBOTICS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619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11769"/>
            <a:ext cx="10515600" cy="88079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</a:rPr>
              <a:t>JUSTIFICATION FOR SDG &amp; SAP No.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5626"/>
            <a:ext cx="10515600" cy="149145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u="sng" dirty="0">
                <a:latin typeface="Calibri"/>
                <a:ea typeface="Calibri"/>
                <a:cs typeface="Calibri"/>
              </a:rPr>
              <a:t>SDG</a:t>
            </a:r>
            <a:r>
              <a:rPr lang="en-US" sz="1800" b="1" u="sng" dirty="0"/>
              <a:t> 9: Industry, Innovation, and Infrastructure :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Arial"/>
                <a:cs typeface="Arial"/>
              </a:rPr>
              <a:t>•</a:t>
            </a:r>
            <a:r>
              <a:rPr lang="en-US" sz="1800" b="1" dirty="0"/>
              <a:t>Objective</a:t>
            </a:r>
            <a:r>
              <a:rPr lang="en-US" sz="1800" dirty="0"/>
              <a:t>: Foster innovation and build resilient infrastructure.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Arial"/>
                <a:cs typeface="Arial"/>
              </a:rPr>
              <a:t>•</a:t>
            </a:r>
            <a:r>
              <a:rPr lang="en-US" sz="1800" b="1" dirty="0"/>
              <a:t>Impact</a:t>
            </a:r>
            <a:r>
              <a:rPr lang="en-US" sz="1800" dirty="0"/>
              <a:t>: Developing a </a:t>
            </a:r>
            <a:r>
              <a:rPr lang="en-US" sz="1800" u="sng" dirty="0"/>
              <a:t>robot that integrates advanced technologies like AI and IoT </a:t>
            </a:r>
            <a:r>
              <a:rPr lang="en-US" sz="1800" dirty="0"/>
              <a:t>contributes to innovation. 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            It supports the creation of smart classrooms and workplaces, promoting technological advancement and       	efficiency.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endParaRPr lang="en-US" sz="2000" b="1" u="sng" dirty="0">
              <a:ea typeface="Calibri"/>
              <a:cs typeface="Calibri"/>
            </a:endParaRP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602069-6360-F5F5-B544-AF501298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270A69-E6A5-FB6F-E5BD-3FA903C81387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197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u="sng" dirty="0">
                <a:latin typeface="Calibri"/>
                <a:ea typeface="Calibri"/>
                <a:cs typeface="Calibri"/>
              </a:rPr>
              <a:t>SDG</a:t>
            </a:r>
            <a:r>
              <a:rPr lang="en-US" sz="1900" b="1" u="sng" dirty="0"/>
              <a:t> 16: Peace, Justice, and Strong Institutions :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Arial"/>
                <a:cs typeface="Arial"/>
              </a:rPr>
              <a:t>•</a:t>
            </a:r>
            <a:r>
              <a:rPr lang="en-US" sz="1800" b="1" dirty="0"/>
              <a:t>Objective</a:t>
            </a:r>
            <a:r>
              <a:rPr lang="en-US" sz="1800" dirty="0"/>
              <a:t>: Promote transparent and accountable institutions.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Arial"/>
                <a:cs typeface="Arial"/>
              </a:rPr>
              <a:t>•</a:t>
            </a:r>
            <a:r>
              <a:rPr lang="en-US" sz="1800" b="1" dirty="0"/>
              <a:t>Impact</a:t>
            </a:r>
            <a:r>
              <a:rPr lang="en-US" sz="1800" dirty="0"/>
              <a:t>: An automated logging system enhances transparency and accountability in both educational and corporate institutions. 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                It ensures accurate record-keeping and reduces the potential for human error or manipulation.</a:t>
            </a:r>
            <a:endParaRPr lang="en-US" dirty="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 b="1" u="sng" dirty="0">
              <a:ea typeface="Calibri"/>
              <a:cs typeface="Calibri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788D42-95E7-891A-09C3-4DB8DC497337}"/>
              </a:ext>
            </a:extLst>
          </p:cNvPr>
          <p:cNvSpPr txBox="1">
            <a:spLocks/>
          </p:cNvSpPr>
          <p:nvPr/>
        </p:nvSpPr>
        <p:spPr>
          <a:xfrm>
            <a:off x="838200" y="4748794"/>
            <a:ext cx="10515600" cy="14433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u="sng" dirty="0">
                <a:latin typeface="Calibri"/>
                <a:ea typeface="Calibri"/>
                <a:cs typeface="Calibri"/>
              </a:rPr>
              <a:t>SDG 8</a:t>
            </a:r>
            <a:r>
              <a:rPr lang="en-US" sz="1900" b="1" u="sng" dirty="0"/>
              <a:t>: Decent Work and Economic Growth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900" dirty="0">
                <a:latin typeface="Arial"/>
                <a:cs typeface="Arial"/>
              </a:rPr>
              <a:t>•</a:t>
            </a:r>
            <a:r>
              <a:rPr lang="en-US" sz="1900" b="1" dirty="0"/>
              <a:t>Objective</a:t>
            </a:r>
            <a:r>
              <a:rPr lang="en-US" sz="1900" dirty="0"/>
              <a:t>: Increase productivity and efficiency in the workplace.</a:t>
            </a:r>
            <a:endParaRPr lang="en-US" sz="1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900" dirty="0">
                <a:latin typeface="Arial"/>
                <a:cs typeface="Arial"/>
              </a:rPr>
              <a:t>•</a:t>
            </a:r>
            <a:r>
              <a:rPr lang="en-US" sz="1900" b="1" dirty="0"/>
              <a:t>Impact</a:t>
            </a:r>
            <a:r>
              <a:rPr lang="en-US" sz="1900" dirty="0"/>
              <a:t>: In a corporate setting, the robot can log employee attendance, manage schedules, and track</a:t>
            </a:r>
          </a:p>
          <a:p>
            <a:pPr marL="0" indent="0">
              <a:buNone/>
            </a:pPr>
            <a:r>
              <a:rPr lang="en-US" sz="1900" dirty="0"/>
              <a:t>performance metrics. </a:t>
            </a:r>
            <a:endParaRPr lang="en-US" sz="1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900" dirty="0"/>
              <a:t>  </a:t>
            </a:r>
            <a:endParaRPr lang="en-US" sz="2000" b="1" u="sng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3851"/>
            <a:ext cx="10515600" cy="84908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  <a:cs typeface="Times New Roman" pitchFamily="18" charset="0"/>
              </a:rPr>
              <a:t>CORE OBJECTIVES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6840" y="2403566"/>
            <a:ext cx="9418320" cy="33571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develop a </a:t>
            </a:r>
            <a:r>
              <a:rPr lang="en-US" sz="2400" u="sng" dirty="0"/>
              <a:t>fully automated robotic system(FARS) </a:t>
            </a:r>
            <a:r>
              <a:rPr lang="en-US" sz="2400" dirty="0"/>
              <a:t>that integrates face recognition using machine learning, Real time data analytics, cloud based database system and IoT technologies to enhance </a:t>
            </a:r>
            <a:r>
              <a:rPr lang="en-US" sz="2400" u="sng" dirty="0"/>
              <a:t>campus security</a:t>
            </a:r>
            <a:r>
              <a:rPr lang="en-US" sz="2400" dirty="0"/>
              <a:t> and operational efficiency.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system will automate the identification of individuals, manage access control, and provide real-time data to administrators.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3AFF00-E3CE-8430-38A9-95515C616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726F7-2541-9530-7696-4565D739B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07" y="140187"/>
            <a:ext cx="266737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9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3851"/>
            <a:ext cx="10483734" cy="92490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426" y="2348753"/>
            <a:ext cx="10279281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enhanced security and operational efficiency in management is critical.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Traditional security systems often rely on </a:t>
            </a:r>
            <a:r>
              <a:rPr lang="en-US" sz="2000" u="sng" dirty="0"/>
              <a:t>manual processes</a:t>
            </a:r>
            <a:r>
              <a:rPr lang="en-US" sz="2000" dirty="0"/>
              <a:t>, leading to </a:t>
            </a:r>
            <a:r>
              <a:rPr lang="en-US" sz="2000" u="sng" dirty="0"/>
              <a:t>human errors</a:t>
            </a:r>
            <a:r>
              <a:rPr lang="en-US" sz="2000" dirty="0"/>
              <a:t>, </a:t>
            </a:r>
            <a:r>
              <a:rPr lang="en-US" sz="2000" u="sng" dirty="0"/>
              <a:t>delays in response times</a:t>
            </a:r>
            <a:r>
              <a:rPr lang="en-US" sz="2000" dirty="0"/>
              <a:t>, and increased operational costs.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u="sng" dirty="0"/>
              <a:t>growing complexity of management environments</a:t>
            </a:r>
            <a:r>
              <a:rPr lang="en-US" sz="2000" dirty="0"/>
              <a:t>, coupled with </a:t>
            </a:r>
            <a:r>
              <a:rPr lang="en-US" sz="2000" u="sng" dirty="0"/>
              <a:t>evolving security threats</a:t>
            </a:r>
            <a:r>
              <a:rPr lang="en-US" sz="2000" dirty="0"/>
              <a:t>, necessitates innovative solutions that can proactively identify risks, </a:t>
            </a:r>
            <a:r>
              <a:rPr lang="en-US" sz="2000" u="sng" dirty="0"/>
              <a:t>automate routine tasks</a:t>
            </a:r>
            <a:r>
              <a:rPr lang="en-US" sz="2000" dirty="0"/>
              <a:t>, and provide real-time insights for informed decision-making.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3" y="6458987"/>
            <a:ext cx="434641" cy="434641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6E79AB-8761-9818-782E-414E558C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905550" cy="88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3851"/>
            <a:ext cx="10515600" cy="84908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  <a:cs typeface="Times New Roman" pitchFamily="18" charset="0"/>
              </a:rPr>
              <a:t>Abstract</a:t>
            </a: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3AFF00-E3CE-8430-38A9-95515C616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726F7-2541-9530-7696-4565D739B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07" y="140187"/>
            <a:ext cx="2667372" cy="809738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F903A187-C3F1-C860-9383-27328390C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12" y="2390663"/>
            <a:ext cx="12192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system uses machine learning to automatically monitor and record key activities in schools and workplaces, offering real-time data and insights to improve decision-making and efficiency.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It's designed to integrate easily with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systems, prioritize data privacy, and adapt to changing needs, making it a valuable tool for optimizing resources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boosting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65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75276"/>
            <a:ext cx="10515600" cy="84908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  <a:cs typeface="Times New Roman" pitchFamily="18" charset="0"/>
              </a:rPr>
              <a:t>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1578"/>
              </p:ext>
            </p:extLst>
          </p:nvPr>
        </p:nvGraphicFramePr>
        <p:xfrm>
          <a:off x="140302" y="2249712"/>
          <a:ext cx="11911395" cy="3200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1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99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81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8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S.No.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Title of the Journal</a:t>
                      </a:r>
                      <a:r>
                        <a:rPr lang="en-US" sz="1600" baseline="0" dirty="0">
                          <a:latin typeface="Bell MT" pitchFamily="18" charset="0"/>
                        </a:rPr>
                        <a:t> Article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Year of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Problem</a:t>
                      </a:r>
                      <a:r>
                        <a:rPr lang="en-US" sz="1600" baseline="0" dirty="0">
                          <a:latin typeface="Bell MT" pitchFamily="18" charset="0"/>
                        </a:rPr>
                        <a:t> Defined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8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"Face Recognition Systems in Security Applications"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Mathew Turk and Alex Pentland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The study highlights the limitations of traditional security systems and the need for advanced face recognition technologies.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The existing systems often struggle with accuracy in diverse lighting conditions and require significant computational resources.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“Machine Learning for IoT Security”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Jane Smith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This paper discusses the challenges of securing IoT devices and networks..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The integration of machine learning in IoT security is still in its infancy, with issues related to data privacy and real-time processing..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4B3033-1C5E-0386-6F6F-5FE341858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B1674E-D088-BA14-E6AC-37DFD3402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37586"/>
              </p:ext>
            </p:extLst>
          </p:nvPr>
        </p:nvGraphicFramePr>
        <p:xfrm>
          <a:off x="213064" y="1521061"/>
          <a:ext cx="11922711" cy="3931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3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7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4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8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S.No.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Title of the Journal</a:t>
                      </a:r>
                      <a:r>
                        <a:rPr lang="en-US" sz="1600" baseline="0" dirty="0">
                          <a:latin typeface="Bell MT" pitchFamily="18" charset="0"/>
                        </a:rPr>
                        <a:t> Article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Year of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Problem</a:t>
                      </a:r>
                      <a:r>
                        <a:rPr lang="en-US" sz="1600" baseline="0" dirty="0">
                          <a:latin typeface="Bell MT" pitchFamily="18" charset="0"/>
                        </a:rPr>
                        <a:t> Defined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"Wearable Computing and Augmented Reality for Enhanced Accessibility"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Davis.L</a:t>
                      </a:r>
                      <a:r>
                        <a:rPr lang="en-IN" sz="1600" dirty="0"/>
                        <a:t>., &amp; </a:t>
                      </a:r>
                      <a:r>
                        <a:rPr lang="en-IN" sz="1600" dirty="0" err="1"/>
                        <a:t>Kim.J</a:t>
                      </a:r>
                      <a:r>
                        <a:rPr lang="en-IN" sz="1600" dirty="0"/>
                        <a:t>.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This study explores the potential of wearable computing and AR in improving accessibility for individuals with cognitive disabilities, focusing on real-time feedback and contextual information.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The article points out that while wearable AR devices offer potential, issues such as user comfort and device accuracy remain challenging.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8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"Real-Time Object Recognition and Description Systems for the Visually Impaired"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Lee.C</a:t>
                      </a:r>
                      <a:r>
                        <a:rPr lang="en-IN" sz="1600" dirty="0"/>
                        <a:t>., &amp; </a:t>
                      </a:r>
                      <a:r>
                        <a:rPr lang="en-IN" sz="1600" dirty="0" err="1"/>
                        <a:t>Martinez.A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Bell MT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The research investigates systems that use real-time object recognition to aid visually impaired users, providing descriptions of objects within their environment.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 significant drawback identified is the latency in object recognition and description, which affects the real-time usefulness of such systems.</a:t>
                      </a:r>
                      <a:endParaRPr lang="en-US" sz="1600" dirty="0">
                        <a:latin typeface="Bell MT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4A73EB-F415-B836-BAA1-720E51757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6458"/>
            <a:ext cx="10515600" cy="880791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C00000"/>
                </a:solidFill>
                <a:latin typeface="Bell MT" pitchFamily="18" charset="0"/>
              </a:rPr>
              <a:t>EXISTING SYSTEM DESIGN</a:t>
            </a: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48BBDB-F6C5-2975-7C95-4A8CF4D29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92A3DBB1-DC09-EE38-4D46-7DDEFB51B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16" y="2066566"/>
            <a:ext cx="1167204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Monitoring and Surveillance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Personnel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Guards patrol and monitor feeds, prone to human error.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CCTV Cameras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Require continuous supervision, lack intelligent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 Cards and Badges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Prone to loss, theft, and duplication.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Keypad Entry Systems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Vulnerable to shared or observed PIN codes.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Alarm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Intrusion Alarms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Prone to false alarms, triggering on motion detection.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 Alarms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Focused on fire safety, not comprehensive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Storage and Retrieval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Servers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Difficult real-time access and analysis.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Review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Time-consuming, impractical for immediate threat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Intercoms and Hotlines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Outdated, limited efficiency in emergencies.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Real-Time Alerts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Reduces effectiveness of immediate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1449976"/>
            <a:ext cx="10515600" cy="88079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</a:rPr>
              <a:t>DESIGN OF THE PROPOSED SOLUTION</a:t>
            </a: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11F70F-9B23-A1D0-8C79-D79D455F5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6CF75A-D68B-E836-9E68-F5E0B5C98F6B}"/>
              </a:ext>
            </a:extLst>
          </p:cNvPr>
          <p:cNvSpPr txBox="1"/>
          <p:nvPr/>
        </p:nvSpPr>
        <p:spPr>
          <a:xfrm>
            <a:off x="2143432" y="2191619"/>
            <a:ext cx="790513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proposed FARS system includes the following components:</a:t>
            </a:r>
          </a:p>
          <a:p>
            <a:endParaRPr lang="en-I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b="1" dirty="0"/>
              <a:t>Hardware</a:t>
            </a:r>
            <a:r>
              <a:rPr lang="en-IN" sz="2000" dirty="0"/>
              <a:t>: </a:t>
            </a:r>
            <a:r>
              <a:rPr lang="en-IN" sz="2000" dirty="0" err="1"/>
              <a:t>NodeMCU</a:t>
            </a:r>
            <a:r>
              <a:rPr lang="en-IN" sz="2000" dirty="0"/>
              <a:t> ESP32, IR sensors, camera modules, 		  	              networking equipment (routers, hubs), and Raspberry Pi.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b="1" dirty="0"/>
              <a:t>Software</a:t>
            </a:r>
            <a:r>
              <a:rPr lang="en-IN" sz="2000" dirty="0"/>
              <a:t>: Python for OpenCV face recognition, Firebase Cloud Server      	            for authentication and data storage, HTML/CSS/JavaScript   	            for the web/admin interface.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b="1" dirty="0"/>
              <a:t>Libraries/Frameworks</a:t>
            </a:r>
            <a:r>
              <a:rPr lang="en-IN" sz="2000" dirty="0"/>
              <a:t>: OpenCV, TensorFlow, Firebase SDK.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dirty="0"/>
              <a:t>The system will use machine learning algorithms to improve face recognition accuracy and adapt to changing conditions. It will integrate with existing campus networks for seamless communication and coordination.</a:t>
            </a:r>
          </a:p>
        </p:txBody>
      </p:sp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711" y="1156511"/>
            <a:ext cx="10515600" cy="880791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solidFill>
                  <a:srgbClr val="C00000"/>
                </a:solidFill>
                <a:latin typeface="Bell MT" pitchFamily="18" charset="0"/>
              </a:rPr>
              <a:t>SYSTEM ARCHITECTURE</a:t>
            </a: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E55764-ADC5-C062-C9FF-73BF43CB3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C8FBC5C8-46C0-8D71-CA09-753925C947DF}"/>
              </a:ext>
            </a:extLst>
          </p:cNvPr>
          <p:cNvSpPr/>
          <p:nvPr/>
        </p:nvSpPr>
        <p:spPr>
          <a:xfrm>
            <a:off x="1603372" y="3568712"/>
            <a:ext cx="2402206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VISION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3CE161-B9D8-CC61-65A3-2F813D56BDC0}"/>
              </a:ext>
            </a:extLst>
          </p:cNvPr>
          <p:cNvCxnSpPr/>
          <p:nvPr/>
        </p:nvCxnSpPr>
        <p:spPr>
          <a:xfrm>
            <a:off x="2804475" y="2913000"/>
            <a:ext cx="0" cy="5211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89D43C0-9830-9FBC-032E-E9127D135F32}"/>
              </a:ext>
            </a:extLst>
          </p:cNvPr>
          <p:cNvCxnSpPr>
            <a:cxnSpLocks/>
          </p:cNvCxnSpPr>
          <p:nvPr/>
        </p:nvCxnSpPr>
        <p:spPr>
          <a:xfrm>
            <a:off x="2826474" y="4289627"/>
            <a:ext cx="0" cy="4588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93C79BB-F087-3D52-3B36-CBD28BDB1456}"/>
              </a:ext>
            </a:extLst>
          </p:cNvPr>
          <p:cNvCxnSpPr>
            <a:cxnSpLocks/>
          </p:cNvCxnSpPr>
          <p:nvPr/>
        </p:nvCxnSpPr>
        <p:spPr>
          <a:xfrm>
            <a:off x="3752452" y="5544645"/>
            <a:ext cx="5460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C19751C-180D-F20C-1651-9E67BABB429F}"/>
              </a:ext>
            </a:extLst>
          </p:cNvPr>
          <p:cNvCxnSpPr>
            <a:cxnSpLocks/>
          </p:cNvCxnSpPr>
          <p:nvPr/>
        </p:nvCxnSpPr>
        <p:spPr>
          <a:xfrm flipV="1">
            <a:off x="5067239" y="4691402"/>
            <a:ext cx="0" cy="4200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8178E-4ED1-BA54-ACBB-A4928208F35D}"/>
              </a:ext>
            </a:extLst>
          </p:cNvPr>
          <p:cNvSpPr/>
          <p:nvPr/>
        </p:nvSpPr>
        <p:spPr>
          <a:xfrm>
            <a:off x="6738447" y="2970166"/>
            <a:ext cx="1183106" cy="7309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HAPTICS 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algn="ctr"/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ED366B-832E-90AB-85F4-98B8D30D03F7}"/>
              </a:ext>
            </a:extLst>
          </p:cNvPr>
          <p:cNvCxnSpPr>
            <a:cxnSpLocks/>
          </p:cNvCxnSpPr>
          <p:nvPr/>
        </p:nvCxnSpPr>
        <p:spPr>
          <a:xfrm>
            <a:off x="5991947" y="3402351"/>
            <a:ext cx="4227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01818-CC6F-D9E4-BC61-B1D2BA9E741F}"/>
              </a:ext>
            </a:extLst>
          </p:cNvPr>
          <p:cNvSpPr/>
          <p:nvPr/>
        </p:nvSpPr>
        <p:spPr>
          <a:xfrm>
            <a:off x="6563276" y="4258653"/>
            <a:ext cx="1844901" cy="48986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VOICE COMMAND INTERFACE 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65620A-D38E-14F6-BF70-E024D4471327}"/>
              </a:ext>
            </a:extLst>
          </p:cNvPr>
          <p:cNvCxnSpPr>
            <a:cxnSpLocks/>
          </p:cNvCxnSpPr>
          <p:nvPr/>
        </p:nvCxnSpPr>
        <p:spPr>
          <a:xfrm>
            <a:off x="5926721" y="3913640"/>
            <a:ext cx="28251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FF61560-258C-35A5-E390-22A76444A955}"/>
              </a:ext>
            </a:extLst>
          </p:cNvPr>
          <p:cNvSpPr/>
          <p:nvPr/>
        </p:nvSpPr>
        <p:spPr>
          <a:xfrm>
            <a:off x="4375729" y="5229263"/>
            <a:ext cx="1385408" cy="6307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 CONTROLLER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195358-7F16-1573-17E4-EB30880F2603}"/>
              </a:ext>
            </a:extLst>
          </p:cNvPr>
          <p:cNvCxnSpPr>
            <a:cxnSpLocks/>
          </p:cNvCxnSpPr>
          <p:nvPr/>
        </p:nvCxnSpPr>
        <p:spPr>
          <a:xfrm flipV="1">
            <a:off x="5708170" y="2838671"/>
            <a:ext cx="0" cy="3717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C8599B1-5452-D88B-6165-600ECA7EBF99}"/>
              </a:ext>
            </a:extLst>
          </p:cNvPr>
          <p:cNvCxnSpPr>
            <a:cxnSpLocks/>
          </p:cNvCxnSpPr>
          <p:nvPr/>
        </p:nvCxnSpPr>
        <p:spPr>
          <a:xfrm flipV="1">
            <a:off x="4374535" y="2838671"/>
            <a:ext cx="0" cy="394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BCE6B646-A573-F4E2-7A5A-EFB628782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410" y="4866869"/>
            <a:ext cx="1718132" cy="1431777"/>
          </a:xfrm>
          <a:prstGeom prst="rect">
            <a:avLst/>
          </a:prstGeom>
        </p:spPr>
      </p:pic>
      <p:pic>
        <p:nvPicPr>
          <p:cNvPr id="46" name="Picture 8" descr="ESP 32 DEVELOPMENT BOARD WITH WIFI AND BLUETOOTH, For Micro Controller at  Rs 370/piece in Coimbatore">
            <a:extLst>
              <a:ext uri="{FF2B5EF4-FFF2-40B4-BE49-F238E27FC236}">
                <a16:creationId xmlns:a16="http://schemas.microsoft.com/office/drawing/2014/main" id="{B9E582FB-B1CC-9992-EBEE-573BA6579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536" y="3281648"/>
            <a:ext cx="1385407" cy="138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ESP32 CAM DEVELOPMENT BOARD WIFI+BLUETOOTH WITH OV2640 CAMERA MODULE -  iFuture Technology">
            <a:extLst>
              <a:ext uri="{FF2B5EF4-FFF2-40B4-BE49-F238E27FC236}">
                <a16:creationId xmlns:a16="http://schemas.microsoft.com/office/drawing/2014/main" id="{25BA703F-DF93-3A13-CF59-1340BB640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546" y="1899623"/>
            <a:ext cx="925977" cy="92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A6F491D-AE55-5FF4-198E-A27E02054D5E}"/>
              </a:ext>
            </a:extLst>
          </p:cNvPr>
          <p:cNvSpPr txBox="1"/>
          <p:nvPr/>
        </p:nvSpPr>
        <p:spPr>
          <a:xfrm>
            <a:off x="3911936" y="2667896"/>
            <a:ext cx="9156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 MODULE</a:t>
            </a:r>
          </a:p>
        </p:txBody>
      </p:sp>
      <p:pic>
        <p:nvPicPr>
          <p:cNvPr id="49" name="Picture 12" descr="Photosensitive sensors ...">
            <a:extLst>
              <a:ext uri="{FF2B5EF4-FFF2-40B4-BE49-F238E27FC236}">
                <a16:creationId xmlns:a16="http://schemas.microsoft.com/office/drawing/2014/main" id="{C6D90FB8-5C5D-89BE-5B6E-2CCF348FC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691" y="1899623"/>
            <a:ext cx="824958" cy="82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E31061E-0148-5A2A-58C9-AB5AB26400E5}"/>
              </a:ext>
            </a:extLst>
          </p:cNvPr>
          <p:cNvSpPr txBox="1"/>
          <p:nvPr/>
        </p:nvSpPr>
        <p:spPr>
          <a:xfrm>
            <a:off x="5364165" y="2659719"/>
            <a:ext cx="6543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50AFC91-9E4A-DDA2-F6A9-6A59B440815A}"/>
              </a:ext>
            </a:extLst>
          </p:cNvPr>
          <p:cNvCxnSpPr>
            <a:cxnSpLocks/>
          </p:cNvCxnSpPr>
          <p:nvPr/>
        </p:nvCxnSpPr>
        <p:spPr>
          <a:xfrm>
            <a:off x="6052174" y="4519074"/>
            <a:ext cx="4227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85585511-F893-8D29-7D77-3E8D75B980B9}"/>
              </a:ext>
            </a:extLst>
          </p:cNvPr>
          <p:cNvSpPr/>
          <p:nvPr/>
        </p:nvSpPr>
        <p:spPr>
          <a:xfrm>
            <a:off x="8951829" y="3455308"/>
            <a:ext cx="1514944" cy="8212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BLUETOOTH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49031FC-733D-C608-9C71-16103C317D35}"/>
              </a:ext>
            </a:extLst>
          </p:cNvPr>
          <p:cNvCxnSpPr>
            <a:cxnSpLocks/>
          </p:cNvCxnSpPr>
          <p:nvPr/>
        </p:nvCxnSpPr>
        <p:spPr>
          <a:xfrm>
            <a:off x="9617844" y="4407975"/>
            <a:ext cx="0" cy="8212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AC57E6F0-1931-BF28-BA8C-C606A2256DAD}"/>
              </a:ext>
            </a:extLst>
          </p:cNvPr>
          <p:cNvSpPr/>
          <p:nvPr/>
        </p:nvSpPr>
        <p:spPr>
          <a:xfrm>
            <a:off x="8951832" y="5395282"/>
            <a:ext cx="1332027" cy="730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SERVICES</a:t>
            </a: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14" descr="Firebase | Google's Mobile and Web App Development Platform">
            <a:extLst>
              <a:ext uri="{FF2B5EF4-FFF2-40B4-BE49-F238E27FC236}">
                <a16:creationId xmlns:a16="http://schemas.microsoft.com/office/drawing/2014/main" id="{9A181F2C-8796-F320-3ADE-548D9EF5E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184" y="5745946"/>
            <a:ext cx="552700" cy="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16" descr="Amazon Web Services - Wikipedia">
            <a:extLst>
              <a:ext uri="{FF2B5EF4-FFF2-40B4-BE49-F238E27FC236}">
                <a16:creationId xmlns:a16="http://schemas.microsoft.com/office/drawing/2014/main" id="{E82249F1-C0E4-9B66-C6E7-C39B1D3D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192" y="5486822"/>
            <a:ext cx="311804" cy="13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5036ED3-353E-CB1C-2869-FF842BE8B274}"/>
              </a:ext>
            </a:extLst>
          </p:cNvPr>
          <p:cNvSpPr/>
          <p:nvPr/>
        </p:nvSpPr>
        <p:spPr>
          <a:xfrm>
            <a:off x="6998474" y="5367824"/>
            <a:ext cx="1332030" cy="7858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IN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D8DD55-FAFF-D4DE-9E64-0C81A840D591}"/>
              </a:ext>
            </a:extLst>
          </p:cNvPr>
          <p:cNvCxnSpPr>
            <a:cxnSpLocks/>
          </p:cNvCxnSpPr>
          <p:nvPr/>
        </p:nvCxnSpPr>
        <p:spPr>
          <a:xfrm flipH="1" flipV="1">
            <a:off x="8408177" y="5760751"/>
            <a:ext cx="484198" cy="148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D6DC155-F425-2929-8540-8C25755DCF2B}"/>
              </a:ext>
            </a:extLst>
          </p:cNvPr>
          <p:cNvSpPr txBox="1"/>
          <p:nvPr/>
        </p:nvSpPr>
        <p:spPr>
          <a:xfrm>
            <a:off x="599508" y="2875163"/>
            <a:ext cx="4700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pic>
        <p:nvPicPr>
          <p:cNvPr id="60" name="Picture 4" descr="User Images - Free Download on Freepik">
            <a:extLst>
              <a:ext uri="{FF2B5EF4-FFF2-40B4-BE49-F238E27FC236}">
                <a16:creationId xmlns:a16="http://schemas.microsoft.com/office/drawing/2014/main" id="{6F2C0ABA-FBE3-AAFD-DA5D-F42A766837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661" t="22622" r="23061" b="20837"/>
          <a:stretch/>
        </p:blipFill>
        <p:spPr bwMode="auto">
          <a:xfrm>
            <a:off x="373555" y="1948399"/>
            <a:ext cx="925977" cy="964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F122C7-0AA3-4081-50FC-1354D310CD98}"/>
              </a:ext>
            </a:extLst>
          </p:cNvPr>
          <p:cNvSpPr/>
          <p:nvPr/>
        </p:nvSpPr>
        <p:spPr>
          <a:xfrm>
            <a:off x="1932778" y="2096148"/>
            <a:ext cx="1699539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941372-2FDD-E80A-A456-067E3D3F9DEF}"/>
              </a:ext>
            </a:extLst>
          </p:cNvPr>
          <p:cNvCxnSpPr>
            <a:cxnSpLocks/>
          </p:cNvCxnSpPr>
          <p:nvPr/>
        </p:nvCxnSpPr>
        <p:spPr>
          <a:xfrm>
            <a:off x="1392018" y="2430699"/>
            <a:ext cx="4227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388" y="1300347"/>
            <a:ext cx="10515600" cy="73627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</a:rPr>
              <a:t>BUSINESS MODEL CANVAS</a:t>
            </a:r>
          </a:p>
        </p:txBody>
      </p:sp>
      <p:pic>
        <p:nvPicPr>
          <p:cNvPr id="26626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51E5D0-3765-50F3-F2E9-7900F5D77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99D339-BF2B-6B5C-2FCD-D77C78240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4658"/>
            <a:ext cx="12192000" cy="455557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DC9887-6A4D-4999-171C-2389194FB52B}"/>
              </a:ext>
            </a:extLst>
          </p:cNvPr>
          <p:cNvSpPr/>
          <p:nvPr/>
        </p:nvSpPr>
        <p:spPr>
          <a:xfrm>
            <a:off x="125506" y="2600929"/>
            <a:ext cx="1927412" cy="259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NGOs:</a:t>
            </a:r>
            <a:r>
              <a:rPr lang="en-US" sz="1000" dirty="0">
                <a:solidFill>
                  <a:schemeClr val="tx1"/>
                </a:solidFill>
              </a:rPr>
              <a:t> Organizations working with differently-abled individuals.</a:t>
            </a:r>
          </a:p>
          <a:p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Research Institutes:</a:t>
            </a:r>
            <a:r>
              <a:rPr lang="en-US" sz="1000" dirty="0">
                <a:solidFill>
                  <a:schemeClr val="tx1"/>
                </a:solidFill>
              </a:rPr>
              <a:t> Institutions focusing on assistive technologies and AR research.</a:t>
            </a:r>
          </a:p>
          <a:p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Educational Institutions:</a:t>
            </a:r>
            <a:r>
              <a:rPr lang="en-US" sz="1000" dirty="0">
                <a:solidFill>
                  <a:schemeClr val="tx1"/>
                </a:solidFill>
              </a:rPr>
              <a:t> Schools, colleges, and universities.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CC39CE-44CD-4917-ADD2-273D7D298CFE}"/>
              </a:ext>
            </a:extLst>
          </p:cNvPr>
          <p:cNvSpPr/>
          <p:nvPr/>
        </p:nvSpPr>
        <p:spPr>
          <a:xfrm>
            <a:off x="2581834" y="2564953"/>
            <a:ext cx="1999131" cy="105667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Product development, R&amp;D, marketing, </a:t>
            </a:r>
          </a:p>
          <a:p>
            <a:r>
              <a:rPr lang="en-US" sz="1200" dirty="0">
                <a:solidFill>
                  <a:schemeClr val="tx1"/>
                </a:solidFill>
              </a:rPr>
              <a:t>customer support.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23F18C-023F-69D0-BC51-0F1F904EFA4B}"/>
              </a:ext>
            </a:extLst>
          </p:cNvPr>
          <p:cNvSpPr/>
          <p:nvPr/>
        </p:nvSpPr>
        <p:spPr>
          <a:xfrm>
            <a:off x="2581834" y="4293047"/>
            <a:ext cx="1999131" cy="11216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Financial capital,</a:t>
            </a:r>
          </a:p>
          <a:p>
            <a:r>
              <a:rPr lang="en-US" sz="1200" dirty="0">
                <a:solidFill>
                  <a:schemeClr val="tx1"/>
                </a:solidFill>
              </a:rPr>
              <a:t> technical expertise, manufacturing facilities.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47C07D-83CE-C0AD-0CC2-A5174079672B}"/>
              </a:ext>
            </a:extLst>
          </p:cNvPr>
          <p:cNvSpPr/>
          <p:nvPr/>
        </p:nvSpPr>
        <p:spPr>
          <a:xfrm>
            <a:off x="5109881" y="2564953"/>
            <a:ext cx="1927412" cy="2634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Enhanced Independence:</a:t>
            </a:r>
            <a:r>
              <a:rPr lang="en-US" sz="1000" dirty="0">
                <a:solidFill>
                  <a:schemeClr val="tx1"/>
                </a:solidFill>
              </a:rPr>
              <a:t> Provides differently-abled individuals with greater autonomy in navigation and object recognition.</a:t>
            </a:r>
          </a:p>
          <a:p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Real-Time Assistance:</a:t>
            </a:r>
            <a:r>
              <a:rPr lang="en-US" sz="1000" dirty="0">
                <a:solidFill>
                  <a:schemeClr val="tx1"/>
                </a:solidFill>
              </a:rPr>
              <a:t> Instant haptic feedback and guidance through AR overlays and voice commands.</a:t>
            </a:r>
          </a:p>
          <a:p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Cost-Effective Solution:</a:t>
            </a:r>
            <a:r>
              <a:rPr lang="en-US" sz="1000" dirty="0">
                <a:solidFill>
                  <a:schemeClr val="tx1"/>
                </a:solidFill>
              </a:rPr>
              <a:t> Affordable pricing compared to traditional assistive technologies.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BE0E36-257A-0E47-ADE0-4E815D580206}"/>
              </a:ext>
            </a:extLst>
          </p:cNvPr>
          <p:cNvSpPr/>
          <p:nvPr/>
        </p:nvSpPr>
        <p:spPr>
          <a:xfrm>
            <a:off x="7566209" y="2552030"/>
            <a:ext cx="1976571" cy="106959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</a:rPr>
              <a:t>Personal Assistance:</a:t>
            </a:r>
            <a:r>
              <a:rPr lang="en-US" sz="1100" dirty="0">
                <a:solidFill>
                  <a:schemeClr val="tx1"/>
                </a:solidFill>
              </a:rPr>
              <a:t> Dedicated support for setup and troubleshooting.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Feedback Systems:</a:t>
            </a:r>
            <a:r>
              <a:rPr lang="en-US" sz="1100" dirty="0">
                <a:solidFill>
                  <a:schemeClr val="tx1"/>
                </a:solidFill>
              </a:rPr>
              <a:t> Regular surveys and feedback mechanisms to gather user input for improvements.</a:t>
            </a:r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3902E5-F34F-18EE-0AB5-D9049478DD12}"/>
              </a:ext>
            </a:extLst>
          </p:cNvPr>
          <p:cNvSpPr/>
          <p:nvPr/>
        </p:nvSpPr>
        <p:spPr>
          <a:xfrm>
            <a:off x="7566209" y="4345088"/>
            <a:ext cx="1976571" cy="112163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Direct sales,</a:t>
            </a:r>
          </a:p>
          <a:p>
            <a:r>
              <a:rPr lang="en-US" sz="1200" dirty="0">
                <a:solidFill>
                  <a:schemeClr val="tx1"/>
                </a:solidFill>
              </a:rPr>
              <a:t>online platforms, healthcare providers, educational institutions.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A9D7F8-FA14-5834-EBA4-8407A2CA1CC2}"/>
              </a:ext>
            </a:extLst>
          </p:cNvPr>
          <p:cNvSpPr/>
          <p:nvPr/>
        </p:nvSpPr>
        <p:spPr>
          <a:xfrm rot="5400000">
            <a:off x="10963676" y="4393554"/>
            <a:ext cx="104442" cy="1976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004366-3EBB-8D07-549E-F3A24EE7A678}"/>
              </a:ext>
            </a:extLst>
          </p:cNvPr>
          <p:cNvSpPr/>
          <p:nvPr/>
        </p:nvSpPr>
        <p:spPr>
          <a:xfrm>
            <a:off x="10022537" y="2600929"/>
            <a:ext cx="1927412" cy="2813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Visually Impaired Individuals:</a:t>
            </a:r>
            <a:r>
              <a:rPr lang="en-US" sz="1000" dirty="0">
                <a:solidFill>
                  <a:schemeClr val="tx1"/>
                </a:solidFill>
              </a:rPr>
              <a:t> Primary target users who will benefit from navigation and object recognition features.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NGOs:</a:t>
            </a:r>
            <a:r>
              <a:rPr lang="en-US" sz="1000" dirty="0">
                <a:solidFill>
                  <a:schemeClr val="tx1"/>
                </a:solidFill>
              </a:rPr>
              <a:t> Organizations working with differently-abled communities.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Government Agencies:</a:t>
            </a:r>
            <a:r>
              <a:rPr lang="en-US" sz="1000" dirty="0">
                <a:solidFill>
                  <a:schemeClr val="tx1"/>
                </a:solidFill>
              </a:rPr>
              <a:t> Programs focused on enhancing accessibility and independence for differently-abled individuals.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Educational Institutions:</a:t>
            </a:r>
            <a:r>
              <a:rPr lang="en-US" sz="1000" dirty="0">
                <a:solidFill>
                  <a:schemeClr val="tx1"/>
                </a:solidFill>
              </a:rPr>
              <a:t> Schools and universities looking to provide inclusive education tools.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DCC501-4606-992A-3B26-D12CEA7AB6EB}"/>
              </a:ext>
            </a:extLst>
          </p:cNvPr>
          <p:cNvSpPr/>
          <p:nvPr/>
        </p:nvSpPr>
        <p:spPr>
          <a:xfrm>
            <a:off x="10022537" y="2466340"/>
            <a:ext cx="104443" cy="2967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B1FCEC-D32B-6D03-5BFD-447BC3F8706D}"/>
              </a:ext>
            </a:extLst>
          </p:cNvPr>
          <p:cNvSpPr/>
          <p:nvPr/>
        </p:nvSpPr>
        <p:spPr>
          <a:xfrm rot="5400000">
            <a:off x="10958599" y="1531344"/>
            <a:ext cx="104443" cy="1976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9448B40-FE37-BDD9-18C0-CAE374BB56FF}"/>
              </a:ext>
            </a:extLst>
          </p:cNvPr>
          <p:cNvSpPr/>
          <p:nvPr/>
        </p:nvSpPr>
        <p:spPr>
          <a:xfrm>
            <a:off x="8465820" y="5557653"/>
            <a:ext cx="3533286" cy="6325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Product sales, subscription services, partnerships, grants, customization services.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76FE62-09D8-3E53-627D-98029BC6B1BE}"/>
              </a:ext>
            </a:extLst>
          </p:cNvPr>
          <p:cNvSpPr/>
          <p:nvPr/>
        </p:nvSpPr>
        <p:spPr>
          <a:xfrm>
            <a:off x="2405574" y="5528075"/>
            <a:ext cx="3756075" cy="6749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cost roughly estimated : $199.30 = ₹16,698.52</a:t>
            </a:r>
          </a:p>
        </p:txBody>
      </p:sp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7" y="1211571"/>
            <a:ext cx="10515600" cy="73627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</a:rPr>
              <a:t>PROPOSED BUDJET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267DF93-F8E9-5CF9-0808-0DBD1A743C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753008"/>
              </p:ext>
            </p:extLst>
          </p:nvPr>
        </p:nvGraphicFramePr>
        <p:xfrm>
          <a:off x="838200" y="1825625"/>
          <a:ext cx="1051559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334">
                  <a:extLst>
                    <a:ext uri="{9D8B030D-6E8A-4147-A177-3AD203B41FA5}">
                      <a16:colId xmlns:a16="http://schemas.microsoft.com/office/drawing/2014/main" val="4027653943"/>
                    </a:ext>
                  </a:extLst>
                </a:gridCol>
                <a:gridCol w="6073064">
                  <a:extLst>
                    <a:ext uri="{9D8B030D-6E8A-4147-A177-3AD203B41FA5}">
                      <a16:colId xmlns:a16="http://schemas.microsoft.com/office/drawing/2014/main" val="3560944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538843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04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Hardware Components ( ESP BOARDS, Micro - Controllers ) :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$35.81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82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Manufacturing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$14.33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80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Assembly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$9.55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25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Software development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$23.88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66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Database management ( AWS, AZURE )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$12.65 ( per month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321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Generation of ML model, AR Integration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$41.94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62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Maintenance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$11.94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3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Customer Support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$14.33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87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09.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Initial Marketing 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$17.31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247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10.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Miscellaneous Components (sensors, wiring):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$17.91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33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GRAND TOTAL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$199.35  =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₹16,698.52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277969"/>
                  </a:ext>
                </a:extLst>
              </a:tr>
            </a:tbl>
          </a:graphicData>
        </a:graphic>
      </p:graphicFrame>
      <p:pic>
        <p:nvPicPr>
          <p:cNvPr id="26626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E53305-2A75-B81A-19D3-B5D50118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25172"/>
            <a:ext cx="10515600" cy="88079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</a:rPr>
              <a:t>FUTURE ENHANCEMENT</a:t>
            </a:r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B68062-0400-EEE1-AC8D-AFB964624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BB72BD5-AB6A-4E2F-29B1-BA51F1F5A1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6448" y="2049209"/>
            <a:ext cx="939910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to Larger Areas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system can be extended to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 more extensive areas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 additional campus buildings, parking lots, and nearby off-campus locations,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comprehensive security coverage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Analytics 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 for Threat Identification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Implementing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that analyze historical data to predict potential security threats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proactive measures to prevent incidents.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Behavioral Analysis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Using advanced analytics to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the behavior patterns of individuals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identifying anomalies that may indicate suspicious activities or security breaches.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Integration 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Administrator Mobile 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Developing a mobile application that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administrators to monitor live feeds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receive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the security system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remotely, enhancing their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to respond quickly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incidents.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Privacy 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Encryption Methods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Incorporating state-of-the-art encryption techniques to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data transmission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storage, ensuring that sensitive information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remains protected from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unauthorized access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Anonymization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Implementing anonymization protocols to protect the privacy of individuals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captured in surveillance footage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possible to use the data for analysis without compromising personal privacy.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1449976"/>
            <a:ext cx="10515600" cy="88079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Bell MT" pitchFamily="18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21131"/>
            <a:ext cx="10515600" cy="3655832"/>
          </a:xfrm>
        </p:spPr>
        <p:txBody>
          <a:bodyPr>
            <a:normAutofit/>
          </a:bodyPr>
          <a:lstStyle/>
          <a:p>
            <a:r>
              <a:rPr lang="en-US" sz="1800" b="1" dirty="0"/>
              <a:t>Title of Journal Article</a:t>
            </a:r>
            <a:r>
              <a:rPr lang="en-US" sz="1800" dirty="0"/>
              <a:t>: "Real-time Face Detection and Recognition Using Improved Viola-Jones Algorithm and Deep Learning"</a:t>
            </a:r>
          </a:p>
          <a:p>
            <a:pPr lvl="1"/>
            <a:r>
              <a:rPr lang="en-US" sz="1400" b="1" dirty="0"/>
              <a:t>Author</a:t>
            </a:r>
            <a:r>
              <a:rPr lang="en-US" sz="1400" dirty="0"/>
              <a:t>: A. </a:t>
            </a:r>
            <a:r>
              <a:rPr lang="en-US" sz="1400" dirty="0" err="1"/>
              <a:t>Khraisat</a:t>
            </a:r>
            <a:r>
              <a:rPr lang="en-US" sz="1400" dirty="0"/>
              <a:t>, I. </a:t>
            </a:r>
            <a:r>
              <a:rPr lang="en-US" sz="1400" dirty="0" err="1"/>
              <a:t>Alsmadi</a:t>
            </a:r>
            <a:r>
              <a:rPr lang="en-US" sz="1400" dirty="0"/>
              <a:t>, A. </a:t>
            </a:r>
            <a:r>
              <a:rPr lang="en-US" sz="1400" dirty="0" err="1"/>
              <a:t>Awajan</a:t>
            </a:r>
            <a:endParaRPr lang="en-US" sz="1400" dirty="0"/>
          </a:p>
          <a:p>
            <a:pPr lvl="1"/>
            <a:r>
              <a:rPr lang="en-US" sz="1400" b="1" dirty="0"/>
              <a:t>Problem Defined</a:t>
            </a:r>
            <a:r>
              <a:rPr lang="en-US" sz="1400" dirty="0"/>
              <a:t>: The paper addresses the need for real-time and accurate face detection and recognition systems.</a:t>
            </a:r>
          </a:p>
          <a:p>
            <a:pPr lvl="1"/>
            <a:r>
              <a:rPr lang="en-US" sz="1400" b="1" dirty="0"/>
              <a:t>IEEE Journal</a:t>
            </a:r>
            <a:r>
              <a:rPr lang="en-US" sz="1400" dirty="0"/>
              <a:t>: </a:t>
            </a:r>
            <a:r>
              <a:rPr lang="en-US" sz="1400" dirty="0">
                <a:hlinkClick r:id="rId2"/>
              </a:rPr>
              <a:t>IEEE Xplore Link</a:t>
            </a:r>
            <a:endParaRPr lang="en-US" sz="1400" dirty="0"/>
          </a:p>
          <a:p>
            <a:endParaRPr lang="en-US" sz="1600" dirty="0"/>
          </a:p>
          <a:p>
            <a:r>
              <a:rPr lang="en-US" sz="1800" b="1" dirty="0"/>
              <a:t>Title of Journal Article</a:t>
            </a:r>
            <a:r>
              <a:rPr lang="en-US" sz="1800" dirty="0"/>
              <a:t>: "IoT-Based Smart Surveillance Security System Using Deep Learning for Home Automation"</a:t>
            </a:r>
          </a:p>
          <a:p>
            <a:pPr lvl="1"/>
            <a:r>
              <a:rPr lang="en-US" sz="1400" b="1" dirty="0"/>
              <a:t>Author</a:t>
            </a:r>
            <a:r>
              <a:rPr lang="en-US" sz="1400" dirty="0"/>
              <a:t>: H. N. Dai, R. C. Y. Ngai, M. Lyu</a:t>
            </a:r>
          </a:p>
          <a:p>
            <a:pPr lvl="1"/>
            <a:r>
              <a:rPr lang="en-US" sz="1400" b="1" dirty="0"/>
              <a:t>Problem Defined</a:t>
            </a:r>
            <a:r>
              <a:rPr lang="en-US" sz="1400" dirty="0"/>
              <a:t>: The study focuses on the implementation of a smart surveillance system using IoT and deep learning technologies.</a:t>
            </a:r>
          </a:p>
          <a:p>
            <a:pPr lvl="1"/>
            <a:r>
              <a:rPr lang="en-US" sz="1400" b="1" dirty="0"/>
              <a:t>IEEE Journal</a:t>
            </a:r>
            <a:r>
              <a:rPr lang="en-US" sz="1400" dirty="0"/>
              <a:t>: </a:t>
            </a:r>
            <a:r>
              <a:rPr lang="en-US" sz="1400" dirty="0">
                <a:hlinkClick r:id="rId3"/>
              </a:rPr>
              <a:t>IEEE Xplore Link</a:t>
            </a:r>
            <a:endParaRPr lang="en-US" sz="1400" dirty="0"/>
          </a:p>
        </p:txBody>
      </p:sp>
      <p:pic>
        <p:nvPicPr>
          <p:cNvPr id="4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B8C307-EA29-8F55-DED7-76A3FC0C6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9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748565"/>
              </p:ext>
            </p:extLst>
          </p:nvPr>
        </p:nvGraphicFramePr>
        <p:xfrm>
          <a:off x="4687855" y="1390568"/>
          <a:ext cx="3400343" cy="42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5868681" imgH="738898" progId="">
                  <p:embed/>
                </p:oleObj>
              </mc:Choice>
              <mc:Fallback>
                <p:oleObj name="CorelDRAW" r:id="rId2" imgW="5868681" imgH="738898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55" y="1390568"/>
                        <a:ext cx="3400343" cy="42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441508"/>
              </p:ext>
            </p:extLst>
          </p:nvPr>
        </p:nvGraphicFramePr>
        <p:xfrm>
          <a:off x="1171559" y="2167953"/>
          <a:ext cx="4871023" cy="2426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5889428" imgH="2932947" progId="">
                  <p:embed/>
                </p:oleObj>
              </mc:Choice>
              <mc:Fallback>
                <p:oleObj name="CorelDRAW" r:id="rId4" imgW="5889428" imgH="2932947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59" y="2167953"/>
                        <a:ext cx="4871023" cy="24263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702406"/>
              </p:ext>
            </p:extLst>
          </p:nvPr>
        </p:nvGraphicFramePr>
        <p:xfrm>
          <a:off x="6165687" y="2167953"/>
          <a:ext cx="4731700" cy="2377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6" imgW="5987015" imgH="3008180" progId="">
                  <p:embed/>
                </p:oleObj>
              </mc:Choice>
              <mc:Fallback>
                <p:oleObj name="CorelDRAW" r:id="rId6" imgW="5987015" imgH="300818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687" y="2167953"/>
                        <a:ext cx="4731700" cy="23777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88360"/>
              </p:ext>
            </p:extLst>
          </p:nvPr>
        </p:nvGraphicFramePr>
        <p:xfrm>
          <a:off x="3362162" y="4895421"/>
          <a:ext cx="56070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8" imgW="5607039" imgH="969972" progId="">
                  <p:embed/>
                </p:oleObj>
              </mc:Choice>
              <mc:Fallback>
                <p:oleObj name="CorelDRAW" r:id="rId8" imgW="5607039" imgH="969972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162" y="4895421"/>
                        <a:ext cx="5607050" cy="969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1321934" y="6458988"/>
            <a:ext cx="399012" cy="399012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0F9476-507F-9B07-7FB4-6928AEA097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890" y="140187"/>
            <a:ext cx="266737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7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"/>
          <p:cNvSpPr txBox="1"/>
          <p:nvPr/>
        </p:nvSpPr>
        <p:spPr>
          <a:xfrm>
            <a:off x="9525000" y="6324600"/>
            <a:ext cx="4844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2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9" descr="Cool Thank You Animated - 2yamaha.com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 descr="Cool Thank You Animated - 2yamaha.com"/>
          <p:cNvSpPr/>
          <p:nvPr/>
        </p:nvSpPr>
        <p:spPr>
          <a:xfrm>
            <a:off x="1831975" y="7938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 descr="C:\Users\ADMIN\Desktop\TEMPLA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26243"/>
            <a:ext cx="12192000" cy="76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2187;p148"/>
          <p:cNvSpPr/>
          <p:nvPr/>
        </p:nvSpPr>
        <p:spPr>
          <a:xfrm>
            <a:off x="3591613" y="160338"/>
            <a:ext cx="586347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1600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“We must be the change that we wish to see in the world”</a:t>
            </a:r>
            <a:br>
              <a:rPr lang="en-US" sz="1600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		</a:t>
            </a:r>
            <a:r>
              <a:rPr lang="en-US" sz="1400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Mahatma Gandhi</a:t>
            </a:r>
            <a:endParaRPr sz="1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E:\LOGO\png\Chairman-Logo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374282" y="5702529"/>
            <a:ext cx="847899" cy="8478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5989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467</TotalTime>
  <Words>1686</Words>
  <Application>Microsoft Office PowerPoint</Application>
  <PresentationFormat>Widescreen</PresentationFormat>
  <Paragraphs>218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 Display</vt:lpstr>
      <vt:lpstr>Arial</vt:lpstr>
      <vt:lpstr>Bell MT</vt:lpstr>
      <vt:lpstr>Calibri</vt:lpstr>
      <vt:lpstr>Calibri Light</vt:lpstr>
      <vt:lpstr>Times New Roman</vt:lpstr>
      <vt:lpstr>Wingdings</vt:lpstr>
      <vt:lpstr>Office Theme</vt:lpstr>
      <vt:lpstr>CorelDRAW</vt:lpstr>
      <vt:lpstr>PowerPoint Presentation</vt:lpstr>
      <vt:lpstr>FULLY AUTOMATED ROBOTIC SYSTEMS</vt:lpstr>
      <vt:lpstr>JUSTIFICATION FOR SDG &amp; SAP No.</vt:lpstr>
      <vt:lpstr>CORE OBJECTIVES OF THE PROJECT</vt:lpstr>
      <vt:lpstr>PROBLEM STATEMENT</vt:lpstr>
      <vt:lpstr>Abstract</vt:lpstr>
      <vt:lpstr>LITERATURE REVIEW</vt:lpstr>
      <vt:lpstr>PowerPoint Presentation</vt:lpstr>
      <vt:lpstr>EXISTING SYSTEM DESIGN</vt:lpstr>
      <vt:lpstr>DESIGN OF THE PROPOSED SOLUTION</vt:lpstr>
      <vt:lpstr>SYSTEM ARCHITECTURE</vt:lpstr>
      <vt:lpstr>BUSINESS MODEL CANVAS</vt:lpstr>
      <vt:lpstr>PROPOSED BUDJET</vt:lpstr>
      <vt:lpstr>FUTURE ENHANCEMENT</vt:lpstr>
      <vt:lpstr>REFERENCE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Akash Santhnu Sundar</cp:lastModifiedBy>
  <cp:revision>42</cp:revision>
  <dcterms:created xsi:type="dcterms:W3CDTF">2024-03-04T06:35:24Z</dcterms:created>
  <dcterms:modified xsi:type="dcterms:W3CDTF">2024-08-27T08:42:37Z</dcterms:modified>
</cp:coreProperties>
</file>