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828" r:id="rId1"/>
  </p:sldMasterIdLst>
  <p:notesMasterIdLst>
    <p:notesMasterId r:id="rId24"/>
  </p:notesMasterIdLst>
  <p:sldIdLst>
    <p:sldId id="256" r:id="rId2"/>
    <p:sldId id="371" r:id="rId3"/>
    <p:sldId id="352" r:id="rId4"/>
    <p:sldId id="353" r:id="rId5"/>
    <p:sldId id="354" r:id="rId6"/>
    <p:sldId id="355" r:id="rId7"/>
    <p:sldId id="356" r:id="rId8"/>
    <p:sldId id="357" r:id="rId9"/>
    <p:sldId id="358" r:id="rId10"/>
    <p:sldId id="359" r:id="rId11"/>
    <p:sldId id="360" r:id="rId12"/>
    <p:sldId id="361" r:id="rId13"/>
    <p:sldId id="362" r:id="rId14"/>
    <p:sldId id="363" r:id="rId15"/>
    <p:sldId id="364" r:id="rId16"/>
    <p:sldId id="365" r:id="rId17"/>
    <p:sldId id="366" r:id="rId18"/>
    <p:sldId id="367" r:id="rId19"/>
    <p:sldId id="368" r:id="rId20"/>
    <p:sldId id="369" r:id="rId21"/>
    <p:sldId id="370" r:id="rId22"/>
    <p:sldId id="267" r:id="rId23"/>
  </p:sldIdLst>
  <p:sldSz cx="18288000" cy="10287000"/>
  <p:notesSz cx="6858000" cy="9144000"/>
  <p:embeddedFontLst>
    <p:embeddedFont>
      <p:font typeface="Antonio Bold" panose="020B0604020202020204" charset="0"/>
      <p:regular r:id="rId25"/>
      <p:bold r:id="rId26"/>
    </p:embeddedFont>
    <p:embeddedFont>
      <p:font typeface="Barlow" panose="00000500000000000000" pitchFamily="2" charset="0"/>
      <p:regular r:id="rId27"/>
      <p:bold r:id="rId28"/>
      <p:italic r:id="rId29"/>
      <p:boldItalic r:id="rId30"/>
    </p:embeddedFont>
    <p:embeddedFont>
      <p:font typeface="Carlito" panose="020B0604020202020204" charset="0"/>
      <p:regular r:id="rId31"/>
      <p:bold r:id="rId32"/>
    </p:embeddedFont>
    <p:embeddedFont>
      <p:font typeface="Lato" panose="020F0502020204030203" pitchFamily="34" charset="0"/>
      <p:regular r:id="rId33"/>
      <p:bold r:id="rId34"/>
      <p:italic r:id="rId35"/>
      <p:boldItalic r:id="rId36"/>
    </p:embeddedFont>
    <p:embeddedFont>
      <p:font typeface="Montserrat" panose="00000500000000000000" pitchFamily="2" charset="0"/>
      <p:regular r:id="rId37"/>
      <p:bold r:id="rId38"/>
      <p:italic r:id="rId39"/>
      <p:boldItalic r:id="rId40"/>
    </p:embeddedFont>
    <p:embeddedFont>
      <p:font typeface="Open Sans" panose="020B0606030504020204" pitchFamily="34" charset="0"/>
      <p:regular r:id="rId41"/>
      <p:bold r:id="rId42"/>
      <p:italic r:id="rId43"/>
      <p:boldItalic r:id="rId44"/>
    </p:embeddedFont>
    <p:embeddedFont>
      <p:font typeface="Raleway" pitchFamily="2" charset="0"/>
      <p:regular r:id="rId45"/>
      <p:bold r:id="rId46"/>
      <p:italic r:id="rId47"/>
      <p:boldItalic r:id="rId48"/>
    </p:embeddedFont>
    <p:embeddedFont>
      <p:font typeface="Roboto" panose="02000000000000000000" pitchFamily="2" charset="0"/>
      <p:regular r:id="rId49"/>
      <p:bold r:id="rId50"/>
      <p:italic r:id="rId51"/>
      <p:boldItalic r:id="rId52"/>
    </p:embeddedFont>
    <p:embeddedFont>
      <p:font typeface="Verdana" panose="020B0604030504040204" pitchFamily="34" charset="0"/>
      <p:regular r:id="rId53"/>
      <p:bold r:id="rId54"/>
      <p:italic r:id="rId55"/>
      <p:boldItalic r:id="rId56"/>
    </p:embeddedFont>
  </p:embeddedFontLst>
  <p:defaultTextStyle>
    <a:defPPr>
      <a:defRPr lang="en-US"/>
    </a:defPPr>
    <a:lvl1pPr marL="0" algn="l" defTabSz="9143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93" algn="l" defTabSz="9143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86" algn="l" defTabSz="9143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78" algn="l" defTabSz="9143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71" algn="l" defTabSz="9143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64" algn="l" defTabSz="9143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57" algn="l" defTabSz="9143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48" algn="l" defTabSz="9143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42" algn="l" defTabSz="9143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rles Bolton" initials="CB" lastIdx="1" clrIdx="0">
    <p:extLst>
      <p:ext uri="{19B8F6BF-5375-455C-9EA6-DF929625EA0E}">
        <p15:presenceInfo xmlns:p15="http://schemas.microsoft.com/office/powerpoint/2012/main" userId="42254106b65d6a6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F66"/>
    <a:srgbClr val="CC99FF"/>
    <a:srgbClr val="FF00FF"/>
    <a:srgbClr val="43CEFF"/>
    <a:srgbClr val="387FE8"/>
    <a:srgbClr val="FF9933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97" autoAdjust="0"/>
    <p:restoredTop sz="95179" autoAdjust="0"/>
  </p:normalViewPr>
  <p:slideViewPr>
    <p:cSldViewPr>
      <p:cViewPr varScale="1">
        <p:scale>
          <a:sx n="59" d="100"/>
          <a:sy n="59" d="100"/>
        </p:scale>
        <p:origin x="499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font" Target="fonts/font18.fntdata"/><Relationship Id="rId47" Type="http://schemas.openxmlformats.org/officeDocument/2006/relationships/font" Target="fonts/font23.fntdata"/><Relationship Id="rId50" Type="http://schemas.openxmlformats.org/officeDocument/2006/relationships/font" Target="fonts/font26.fntdata"/><Relationship Id="rId55" Type="http://schemas.openxmlformats.org/officeDocument/2006/relationships/font" Target="fonts/font3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5.fntdata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45" Type="http://schemas.openxmlformats.org/officeDocument/2006/relationships/font" Target="fonts/font21.fntdata"/><Relationship Id="rId53" Type="http://schemas.openxmlformats.org/officeDocument/2006/relationships/font" Target="fonts/font29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font" Target="fonts/font19.fntdata"/><Relationship Id="rId48" Type="http://schemas.openxmlformats.org/officeDocument/2006/relationships/font" Target="fonts/font24.fntdata"/><Relationship Id="rId56" Type="http://schemas.openxmlformats.org/officeDocument/2006/relationships/font" Target="fonts/font32.fntdata"/><Relationship Id="rId8" Type="http://schemas.openxmlformats.org/officeDocument/2006/relationships/slide" Target="slides/slide7.xml"/><Relationship Id="rId51" Type="http://schemas.openxmlformats.org/officeDocument/2006/relationships/font" Target="fonts/font2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46" Type="http://schemas.openxmlformats.org/officeDocument/2006/relationships/font" Target="fonts/font22.fntdata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7.fntdata"/><Relationship Id="rId54" Type="http://schemas.openxmlformats.org/officeDocument/2006/relationships/font" Target="fonts/font3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49" Type="http://schemas.openxmlformats.org/officeDocument/2006/relationships/font" Target="fonts/font25.fntdata"/><Relationship Id="rId57" Type="http://schemas.openxmlformats.org/officeDocument/2006/relationships/commentAuthors" Target="commentAuthors.xml"/><Relationship Id="rId10" Type="http://schemas.openxmlformats.org/officeDocument/2006/relationships/slide" Target="slides/slide9.xml"/><Relationship Id="rId31" Type="http://schemas.openxmlformats.org/officeDocument/2006/relationships/font" Target="fonts/font7.fntdata"/><Relationship Id="rId44" Type="http://schemas.openxmlformats.org/officeDocument/2006/relationships/font" Target="fonts/font20.fntdata"/><Relationship Id="rId52" Type="http://schemas.openxmlformats.org/officeDocument/2006/relationships/font" Target="fonts/font28.fntdata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344F1D-3325-40CB-A71F-A79307D22CED}" type="doc">
      <dgm:prSet loTypeId="urn:microsoft.com/office/officeart/2005/8/layout/venn2" loCatId="relationship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IN"/>
        </a:p>
      </dgm:t>
    </dgm:pt>
    <dgm:pt modelId="{746B4EF9-BF3A-40BA-AFB2-066011491528}">
      <dgm:prSet phldrT="[Text]"/>
      <dgm:spPr>
        <a:xfrm>
          <a:off x="1391698" y="0"/>
          <a:ext cx="3975621" cy="3975621"/>
        </a:xfrm>
      </dgm:spPr>
      <dgm:t>
        <a:bodyPr/>
        <a:lstStyle/>
        <a:p>
          <a:r>
            <a:rPr lang="en-IN" dirty="0">
              <a:latin typeface="Calibri" panose="020F0502020204030204"/>
              <a:ea typeface="+mn-ea"/>
              <a:cs typeface="+mn-cs"/>
            </a:rPr>
            <a:t>TAM</a:t>
          </a:r>
        </a:p>
      </dgm:t>
    </dgm:pt>
    <dgm:pt modelId="{1954D69E-B74F-4B4C-92A9-ACC18C47A984}" type="parTrans" cxnId="{6915F751-B358-4E82-A29A-FC970199FF41}">
      <dgm:prSet/>
      <dgm:spPr/>
      <dgm:t>
        <a:bodyPr/>
        <a:lstStyle/>
        <a:p>
          <a:endParaRPr lang="en-IN"/>
        </a:p>
      </dgm:t>
    </dgm:pt>
    <dgm:pt modelId="{0B14DF90-4A8A-4E4D-9AD4-5A31ECC3D299}" type="sibTrans" cxnId="{6915F751-B358-4E82-A29A-FC970199FF41}">
      <dgm:prSet/>
      <dgm:spPr/>
      <dgm:t>
        <a:bodyPr/>
        <a:lstStyle/>
        <a:p>
          <a:endParaRPr lang="en-IN"/>
        </a:p>
      </dgm:t>
    </dgm:pt>
    <dgm:pt modelId="{C97EDADC-8ECD-42D4-89AC-847633F19078}">
      <dgm:prSet phldrT="[Text]"/>
      <dgm:spPr>
        <a:xfrm>
          <a:off x="1888651" y="993905"/>
          <a:ext cx="2981715" cy="2981715"/>
        </a:xfrm>
      </dgm:spPr>
      <dgm:t>
        <a:bodyPr/>
        <a:lstStyle/>
        <a:p>
          <a:r>
            <a:rPr lang="en-IN" dirty="0">
              <a:latin typeface="Calibri" panose="020F0502020204030204"/>
              <a:ea typeface="+mn-ea"/>
              <a:cs typeface="+mn-cs"/>
            </a:rPr>
            <a:t>SAM</a:t>
          </a:r>
        </a:p>
      </dgm:t>
    </dgm:pt>
    <dgm:pt modelId="{A3260F69-CA56-4346-A57E-769087C36739}" type="parTrans" cxnId="{3DEA3B12-D7FA-440A-BE79-775519D6910A}">
      <dgm:prSet/>
      <dgm:spPr/>
      <dgm:t>
        <a:bodyPr/>
        <a:lstStyle/>
        <a:p>
          <a:endParaRPr lang="en-IN"/>
        </a:p>
      </dgm:t>
    </dgm:pt>
    <dgm:pt modelId="{5909561E-9CA8-4668-901B-DE46BDCB26D4}" type="sibTrans" cxnId="{3DEA3B12-D7FA-440A-BE79-775519D6910A}">
      <dgm:prSet/>
      <dgm:spPr/>
      <dgm:t>
        <a:bodyPr/>
        <a:lstStyle/>
        <a:p>
          <a:endParaRPr lang="en-IN"/>
        </a:p>
      </dgm:t>
    </dgm:pt>
    <dgm:pt modelId="{E5EFF1E8-ABE4-4362-A50E-B875D125BD96}">
      <dgm:prSet phldrT="[Text]"/>
      <dgm:spPr>
        <a:xfrm>
          <a:off x="2385603" y="1987810"/>
          <a:ext cx="1987810" cy="1987810"/>
        </a:xfrm>
      </dgm:spPr>
      <dgm:t>
        <a:bodyPr/>
        <a:lstStyle/>
        <a:p>
          <a:r>
            <a:rPr lang="en-IN" dirty="0">
              <a:latin typeface="Calibri" panose="020F0502020204030204"/>
              <a:ea typeface="+mn-ea"/>
              <a:cs typeface="+mn-cs"/>
            </a:rPr>
            <a:t>SOM</a:t>
          </a:r>
        </a:p>
      </dgm:t>
    </dgm:pt>
    <dgm:pt modelId="{14B6BEEE-EB27-4CAC-B0EE-383B99B876FC}" type="parTrans" cxnId="{154FA2CE-CAB5-4733-8C08-DDAE9106897D}">
      <dgm:prSet/>
      <dgm:spPr/>
      <dgm:t>
        <a:bodyPr/>
        <a:lstStyle/>
        <a:p>
          <a:endParaRPr lang="en-IN"/>
        </a:p>
      </dgm:t>
    </dgm:pt>
    <dgm:pt modelId="{D5317EF5-6EDB-436F-B2D4-C6A7CD409F02}" type="sibTrans" cxnId="{154FA2CE-CAB5-4733-8C08-DDAE9106897D}">
      <dgm:prSet/>
      <dgm:spPr/>
      <dgm:t>
        <a:bodyPr/>
        <a:lstStyle/>
        <a:p>
          <a:endParaRPr lang="en-IN"/>
        </a:p>
      </dgm:t>
    </dgm:pt>
    <dgm:pt modelId="{F2B9CC1C-BDE6-4CDB-A758-74CC86A3F31F}" type="pres">
      <dgm:prSet presAssocID="{DD344F1D-3325-40CB-A71F-A79307D22CED}" presName="Name0" presStyleCnt="0">
        <dgm:presLayoutVars>
          <dgm:chMax val="7"/>
          <dgm:resizeHandles val="exact"/>
        </dgm:presLayoutVars>
      </dgm:prSet>
      <dgm:spPr/>
    </dgm:pt>
    <dgm:pt modelId="{8451ED41-C590-464C-8723-134AEB39DBB3}" type="pres">
      <dgm:prSet presAssocID="{DD344F1D-3325-40CB-A71F-A79307D22CED}" presName="comp1" presStyleCnt="0"/>
      <dgm:spPr/>
    </dgm:pt>
    <dgm:pt modelId="{2BE2AAFC-BEAE-481D-B557-81DE68A237F7}" type="pres">
      <dgm:prSet presAssocID="{DD344F1D-3325-40CB-A71F-A79307D22CED}" presName="circle1" presStyleLbl="node1" presStyleIdx="0" presStyleCnt="3"/>
      <dgm:spPr>
        <a:prstGeom prst="ellipse">
          <a:avLst/>
        </a:prstGeom>
      </dgm:spPr>
    </dgm:pt>
    <dgm:pt modelId="{ED7C1346-0397-438A-9AAD-8BE2335EC6BB}" type="pres">
      <dgm:prSet presAssocID="{DD344F1D-3325-40CB-A71F-A79307D22CED}" presName="c1text" presStyleLbl="node1" presStyleIdx="0" presStyleCnt="3">
        <dgm:presLayoutVars>
          <dgm:bulletEnabled val="1"/>
        </dgm:presLayoutVars>
      </dgm:prSet>
      <dgm:spPr/>
    </dgm:pt>
    <dgm:pt modelId="{8F11973F-33EE-445B-8E28-2D5EAC0DA289}" type="pres">
      <dgm:prSet presAssocID="{DD344F1D-3325-40CB-A71F-A79307D22CED}" presName="comp2" presStyleCnt="0"/>
      <dgm:spPr/>
    </dgm:pt>
    <dgm:pt modelId="{5783AC22-EAAA-4B02-9505-F9F67BC8F71A}" type="pres">
      <dgm:prSet presAssocID="{DD344F1D-3325-40CB-A71F-A79307D22CED}" presName="circle2" presStyleLbl="node1" presStyleIdx="1" presStyleCnt="3"/>
      <dgm:spPr>
        <a:prstGeom prst="ellipse">
          <a:avLst/>
        </a:prstGeom>
      </dgm:spPr>
    </dgm:pt>
    <dgm:pt modelId="{4871E181-12FC-48FB-9E74-6BA476466234}" type="pres">
      <dgm:prSet presAssocID="{DD344F1D-3325-40CB-A71F-A79307D22CED}" presName="c2text" presStyleLbl="node1" presStyleIdx="1" presStyleCnt="3">
        <dgm:presLayoutVars>
          <dgm:bulletEnabled val="1"/>
        </dgm:presLayoutVars>
      </dgm:prSet>
      <dgm:spPr/>
    </dgm:pt>
    <dgm:pt modelId="{901532F9-DC54-486E-8432-B2395DAF1269}" type="pres">
      <dgm:prSet presAssocID="{DD344F1D-3325-40CB-A71F-A79307D22CED}" presName="comp3" presStyleCnt="0"/>
      <dgm:spPr/>
    </dgm:pt>
    <dgm:pt modelId="{0927306A-DE0F-4C43-94ED-305F00916AD7}" type="pres">
      <dgm:prSet presAssocID="{DD344F1D-3325-40CB-A71F-A79307D22CED}" presName="circle3" presStyleLbl="node1" presStyleIdx="2" presStyleCnt="3"/>
      <dgm:spPr>
        <a:prstGeom prst="ellipse">
          <a:avLst/>
        </a:prstGeom>
      </dgm:spPr>
    </dgm:pt>
    <dgm:pt modelId="{DFA2E1B6-C653-4ECD-AABA-E3551E5267D7}" type="pres">
      <dgm:prSet presAssocID="{DD344F1D-3325-40CB-A71F-A79307D22CED}" presName="c3text" presStyleLbl="node1" presStyleIdx="2" presStyleCnt="3">
        <dgm:presLayoutVars>
          <dgm:bulletEnabled val="1"/>
        </dgm:presLayoutVars>
      </dgm:prSet>
      <dgm:spPr/>
    </dgm:pt>
  </dgm:ptLst>
  <dgm:cxnLst>
    <dgm:cxn modelId="{3DEA3B12-D7FA-440A-BE79-775519D6910A}" srcId="{DD344F1D-3325-40CB-A71F-A79307D22CED}" destId="{C97EDADC-8ECD-42D4-89AC-847633F19078}" srcOrd="1" destOrd="0" parTransId="{A3260F69-CA56-4346-A57E-769087C36739}" sibTransId="{5909561E-9CA8-4668-901B-DE46BDCB26D4}"/>
    <dgm:cxn modelId="{EF9FD539-A0FC-4E5D-88B6-8254E2A7E8C8}" type="presOf" srcId="{C97EDADC-8ECD-42D4-89AC-847633F19078}" destId="{4871E181-12FC-48FB-9E74-6BA476466234}" srcOrd="1" destOrd="0" presId="urn:microsoft.com/office/officeart/2005/8/layout/venn2"/>
    <dgm:cxn modelId="{6915F751-B358-4E82-A29A-FC970199FF41}" srcId="{DD344F1D-3325-40CB-A71F-A79307D22CED}" destId="{746B4EF9-BF3A-40BA-AFB2-066011491528}" srcOrd="0" destOrd="0" parTransId="{1954D69E-B74F-4B4C-92A9-ACC18C47A984}" sibTransId="{0B14DF90-4A8A-4E4D-9AD4-5A31ECC3D299}"/>
    <dgm:cxn modelId="{1A576258-244A-46C6-8900-C6FA52E44D87}" type="presOf" srcId="{746B4EF9-BF3A-40BA-AFB2-066011491528}" destId="{2BE2AAFC-BEAE-481D-B557-81DE68A237F7}" srcOrd="0" destOrd="0" presId="urn:microsoft.com/office/officeart/2005/8/layout/venn2"/>
    <dgm:cxn modelId="{C5A8AF7F-72BE-40B8-B47B-18CA1EE7529C}" type="presOf" srcId="{E5EFF1E8-ABE4-4362-A50E-B875D125BD96}" destId="{0927306A-DE0F-4C43-94ED-305F00916AD7}" srcOrd="0" destOrd="0" presId="urn:microsoft.com/office/officeart/2005/8/layout/venn2"/>
    <dgm:cxn modelId="{AB432D9A-18C1-416B-9AB3-D9C3D5896774}" type="presOf" srcId="{746B4EF9-BF3A-40BA-AFB2-066011491528}" destId="{ED7C1346-0397-438A-9AAD-8BE2335EC6BB}" srcOrd="1" destOrd="0" presId="urn:microsoft.com/office/officeart/2005/8/layout/venn2"/>
    <dgm:cxn modelId="{C69A34B9-D24C-41A0-81AE-FDE4EA9A6D72}" type="presOf" srcId="{E5EFF1E8-ABE4-4362-A50E-B875D125BD96}" destId="{DFA2E1B6-C653-4ECD-AABA-E3551E5267D7}" srcOrd="1" destOrd="0" presId="urn:microsoft.com/office/officeart/2005/8/layout/venn2"/>
    <dgm:cxn modelId="{154FA2CE-CAB5-4733-8C08-DDAE9106897D}" srcId="{DD344F1D-3325-40CB-A71F-A79307D22CED}" destId="{E5EFF1E8-ABE4-4362-A50E-B875D125BD96}" srcOrd="2" destOrd="0" parTransId="{14B6BEEE-EB27-4CAC-B0EE-383B99B876FC}" sibTransId="{D5317EF5-6EDB-436F-B2D4-C6A7CD409F02}"/>
    <dgm:cxn modelId="{D08861F9-3B1B-47B2-AF62-F81A72CC2F27}" type="presOf" srcId="{DD344F1D-3325-40CB-A71F-A79307D22CED}" destId="{F2B9CC1C-BDE6-4CDB-A758-74CC86A3F31F}" srcOrd="0" destOrd="0" presId="urn:microsoft.com/office/officeart/2005/8/layout/venn2"/>
    <dgm:cxn modelId="{24EEA2FA-7819-41CB-A126-524ECBCA3F9B}" type="presOf" srcId="{C97EDADC-8ECD-42D4-89AC-847633F19078}" destId="{5783AC22-EAAA-4B02-9505-F9F67BC8F71A}" srcOrd="0" destOrd="0" presId="urn:microsoft.com/office/officeart/2005/8/layout/venn2"/>
    <dgm:cxn modelId="{E52F68A0-8863-4A72-A359-37CA75586A51}" type="presParOf" srcId="{F2B9CC1C-BDE6-4CDB-A758-74CC86A3F31F}" destId="{8451ED41-C590-464C-8723-134AEB39DBB3}" srcOrd="0" destOrd="0" presId="urn:microsoft.com/office/officeart/2005/8/layout/venn2"/>
    <dgm:cxn modelId="{18D96B2E-D6EB-428B-BBDB-E5823BF6DC3D}" type="presParOf" srcId="{8451ED41-C590-464C-8723-134AEB39DBB3}" destId="{2BE2AAFC-BEAE-481D-B557-81DE68A237F7}" srcOrd="0" destOrd="0" presId="urn:microsoft.com/office/officeart/2005/8/layout/venn2"/>
    <dgm:cxn modelId="{D3E8C368-D9BC-43FE-8253-7665402C3C5F}" type="presParOf" srcId="{8451ED41-C590-464C-8723-134AEB39DBB3}" destId="{ED7C1346-0397-438A-9AAD-8BE2335EC6BB}" srcOrd="1" destOrd="0" presId="urn:microsoft.com/office/officeart/2005/8/layout/venn2"/>
    <dgm:cxn modelId="{B2E2592C-7001-4713-A5F3-30F5D7498205}" type="presParOf" srcId="{F2B9CC1C-BDE6-4CDB-A758-74CC86A3F31F}" destId="{8F11973F-33EE-445B-8E28-2D5EAC0DA289}" srcOrd="1" destOrd="0" presId="urn:microsoft.com/office/officeart/2005/8/layout/venn2"/>
    <dgm:cxn modelId="{EA9FB59F-1DD2-4A47-A20D-2BF84E02AD2C}" type="presParOf" srcId="{8F11973F-33EE-445B-8E28-2D5EAC0DA289}" destId="{5783AC22-EAAA-4B02-9505-F9F67BC8F71A}" srcOrd="0" destOrd="0" presId="urn:microsoft.com/office/officeart/2005/8/layout/venn2"/>
    <dgm:cxn modelId="{1E8EC345-911A-44BE-AA37-6C05CC07B6E6}" type="presParOf" srcId="{8F11973F-33EE-445B-8E28-2D5EAC0DA289}" destId="{4871E181-12FC-48FB-9E74-6BA476466234}" srcOrd="1" destOrd="0" presId="urn:microsoft.com/office/officeart/2005/8/layout/venn2"/>
    <dgm:cxn modelId="{EC108AA1-502C-4D0F-B06F-954106F65783}" type="presParOf" srcId="{F2B9CC1C-BDE6-4CDB-A758-74CC86A3F31F}" destId="{901532F9-DC54-486E-8432-B2395DAF1269}" srcOrd="2" destOrd="0" presId="urn:microsoft.com/office/officeart/2005/8/layout/venn2"/>
    <dgm:cxn modelId="{F1D57CE1-114A-4988-A3A7-6C0AA084CCBD}" type="presParOf" srcId="{901532F9-DC54-486E-8432-B2395DAF1269}" destId="{0927306A-DE0F-4C43-94ED-305F00916AD7}" srcOrd="0" destOrd="0" presId="urn:microsoft.com/office/officeart/2005/8/layout/venn2"/>
    <dgm:cxn modelId="{DDE4DCEA-ADAC-4F96-B5EF-4EE632C2BF3F}" type="presParOf" srcId="{901532F9-DC54-486E-8432-B2395DAF1269}" destId="{DFA2E1B6-C653-4ECD-AABA-E3551E5267D7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C08995-0A06-4692-A667-D87FC34CAEDF}" type="doc">
      <dgm:prSet loTypeId="urn:microsoft.com/office/officeart/2005/8/layout/pyramid3" loCatId="pyramid" qsTypeId="urn:microsoft.com/office/officeart/2005/8/quickstyle/simple1" qsCatId="simple" csTypeId="urn:microsoft.com/office/officeart/2005/8/colors/accent2_1" csCatId="accent2" phldr="1"/>
      <dgm:spPr/>
    </dgm:pt>
    <dgm:pt modelId="{1B77F4E2-4054-44C5-8439-BAAC1D809E85}">
      <dgm:prSet phldrT="[Text]" custT="1"/>
      <dgm:spPr/>
      <dgm:t>
        <a:bodyPr/>
        <a:lstStyle/>
        <a:p>
          <a:r>
            <a:rPr lang="de-DE" sz="1800" b="1" dirty="0">
              <a:latin typeface="+mn-lt"/>
              <a:cs typeface="Arial" panose="020B0604020202020204" pitchFamily="34" charset="0"/>
            </a:rPr>
            <a:t>TARGET MARKET:</a:t>
          </a:r>
        </a:p>
        <a:p>
          <a:r>
            <a:rPr lang="de-DE" sz="1800" b="1" dirty="0">
              <a:latin typeface="+mn-lt"/>
              <a:cs typeface="Arial" panose="020B0604020202020204" pitchFamily="34" charset="0"/>
            </a:rPr>
            <a:t>?.........................</a:t>
          </a:r>
        </a:p>
        <a:p>
          <a:r>
            <a:rPr lang="de-DE" sz="1800" dirty="0">
              <a:latin typeface="+mn-lt"/>
              <a:cs typeface="Arial" panose="020B0604020202020204" pitchFamily="34" charset="0"/>
            </a:rPr>
            <a:t> </a:t>
          </a:r>
        </a:p>
      </dgm:t>
    </dgm:pt>
    <dgm:pt modelId="{C067D827-58D6-4BB7-B862-87652879F687}" type="parTrans" cxnId="{6F7BCFFC-5685-445A-8A80-F7B3A816B052}">
      <dgm:prSet/>
      <dgm:spPr/>
      <dgm:t>
        <a:bodyPr/>
        <a:lstStyle/>
        <a:p>
          <a:endParaRPr lang="de-DE" sz="2400">
            <a:latin typeface="+mn-lt"/>
          </a:endParaRPr>
        </a:p>
      </dgm:t>
    </dgm:pt>
    <dgm:pt modelId="{DCC0FA10-27F4-428E-A55C-7BFE43B8D6A1}" type="sibTrans" cxnId="{6F7BCFFC-5685-445A-8A80-F7B3A816B052}">
      <dgm:prSet/>
      <dgm:spPr/>
      <dgm:t>
        <a:bodyPr/>
        <a:lstStyle/>
        <a:p>
          <a:endParaRPr lang="de-DE" sz="2400">
            <a:latin typeface="+mn-lt"/>
          </a:endParaRPr>
        </a:p>
      </dgm:t>
    </dgm:pt>
    <dgm:pt modelId="{89124381-D640-426D-B253-4D1A874C75B4}">
      <dgm:prSet phldrT="[Text]" custT="1"/>
      <dgm:spPr/>
      <dgm:t>
        <a:bodyPr/>
        <a:lstStyle/>
        <a:p>
          <a:pPr algn="ctr"/>
          <a:r>
            <a:rPr lang="de-DE" sz="1800" b="1" dirty="0">
              <a:latin typeface="+mn-lt"/>
              <a:cs typeface="Arial" panose="020B0604020202020204" pitchFamily="34" charset="0"/>
            </a:rPr>
            <a:t>OPPORTUNITIES/PROSPECTS:</a:t>
          </a:r>
        </a:p>
        <a:p>
          <a:pPr algn="ctr"/>
          <a:r>
            <a:rPr lang="de-DE" sz="1800" b="1" dirty="0">
              <a:latin typeface="+mn-lt"/>
              <a:cs typeface="Arial" panose="020B0604020202020204" pitchFamily="34" charset="0"/>
            </a:rPr>
            <a:t>?......................... </a:t>
          </a:r>
        </a:p>
        <a:p>
          <a:pPr algn="ctr"/>
          <a:endParaRPr lang="de-DE" sz="1800" b="0" dirty="0">
            <a:latin typeface="+mn-lt"/>
            <a:cs typeface="Arial" panose="020B0604020202020204" pitchFamily="34" charset="0"/>
          </a:endParaRPr>
        </a:p>
      </dgm:t>
    </dgm:pt>
    <dgm:pt modelId="{E7A18DAA-BC05-4839-9C1F-A64F22600D8C}" type="parTrans" cxnId="{2255E916-F98E-4667-9893-DF40C3CF220E}">
      <dgm:prSet/>
      <dgm:spPr/>
      <dgm:t>
        <a:bodyPr/>
        <a:lstStyle/>
        <a:p>
          <a:endParaRPr lang="de-DE" sz="2400">
            <a:latin typeface="+mn-lt"/>
          </a:endParaRPr>
        </a:p>
      </dgm:t>
    </dgm:pt>
    <dgm:pt modelId="{5B0535CC-E61B-420F-921D-62F4C85520B5}" type="sibTrans" cxnId="{2255E916-F98E-4667-9893-DF40C3CF220E}">
      <dgm:prSet/>
      <dgm:spPr/>
      <dgm:t>
        <a:bodyPr/>
        <a:lstStyle/>
        <a:p>
          <a:endParaRPr lang="de-DE" sz="2400">
            <a:latin typeface="+mn-lt"/>
          </a:endParaRPr>
        </a:p>
      </dgm:t>
    </dgm:pt>
    <dgm:pt modelId="{D4302C08-0B0E-4DFF-B831-670196B8A703}">
      <dgm:prSet phldrT="[Text]" custT="1"/>
      <dgm:spPr/>
      <dgm:t>
        <a:bodyPr/>
        <a:lstStyle/>
        <a:p>
          <a:pPr algn="ctr">
            <a:lnSpc>
              <a:spcPct val="100000"/>
            </a:lnSpc>
          </a:pPr>
          <a:r>
            <a:rPr lang="de-DE" sz="1800" b="1" dirty="0">
              <a:latin typeface="+mn-lt"/>
              <a:cs typeface="Arial" panose="020B0604020202020204" pitchFamily="34" charset="0"/>
            </a:rPr>
            <a:t>CUSTOMER:</a:t>
          </a:r>
        </a:p>
        <a:p>
          <a:pPr algn="ctr">
            <a:lnSpc>
              <a:spcPct val="100000"/>
            </a:lnSpc>
          </a:pPr>
          <a:r>
            <a:rPr lang="de-DE" sz="1800" b="1" dirty="0">
              <a:latin typeface="+mn-lt"/>
              <a:cs typeface="Arial" panose="020B0604020202020204" pitchFamily="34" charset="0"/>
            </a:rPr>
            <a:t>?........................</a:t>
          </a:r>
        </a:p>
        <a:p>
          <a:pPr algn="ctr">
            <a:lnSpc>
              <a:spcPct val="90000"/>
            </a:lnSpc>
          </a:pPr>
          <a:endParaRPr lang="de-DE" sz="1800" dirty="0">
            <a:latin typeface="+mn-lt"/>
            <a:cs typeface="Arial" panose="020B0604020202020204" pitchFamily="34" charset="0"/>
          </a:endParaRPr>
        </a:p>
      </dgm:t>
    </dgm:pt>
    <dgm:pt modelId="{34BF3499-FD55-441F-AF06-BBB55804704C}" type="parTrans" cxnId="{D13609CC-BF64-4283-B375-996ED0D6E430}">
      <dgm:prSet/>
      <dgm:spPr/>
      <dgm:t>
        <a:bodyPr/>
        <a:lstStyle/>
        <a:p>
          <a:endParaRPr lang="de-DE" sz="2400">
            <a:latin typeface="+mn-lt"/>
          </a:endParaRPr>
        </a:p>
      </dgm:t>
    </dgm:pt>
    <dgm:pt modelId="{95A280FD-9DD1-42AB-82EC-4058973521FC}" type="sibTrans" cxnId="{D13609CC-BF64-4283-B375-996ED0D6E430}">
      <dgm:prSet/>
      <dgm:spPr/>
      <dgm:t>
        <a:bodyPr/>
        <a:lstStyle/>
        <a:p>
          <a:endParaRPr lang="de-DE" sz="2400">
            <a:latin typeface="+mn-lt"/>
          </a:endParaRPr>
        </a:p>
      </dgm:t>
    </dgm:pt>
    <dgm:pt modelId="{11880C8A-DE3B-4D4A-BB2A-56AB99C538BE}">
      <dgm:prSet phldrT="[Text]" custT="1"/>
      <dgm:spPr/>
      <dgm:t>
        <a:bodyPr/>
        <a:lstStyle/>
        <a:p>
          <a:pPr algn="ctr"/>
          <a:r>
            <a:rPr lang="de-DE" sz="1800" b="1" dirty="0">
              <a:latin typeface="+mn-lt"/>
              <a:cs typeface="Arial" panose="020B0604020202020204" pitchFamily="34" charset="0"/>
            </a:rPr>
            <a:t>LEADS:</a:t>
          </a:r>
        </a:p>
        <a:p>
          <a:pPr algn="ctr"/>
          <a:r>
            <a:rPr lang="de-DE" sz="1800" b="1" dirty="0">
              <a:latin typeface="+mn-lt"/>
              <a:cs typeface="Arial" panose="020B0604020202020204" pitchFamily="34" charset="0"/>
            </a:rPr>
            <a:t>?.........................  </a:t>
          </a:r>
        </a:p>
        <a:p>
          <a:pPr algn="ctr"/>
          <a:endParaRPr lang="de-DE" sz="1800" b="0" dirty="0">
            <a:latin typeface="+mn-lt"/>
            <a:cs typeface="Arial" panose="020B0604020202020204" pitchFamily="34" charset="0"/>
          </a:endParaRPr>
        </a:p>
      </dgm:t>
    </dgm:pt>
    <dgm:pt modelId="{ED62723E-6919-451D-A1CC-9607B26064A4}" type="parTrans" cxnId="{1E291445-3153-461C-AB66-06E1B7809C99}">
      <dgm:prSet/>
      <dgm:spPr/>
      <dgm:t>
        <a:bodyPr/>
        <a:lstStyle/>
        <a:p>
          <a:endParaRPr lang="de-DE" sz="2400">
            <a:latin typeface="+mn-lt"/>
          </a:endParaRPr>
        </a:p>
      </dgm:t>
    </dgm:pt>
    <dgm:pt modelId="{31871C92-E695-4083-AA22-764C465EC697}" type="sibTrans" cxnId="{1E291445-3153-461C-AB66-06E1B7809C99}">
      <dgm:prSet/>
      <dgm:spPr/>
      <dgm:t>
        <a:bodyPr/>
        <a:lstStyle/>
        <a:p>
          <a:endParaRPr lang="de-DE" sz="2400">
            <a:latin typeface="+mn-lt"/>
          </a:endParaRPr>
        </a:p>
      </dgm:t>
    </dgm:pt>
    <dgm:pt modelId="{D8783527-D5E7-4F04-B0F3-E1AEFA6F2585}" type="pres">
      <dgm:prSet presAssocID="{68C08995-0A06-4692-A667-D87FC34CAEDF}" presName="Name0" presStyleCnt="0">
        <dgm:presLayoutVars>
          <dgm:dir/>
          <dgm:animLvl val="lvl"/>
          <dgm:resizeHandles val="exact"/>
        </dgm:presLayoutVars>
      </dgm:prSet>
      <dgm:spPr/>
    </dgm:pt>
    <dgm:pt modelId="{0AC996AF-C876-4ABA-893C-DD32AC8BC5F9}" type="pres">
      <dgm:prSet presAssocID="{1B77F4E2-4054-44C5-8439-BAAC1D809E85}" presName="Name8" presStyleCnt="0"/>
      <dgm:spPr/>
    </dgm:pt>
    <dgm:pt modelId="{7C2B6F5A-5F5A-42A7-BB03-8526EC8ECB0E}" type="pres">
      <dgm:prSet presAssocID="{1B77F4E2-4054-44C5-8439-BAAC1D809E85}" presName="level" presStyleLbl="node1" presStyleIdx="0" presStyleCnt="4" custLinFactNeighborX="-63949" custLinFactNeighborY="3106">
        <dgm:presLayoutVars>
          <dgm:chMax val="1"/>
          <dgm:bulletEnabled val="1"/>
        </dgm:presLayoutVars>
      </dgm:prSet>
      <dgm:spPr/>
    </dgm:pt>
    <dgm:pt modelId="{60E5429C-6DFB-41DC-A7D6-2B3DF2243655}" type="pres">
      <dgm:prSet presAssocID="{1B77F4E2-4054-44C5-8439-BAAC1D809E85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FBD61D2-733F-48B8-B975-93303805372D}" type="pres">
      <dgm:prSet presAssocID="{11880C8A-DE3B-4D4A-BB2A-56AB99C538BE}" presName="Name8" presStyleCnt="0"/>
      <dgm:spPr/>
    </dgm:pt>
    <dgm:pt modelId="{E7BA9A3F-62F1-4C8A-9110-30A46B9CC3D7}" type="pres">
      <dgm:prSet presAssocID="{11880C8A-DE3B-4D4A-BB2A-56AB99C538BE}" presName="level" presStyleLbl="node1" presStyleIdx="1" presStyleCnt="4">
        <dgm:presLayoutVars>
          <dgm:chMax val="1"/>
          <dgm:bulletEnabled val="1"/>
        </dgm:presLayoutVars>
      </dgm:prSet>
      <dgm:spPr/>
    </dgm:pt>
    <dgm:pt modelId="{C3CAF407-6D4B-4D01-83B9-AA702E086A23}" type="pres">
      <dgm:prSet presAssocID="{11880C8A-DE3B-4D4A-BB2A-56AB99C538BE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92629B2F-F5EF-490D-9F78-E72B81C8853D}" type="pres">
      <dgm:prSet presAssocID="{89124381-D640-426D-B253-4D1A874C75B4}" presName="Name8" presStyleCnt="0"/>
      <dgm:spPr/>
    </dgm:pt>
    <dgm:pt modelId="{DE969564-BBE0-4263-AB30-F2604A7E43AA}" type="pres">
      <dgm:prSet presAssocID="{89124381-D640-426D-B253-4D1A874C75B4}" presName="level" presStyleLbl="node1" presStyleIdx="2" presStyleCnt="4" custScaleY="162146" custLinFactNeighborX="-160" custLinFactNeighborY="-888">
        <dgm:presLayoutVars>
          <dgm:chMax val="1"/>
          <dgm:bulletEnabled val="1"/>
        </dgm:presLayoutVars>
      </dgm:prSet>
      <dgm:spPr/>
    </dgm:pt>
    <dgm:pt modelId="{F194EA57-6578-4F08-8E05-068A297086B1}" type="pres">
      <dgm:prSet presAssocID="{89124381-D640-426D-B253-4D1A874C75B4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B8D457D-B452-4DE6-AF3A-0A701F05EF3B}" type="pres">
      <dgm:prSet presAssocID="{D4302C08-0B0E-4DFF-B831-670196B8A703}" presName="Name8" presStyleCnt="0"/>
      <dgm:spPr/>
    </dgm:pt>
    <dgm:pt modelId="{39C83C79-88BF-48E6-B687-122D3FA17668}" type="pres">
      <dgm:prSet presAssocID="{D4302C08-0B0E-4DFF-B831-670196B8A703}" presName="level" presStyleLbl="node1" presStyleIdx="3" presStyleCnt="4" custScaleY="187455">
        <dgm:presLayoutVars>
          <dgm:chMax val="1"/>
          <dgm:bulletEnabled val="1"/>
        </dgm:presLayoutVars>
      </dgm:prSet>
      <dgm:spPr/>
    </dgm:pt>
    <dgm:pt modelId="{0F60B76B-398B-45B6-9BE6-BDA64C0F093D}" type="pres">
      <dgm:prSet presAssocID="{D4302C08-0B0E-4DFF-B831-670196B8A703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2255E916-F98E-4667-9893-DF40C3CF220E}" srcId="{68C08995-0A06-4692-A667-D87FC34CAEDF}" destId="{89124381-D640-426D-B253-4D1A874C75B4}" srcOrd="2" destOrd="0" parTransId="{E7A18DAA-BC05-4839-9C1F-A64F22600D8C}" sibTransId="{5B0535CC-E61B-420F-921D-62F4C85520B5}"/>
    <dgm:cxn modelId="{FB068A27-C73D-426C-B909-21EE7B5CF7A7}" type="presOf" srcId="{11880C8A-DE3B-4D4A-BB2A-56AB99C538BE}" destId="{E7BA9A3F-62F1-4C8A-9110-30A46B9CC3D7}" srcOrd="0" destOrd="0" presId="urn:microsoft.com/office/officeart/2005/8/layout/pyramid3"/>
    <dgm:cxn modelId="{B0AD6F2A-F44F-4060-980B-CDF683E1CA3D}" type="presOf" srcId="{89124381-D640-426D-B253-4D1A874C75B4}" destId="{DE969564-BBE0-4263-AB30-F2604A7E43AA}" srcOrd="0" destOrd="0" presId="urn:microsoft.com/office/officeart/2005/8/layout/pyramid3"/>
    <dgm:cxn modelId="{1E291445-3153-461C-AB66-06E1B7809C99}" srcId="{68C08995-0A06-4692-A667-D87FC34CAEDF}" destId="{11880C8A-DE3B-4D4A-BB2A-56AB99C538BE}" srcOrd="1" destOrd="0" parTransId="{ED62723E-6919-451D-A1CC-9607B26064A4}" sibTransId="{31871C92-E695-4083-AA22-764C465EC697}"/>
    <dgm:cxn modelId="{F5899E6E-2F90-4AA0-827B-1B3760BC3862}" type="presOf" srcId="{1B77F4E2-4054-44C5-8439-BAAC1D809E85}" destId="{60E5429C-6DFB-41DC-A7D6-2B3DF2243655}" srcOrd="1" destOrd="0" presId="urn:microsoft.com/office/officeart/2005/8/layout/pyramid3"/>
    <dgm:cxn modelId="{9DFECC7B-8CDF-4D81-AC07-68883058EAD9}" type="presOf" srcId="{68C08995-0A06-4692-A667-D87FC34CAEDF}" destId="{D8783527-D5E7-4F04-B0F3-E1AEFA6F2585}" srcOrd="0" destOrd="0" presId="urn:microsoft.com/office/officeart/2005/8/layout/pyramid3"/>
    <dgm:cxn modelId="{DAE22E93-D9C4-4B38-81D5-DFFE62C2E18C}" type="presOf" srcId="{D4302C08-0B0E-4DFF-B831-670196B8A703}" destId="{39C83C79-88BF-48E6-B687-122D3FA17668}" srcOrd="0" destOrd="0" presId="urn:microsoft.com/office/officeart/2005/8/layout/pyramid3"/>
    <dgm:cxn modelId="{02C7119D-032D-4915-90AC-3F14C2A5B356}" type="presOf" srcId="{1B77F4E2-4054-44C5-8439-BAAC1D809E85}" destId="{7C2B6F5A-5F5A-42A7-BB03-8526EC8ECB0E}" srcOrd="0" destOrd="0" presId="urn:microsoft.com/office/officeart/2005/8/layout/pyramid3"/>
    <dgm:cxn modelId="{6F3E3BAA-A41F-4CF8-95A7-176182F567D4}" type="presOf" srcId="{11880C8A-DE3B-4D4A-BB2A-56AB99C538BE}" destId="{C3CAF407-6D4B-4D01-83B9-AA702E086A23}" srcOrd="1" destOrd="0" presId="urn:microsoft.com/office/officeart/2005/8/layout/pyramid3"/>
    <dgm:cxn modelId="{D13609CC-BF64-4283-B375-996ED0D6E430}" srcId="{68C08995-0A06-4692-A667-D87FC34CAEDF}" destId="{D4302C08-0B0E-4DFF-B831-670196B8A703}" srcOrd="3" destOrd="0" parTransId="{34BF3499-FD55-441F-AF06-BBB55804704C}" sibTransId="{95A280FD-9DD1-42AB-82EC-4058973521FC}"/>
    <dgm:cxn modelId="{ADB3AAD4-60D1-4030-9F25-F227AFE97F28}" type="presOf" srcId="{89124381-D640-426D-B253-4D1A874C75B4}" destId="{F194EA57-6578-4F08-8E05-068A297086B1}" srcOrd="1" destOrd="0" presId="urn:microsoft.com/office/officeart/2005/8/layout/pyramid3"/>
    <dgm:cxn modelId="{672917F4-108C-4715-AC77-6813C9C6F919}" type="presOf" srcId="{D4302C08-0B0E-4DFF-B831-670196B8A703}" destId="{0F60B76B-398B-45B6-9BE6-BDA64C0F093D}" srcOrd="1" destOrd="0" presId="urn:microsoft.com/office/officeart/2005/8/layout/pyramid3"/>
    <dgm:cxn modelId="{6F7BCFFC-5685-445A-8A80-F7B3A816B052}" srcId="{68C08995-0A06-4692-A667-D87FC34CAEDF}" destId="{1B77F4E2-4054-44C5-8439-BAAC1D809E85}" srcOrd="0" destOrd="0" parTransId="{C067D827-58D6-4BB7-B862-87652879F687}" sibTransId="{DCC0FA10-27F4-428E-A55C-7BFE43B8D6A1}"/>
    <dgm:cxn modelId="{4DF867D3-58E8-48C4-B353-DC657B98F84D}" type="presParOf" srcId="{D8783527-D5E7-4F04-B0F3-E1AEFA6F2585}" destId="{0AC996AF-C876-4ABA-893C-DD32AC8BC5F9}" srcOrd="0" destOrd="0" presId="urn:microsoft.com/office/officeart/2005/8/layout/pyramid3"/>
    <dgm:cxn modelId="{0852F556-4A7D-4088-A07A-C4C60F3F7788}" type="presParOf" srcId="{0AC996AF-C876-4ABA-893C-DD32AC8BC5F9}" destId="{7C2B6F5A-5F5A-42A7-BB03-8526EC8ECB0E}" srcOrd="0" destOrd="0" presId="urn:microsoft.com/office/officeart/2005/8/layout/pyramid3"/>
    <dgm:cxn modelId="{BE922CA5-B741-4C84-B6E2-0CAAECB81DFF}" type="presParOf" srcId="{0AC996AF-C876-4ABA-893C-DD32AC8BC5F9}" destId="{60E5429C-6DFB-41DC-A7D6-2B3DF2243655}" srcOrd="1" destOrd="0" presId="urn:microsoft.com/office/officeart/2005/8/layout/pyramid3"/>
    <dgm:cxn modelId="{992BD697-504C-48F6-8AE1-D2669CA2651A}" type="presParOf" srcId="{D8783527-D5E7-4F04-B0F3-E1AEFA6F2585}" destId="{CFBD61D2-733F-48B8-B975-93303805372D}" srcOrd="1" destOrd="0" presId="urn:microsoft.com/office/officeart/2005/8/layout/pyramid3"/>
    <dgm:cxn modelId="{AE26BE6D-D49B-401B-95F6-62A0E2665F53}" type="presParOf" srcId="{CFBD61D2-733F-48B8-B975-93303805372D}" destId="{E7BA9A3F-62F1-4C8A-9110-30A46B9CC3D7}" srcOrd="0" destOrd="0" presId="urn:microsoft.com/office/officeart/2005/8/layout/pyramid3"/>
    <dgm:cxn modelId="{74D28A59-95D9-4277-9402-C5A3C5136411}" type="presParOf" srcId="{CFBD61D2-733F-48B8-B975-93303805372D}" destId="{C3CAF407-6D4B-4D01-83B9-AA702E086A23}" srcOrd="1" destOrd="0" presId="urn:microsoft.com/office/officeart/2005/8/layout/pyramid3"/>
    <dgm:cxn modelId="{7FC217DD-BB12-4BE0-B6B1-521DB92EE227}" type="presParOf" srcId="{D8783527-D5E7-4F04-B0F3-E1AEFA6F2585}" destId="{92629B2F-F5EF-490D-9F78-E72B81C8853D}" srcOrd="2" destOrd="0" presId="urn:microsoft.com/office/officeart/2005/8/layout/pyramid3"/>
    <dgm:cxn modelId="{996503F5-21B6-4FE7-AD97-C0329ABDA858}" type="presParOf" srcId="{92629B2F-F5EF-490D-9F78-E72B81C8853D}" destId="{DE969564-BBE0-4263-AB30-F2604A7E43AA}" srcOrd="0" destOrd="0" presId="urn:microsoft.com/office/officeart/2005/8/layout/pyramid3"/>
    <dgm:cxn modelId="{98BE7484-BE0B-4F65-817F-99D3636C6DCC}" type="presParOf" srcId="{92629B2F-F5EF-490D-9F78-E72B81C8853D}" destId="{F194EA57-6578-4F08-8E05-068A297086B1}" srcOrd="1" destOrd="0" presId="urn:microsoft.com/office/officeart/2005/8/layout/pyramid3"/>
    <dgm:cxn modelId="{96CD9B90-34A0-4E4F-85D5-154710E7B49E}" type="presParOf" srcId="{D8783527-D5E7-4F04-B0F3-E1AEFA6F2585}" destId="{FB8D457D-B452-4DE6-AF3A-0A701F05EF3B}" srcOrd="3" destOrd="0" presId="urn:microsoft.com/office/officeart/2005/8/layout/pyramid3"/>
    <dgm:cxn modelId="{E2AB3B7E-D2BF-480B-B9DB-88A6378C4843}" type="presParOf" srcId="{FB8D457D-B452-4DE6-AF3A-0A701F05EF3B}" destId="{39C83C79-88BF-48E6-B687-122D3FA17668}" srcOrd="0" destOrd="0" presId="urn:microsoft.com/office/officeart/2005/8/layout/pyramid3"/>
    <dgm:cxn modelId="{C5B9DD16-29B9-47A0-B43A-739FAF9C1910}" type="presParOf" srcId="{FB8D457D-B452-4DE6-AF3A-0A701F05EF3B}" destId="{0F60B76B-398B-45B6-9BE6-BDA64C0F093D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E2AAFC-BEAE-481D-B557-81DE68A237F7}">
      <dsp:nvSpPr>
        <dsp:cNvPr id="0" name=""/>
        <dsp:cNvSpPr/>
      </dsp:nvSpPr>
      <dsp:spPr>
        <a:xfrm>
          <a:off x="626908" y="0"/>
          <a:ext cx="5481650" cy="548165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latin typeface="Calibri" panose="020F0502020204030204"/>
              <a:ea typeface="+mn-ea"/>
              <a:cs typeface="+mn-cs"/>
            </a:rPr>
            <a:t>TAM</a:t>
          </a:r>
        </a:p>
      </dsp:txBody>
      <dsp:txXfrm>
        <a:off x="2409815" y="274082"/>
        <a:ext cx="1915836" cy="822247"/>
      </dsp:txXfrm>
    </dsp:sp>
    <dsp:sp modelId="{5783AC22-EAAA-4B02-9505-F9F67BC8F71A}">
      <dsp:nvSpPr>
        <dsp:cNvPr id="0" name=""/>
        <dsp:cNvSpPr/>
      </dsp:nvSpPr>
      <dsp:spPr>
        <a:xfrm>
          <a:off x="1312115" y="1370412"/>
          <a:ext cx="4111237" cy="41112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latin typeface="Calibri" panose="020F0502020204030204"/>
              <a:ea typeface="+mn-ea"/>
              <a:cs typeface="+mn-cs"/>
            </a:rPr>
            <a:t>SAM</a:t>
          </a:r>
        </a:p>
      </dsp:txBody>
      <dsp:txXfrm>
        <a:off x="2409815" y="1627364"/>
        <a:ext cx="1915836" cy="770857"/>
      </dsp:txXfrm>
    </dsp:sp>
    <dsp:sp modelId="{0927306A-DE0F-4C43-94ED-305F00916AD7}">
      <dsp:nvSpPr>
        <dsp:cNvPr id="0" name=""/>
        <dsp:cNvSpPr/>
      </dsp:nvSpPr>
      <dsp:spPr>
        <a:xfrm>
          <a:off x="1997321" y="2740825"/>
          <a:ext cx="2740825" cy="274082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latin typeface="Calibri" panose="020F0502020204030204"/>
              <a:ea typeface="+mn-ea"/>
              <a:cs typeface="+mn-cs"/>
            </a:rPr>
            <a:t>SOM</a:t>
          </a:r>
        </a:p>
      </dsp:txBody>
      <dsp:txXfrm>
        <a:off x="2398706" y="3426031"/>
        <a:ext cx="1938055" cy="13704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2B6F5A-5F5A-42A7-BB03-8526EC8ECB0E}">
      <dsp:nvSpPr>
        <dsp:cNvPr id="0" name=""/>
        <dsp:cNvSpPr/>
      </dsp:nvSpPr>
      <dsp:spPr>
        <a:xfrm rot="10800000">
          <a:off x="0" y="34179"/>
          <a:ext cx="5665027" cy="1100423"/>
        </a:xfrm>
        <a:prstGeom prst="trapezoid">
          <a:avLst>
            <a:gd name="adj" fmla="val 46834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b="1" kern="1200" dirty="0">
              <a:latin typeface="+mn-lt"/>
              <a:cs typeface="Arial" panose="020B0604020202020204" pitchFamily="34" charset="0"/>
            </a:rPr>
            <a:t>TARGET MARKET: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b="1" kern="1200" dirty="0">
              <a:latin typeface="+mn-lt"/>
              <a:cs typeface="Arial" panose="020B0604020202020204" pitchFamily="34" charset="0"/>
            </a:rPr>
            <a:t>?.........................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>
              <a:latin typeface="+mn-lt"/>
              <a:cs typeface="Arial" panose="020B0604020202020204" pitchFamily="34" charset="0"/>
            </a:rPr>
            <a:t> </a:t>
          </a:r>
        </a:p>
      </dsp:txBody>
      <dsp:txXfrm rot="-10800000">
        <a:off x="991379" y="34179"/>
        <a:ext cx="3682268" cy="1100423"/>
      </dsp:txXfrm>
    </dsp:sp>
    <dsp:sp modelId="{E7BA9A3F-62F1-4C8A-9110-30A46B9CC3D7}">
      <dsp:nvSpPr>
        <dsp:cNvPr id="0" name=""/>
        <dsp:cNvSpPr/>
      </dsp:nvSpPr>
      <dsp:spPr>
        <a:xfrm rot="10800000">
          <a:off x="515376" y="1100423"/>
          <a:ext cx="4634275" cy="1100423"/>
        </a:xfrm>
        <a:prstGeom prst="trapezoid">
          <a:avLst>
            <a:gd name="adj" fmla="val 46834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b="1" kern="1200" dirty="0">
              <a:latin typeface="+mn-lt"/>
              <a:cs typeface="Arial" panose="020B0604020202020204" pitchFamily="34" charset="0"/>
            </a:rPr>
            <a:t>LEADS: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b="1" kern="1200" dirty="0">
              <a:latin typeface="+mn-lt"/>
              <a:cs typeface="Arial" panose="020B0604020202020204" pitchFamily="34" charset="0"/>
            </a:rPr>
            <a:t>?......................... 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800" b="0" kern="1200" dirty="0">
            <a:latin typeface="+mn-lt"/>
            <a:cs typeface="Arial" panose="020B0604020202020204" pitchFamily="34" charset="0"/>
          </a:endParaRPr>
        </a:p>
      </dsp:txBody>
      <dsp:txXfrm rot="-10800000">
        <a:off x="1326374" y="1100423"/>
        <a:ext cx="3012278" cy="1100423"/>
      </dsp:txXfrm>
    </dsp:sp>
    <dsp:sp modelId="{DE969564-BBE0-4263-AB30-F2604A7E43AA}">
      <dsp:nvSpPr>
        <dsp:cNvPr id="0" name=""/>
        <dsp:cNvSpPr/>
      </dsp:nvSpPr>
      <dsp:spPr>
        <a:xfrm rot="10800000">
          <a:off x="1024987" y="2191075"/>
          <a:ext cx="3603522" cy="1784292"/>
        </a:xfrm>
        <a:prstGeom prst="trapezoid">
          <a:avLst>
            <a:gd name="adj" fmla="val 46834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b="1" kern="1200" dirty="0">
              <a:latin typeface="+mn-lt"/>
              <a:cs typeface="Arial" panose="020B0604020202020204" pitchFamily="34" charset="0"/>
            </a:rPr>
            <a:t>OPPORTUNITIES/PROSPECTS: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b="1" kern="1200" dirty="0">
              <a:latin typeface="+mn-lt"/>
              <a:cs typeface="Arial" panose="020B0604020202020204" pitchFamily="34" charset="0"/>
            </a:rPr>
            <a:t>?.........................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800" b="0" kern="1200" dirty="0">
            <a:latin typeface="+mn-lt"/>
            <a:cs typeface="Arial" panose="020B0604020202020204" pitchFamily="34" charset="0"/>
          </a:endParaRPr>
        </a:p>
      </dsp:txBody>
      <dsp:txXfrm rot="-10800000">
        <a:off x="1655603" y="2191075"/>
        <a:ext cx="2342289" cy="1784292"/>
      </dsp:txXfrm>
    </dsp:sp>
    <dsp:sp modelId="{39C83C79-88BF-48E6-B687-122D3FA17668}">
      <dsp:nvSpPr>
        <dsp:cNvPr id="0" name=""/>
        <dsp:cNvSpPr/>
      </dsp:nvSpPr>
      <dsp:spPr>
        <a:xfrm rot="10800000">
          <a:off x="1866415" y="3985139"/>
          <a:ext cx="1932197" cy="2062799"/>
        </a:xfrm>
        <a:prstGeom prst="trapezoid">
          <a:avLst>
            <a:gd name="adj" fmla="val 5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b="1" kern="1200" dirty="0">
              <a:latin typeface="+mn-lt"/>
              <a:cs typeface="Arial" panose="020B0604020202020204" pitchFamily="34" charset="0"/>
            </a:rPr>
            <a:t>CUSTOMER: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b="1" kern="1200" dirty="0">
              <a:latin typeface="+mn-lt"/>
              <a:cs typeface="Arial" panose="020B0604020202020204" pitchFamily="34" charset="0"/>
            </a:rPr>
            <a:t>?........................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800" kern="1200" dirty="0">
            <a:latin typeface="+mn-lt"/>
            <a:cs typeface="Arial" panose="020B0604020202020204" pitchFamily="34" charset="0"/>
          </a:endParaRPr>
        </a:p>
      </dsp:txBody>
      <dsp:txXfrm rot="-10800000">
        <a:off x="1866415" y="3985139"/>
        <a:ext cx="1932197" cy="20627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FBF9E8-1F40-410A-A1CC-60BC60DB98B3}" type="datetimeFigureOut">
              <a:rPr lang="en-IN" smtClean="0"/>
              <a:pPr/>
              <a:t>22-11-2024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0FE411-3744-4059-A83F-482351BF9D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2907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93" algn="l" defTabSz="9143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86" algn="l" defTabSz="9143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78" algn="l" defTabSz="9143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71" algn="l" defTabSz="9143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64" algn="l" defTabSz="9143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57" algn="l" defTabSz="9143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48" algn="l" defTabSz="9143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42" algn="l" defTabSz="9143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46"/>
            <a:ext cx="15544800" cy="22050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163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7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1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1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3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7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1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8"/>
            <a:ext cx="15544800" cy="2043113"/>
          </a:xfrm>
        </p:spPr>
        <p:txBody>
          <a:bodyPr anchor="t"/>
          <a:lstStyle>
            <a:lvl1pPr algn="l">
              <a:defRPr sz="71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8"/>
            <a:ext cx="15544800" cy="2250281"/>
          </a:xfrm>
        </p:spPr>
        <p:txBody>
          <a:bodyPr anchor="b"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816388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32782" indent="0">
              <a:buNone/>
              <a:defRPr sz="2900">
                <a:solidFill>
                  <a:schemeClr val="tx1">
                    <a:tint val="75000"/>
                  </a:schemeClr>
                </a:solidFill>
              </a:defRPr>
            </a:lvl3pPr>
            <a:lvl4pPr marL="2449168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4pPr>
            <a:lvl5pPr marL="326556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5pPr>
            <a:lvl6pPr marL="4081949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6pPr>
            <a:lvl7pPr marL="4898336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7pPr>
            <a:lvl8pPr marL="5714724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8pPr>
            <a:lvl9pPr marL="6531117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8"/>
            <a:ext cx="8077200" cy="6788945"/>
          </a:xfrm>
        </p:spPr>
        <p:txBody>
          <a:bodyPr/>
          <a:lstStyle>
            <a:lvl1pPr>
              <a:defRPr sz="5000"/>
            </a:lvl1pPr>
            <a:lvl2pPr>
              <a:defRPr sz="43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8"/>
            <a:ext cx="8077200" cy="6788945"/>
          </a:xfrm>
        </p:spPr>
        <p:txBody>
          <a:bodyPr/>
          <a:lstStyle>
            <a:lvl1pPr>
              <a:defRPr sz="5000"/>
            </a:lvl1pPr>
            <a:lvl2pPr>
              <a:defRPr sz="43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1"/>
            <a:ext cx="8080376" cy="959643"/>
          </a:xfrm>
        </p:spPr>
        <p:txBody>
          <a:bodyPr anchor="b"/>
          <a:lstStyle>
            <a:lvl1pPr marL="0" indent="0">
              <a:buNone/>
              <a:defRPr sz="4300" b="1"/>
            </a:lvl1pPr>
            <a:lvl2pPr marL="816388" indent="0">
              <a:buNone/>
              <a:defRPr sz="3600" b="1"/>
            </a:lvl2pPr>
            <a:lvl3pPr marL="1632782" indent="0">
              <a:buNone/>
              <a:defRPr sz="3200" b="1"/>
            </a:lvl3pPr>
            <a:lvl4pPr marL="2449168" indent="0">
              <a:buNone/>
              <a:defRPr sz="2900" b="1"/>
            </a:lvl4pPr>
            <a:lvl5pPr marL="3265560" indent="0">
              <a:buNone/>
              <a:defRPr sz="2900" b="1"/>
            </a:lvl5pPr>
            <a:lvl6pPr marL="4081949" indent="0">
              <a:buNone/>
              <a:defRPr sz="2900" b="1"/>
            </a:lvl6pPr>
            <a:lvl7pPr marL="4898336" indent="0">
              <a:buNone/>
              <a:defRPr sz="2900" b="1"/>
            </a:lvl7pPr>
            <a:lvl8pPr marL="5714724" indent="0">
              <a:buNone/>
              <a:defRPr sz="2900" b="1"/>
            </a:lvl8pPr>
            <a:lvl9pPr marL="6531117" indent="0">
              <a:buNone/>
              <a:defRPr sz="2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3"/>
            <a:ext cx="8080376" cy="5926932"/>
          </a:xfrm>
        </p:spPr>
        <p:txBody>
          <a:bodyPr/>
          <a:lstStyle>
            <a:lvl1pPr>
              <a:defRPr sz="4300"/>
            </a:lvl1pPr>
            <a:lvl2pPr>
              <a:defRPr sz="3600"/>
            </a:lvl2pPr>
            <a:lvl3pPr>
              <a:defRPr sz="32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61" y="2302671"/>
            <a:ext cx="8083550" cy="959643"/>
          </a:xfrm>
        </p:spPr>
        <p:txBody>
          <a:bodyPr anchor="b"/>
          <a:lstStyle>
            <a:lvl1pPr marL="0" indent="0">
              <a:buNone/>
              <a:defRPr sz="4300" b="1"/>
            </a:lvl1pPr>
            <a:lvl2pPr marL="816388" indent="0">
              <a:buNone/>
              <a:defRPr sz="3600" b="1"/>
            </a:lvl2pPr>
            <a:lvl3pPr marL="1632782" indent="0">
              <a:buNone/>
              <a:defRPr sz="3200" b="1"/>
            </a:lvl3pPr>
            <a:lvl4pPr marL="2449168" indent="0">
              <a:buNone/>
              <a:defRPr sz="2900" b="1"/>
            </a:lvl4pPr>
            <a:lvl5pPr marL="3265560" indent="0">
              <a:buNone/>
              <a:defRPr sz="2900" b="1"/>
            </a:lvl5pPr>
            <a:lvl6pPr marL="4081949" indent="0">
              <a:buNone/>
              <a:defRPr sz="2900" b="1"/>
            </a:lvl6pPr>
            <a:lvl7pPr marL="4898336" indent="0">
              <a:buNone/>
              <a:defRPr sz="2900" b="1"/>
            </a:lvl7pPr>
            <a:lvl8pPr marL="5714724" indent="0">
              <a:buNone/>
              <a:defRPr sz="2900" b="1"/>
            </a:lvl8pPr>
            <a:lvl9pPr marL="6531117" indent="0">
              <a:buNone/>
              <a:defRPr sz="2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61" y="3262313"/>
            <a:ext cx="8083550" cy="5926932"/>
          </a:xfrm>
        </p:spPr>
        <p:txBody>
          <a:bodyPr/>
          <a:lstStyle>
            <a:lvl1pPr>
              <a:defRPr sz="4300"/>
            </a:lvl1pPr>
            <a:lvl2pPr>
              <a:defRPr sz="3600"/>
            </a:lvl2pPr>
            <a:lvl3pPr>
              <a:defRPr sz="32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11" y="409575"/>
            <a:ext cx="6016626" cy="1743075"/>
          </a:xfrm>
        </p:spPr>
        <p:txBody>
          <a:bodyPr anchor="b"/>
          <a:lstStyle>
            <a:lvl1pPr algn="l">
              <a:defRPr sz="3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83"/>
            <a:ext cx="10223500" cy="8779670"/>
          </a:xfrm>
        </p:spPr>
        <p:txBody>
          <a:bodyPr/>
          <a:lstStyle>
            <a:lvl1pPr>
              <a:defRPr sz="5700"/>
            </a:lvl1pPr>
            <a:lvl2pPr>
              <a:defRPr sz="5000"/>
            </a:lvl2pPr>
            <a:lvl3pPr>
              <a:defRPr sz="43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11" y="2152656"/>
            <a:ext cx="6016626" cy="7036595"/>
          </a:xfrm>
        </p:spPr>
        <p:txBody>
          <a:bodyPr/>
          <a:lstStyle>
            <a:lvl1pPr marL="0" indent="0">
              <a:buNone/>
              <a:defRPr sz="2500"/>
            </a:lvl1pPr>
            <a:lvl2pPr marL="816388" indent="0">
              <a:buNone/>
              <a:defRPr sz="2100"/>
            </a:lvl2pPr>
            <a:lvl3pPr marL="1632782" indent="0">
              <a:buNone/>
              <a:defRPr sz="1800"/>
            </a:lvl3pPr>
            <a:lvl4pPr marL="2449168" indent="0">
              <a:buNone/>
              <a:defRPr sz="1600"/>
            </a:lvl4pPr>
            <a:lvl5pPr marL="3265560" indent="0">
              <a:buNone/>
              <a:defRPr sz="1600"/>
            </a:lvl5pPr>
            <a:lvl6pPr marL="4081949" indent="0">
              <a:buNone/>
              <a:defRPr sz="1600"/>
            </a:lvl6pPr>
            <a:lvl7pPr marL="4898336" indent="0">
              <a:buNone/>
              <a:defRPr sz="1600"/>
            </a:lvl7pPr>
            <a:lvl8pPr marL="5714724" indent="0">
              <a:buNone/>
              <a:defRPr sz="1600"/>
            </a:lvl8pPr>
            <a:lvl9pPr marL="6531117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</p:spPr>
        <p:txBody>
          <a:bodyPr anchor="b"/>
          <a:lstStyle>
            <a:lvl1pPr algn="l">
              <a:defRPr sz="3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3"/>
            <a:ext cx="10972800" cy="6172200"/>
          </a:xfrm>
        </p:spPr>
        <p:txBody>
          <a:bodyPr/>
          <a:lstStyle>
            <a:lvl1pPr marL="0" indent="0">
              <a:buNone/>
              <a:defRPr sz="5700"/>
            </a:lvl1pPr>
            <a:lvl2pPr marL="816388" indent="0">
              <a:buNone/>
              <a:defRPr sz="5000"/>
            </a:lvl2pPr>
            <a:lvl3pPr marL="1632782" indent="0">
              <a:buNone/>
              <a:defRPr sz="4300"/>
            </a:lvl3pPr>
            <a:lvl4pPr marL="2449168" indent="0">
              <a:buNone/>
              <a:defRPr sz="3600"/>
            </a:lvl4pPr>
            <a:lvl5pPr marL="3265560" indent="0">
              <a:buNone/>
              <a:defRPr sz="3600"/>
            </a:lvl5pPr>
            <a:lvl6pPr marL="4081949" indent="0">
              <a:buNone/>
              <a:defRPr sz="3600"/>
            </a:lvl6pPr>
            <a:lvl7pPr marL="4898336" indent="0">
              <a:buNone/>
              <a:defRPr sz="3600"/>
            </a:lvl7pPr>
            <a:lvl8pPr marL="5714724" indent="0">
              <a:buNone/>
              <a:defRPr sz="3600"/>
            </a:lvl8pPr>
            <a:lvl9pPr marL="6531117" indent="0">
              <a:buNone/>
              <a:defRPr sz="3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3"/>
          </a:xfrm>
        </p:spPr>
        <p:txBody>
          <a:bodyPr/>
          <a:lstStyle>
            <a:lvl1pPr marL="0" indent="0">
              <a:buNone/>
              <a:defRPr sz="2500"/>
            </a:lvl1pPr>
            <a:lvl2pPr marL="816388" indent="0">
              <a:buNone/>
              <a:defRPr sz="2100"/>
            </a:lvl2pPr>
            <a:lvl3pPr marL="1632782" indent="0">
              <a:buNone/>
              <a:defRPr sz="1800"/>
            </a:lvl3pPr>
            <a:lvl4pPr marL="2449168" indent="0">
              <a:buNone/>
              <a:defRPr sz="1600"/>
            </a:lvl4pPr>
            <a:lvl5pPr marL="3265560" indent="0">
              <a:buNone/>
              <a:defRPr sz="1600"/>
            </a:lvl5pPr>
            <a:lvl6pPr marL="4081949" indent="0">
              <a:buNone/>
              <a:defRPr sz="1600"/>
            </a:lvl6pPr>
            <a:lvl7pPr marL="4898336" indent="0">
              <a:buNone/>
              <a:defRPr sz="1600"/>
            </a:lvl7pPr>
            <a:lvl8pPr marL="5714724" indent="0">
              <a:buNone/>
              <a:defRPr sz="1600"/>
            </a:lvl8pPr>
            <a:lvl9pPr marL="6531117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65"/>
            <a:ext cx="4114800" cy="87772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65"/>
            <a:ext cx="12039600" cy="87772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 vert="horz" lIns="163275" tIns="81642" rIns="163275" bIns="81642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8"/>
            <a:ext cx="16459200" cy="6788945"/>
          </a:xfrm>
          <a:prstGeom prst="rect">
            <a:avLst/>
          </a:prstGeom>
        </p:spPr>
        <p:txBody>
          <a:bodyPr vert="horz" lIns="163275" tIns="81642" rIns="163275" bIns="8164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9534533"/>
            <a:ext cx="4267200" cy="547688"/>
          </a:xfrm>
          <a:prstGeom prst="rect">
            <a:avLst/>
          </a:prstGeom>
        </p:spPr>
        <p:txBody>
          <a:bodyPr vert="horz" lIns="163275" tIns="81642" rIns="163275" bIns="81642" rtlCol="0" anchor="ctr"/>
          <a:lstStyle>
            <a:lvl1pPr algn="l">
              <a:defRPr sz="2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534533"/>
            <a:ext cx="5791200" cy="547688"/>
          </a:xfrm>
          <a:prstGeom prst="rect">
            <a:avLst/>
          </a:prstGeom>
        </p:spPr>
        <p:txBody>
          <a:bodyPr vert="horz" lIns="163275" tIns="81642" rIns="163275" bIns="81642" rtlCol="0" anchor="ctr"/>
          <a:lstStyle>
            <a:lvl1pPr algn="ctr">
              <a:defRPr sz="2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9534533"/>
            <a:ext cx="4267200" cy="547688"/>
          </a:xfrm>
          <a:prstGeom prst="rect">
            <a:avLst/>
          </a:prstGeom>
        </p:spPr>
        <p:txBody>
          <a:bodyPr vert="horz" lIns="163275" tIns="81642" rIns="163275" bIns="81642" rtlCol="0" anchor="ctr"/>
          <a:lstStyle>
            <a:lvl1pPr algn="r">
              <a:defRPr sz="2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ctr" defTabSz="1632782" rtl="0" eaLnBrk="1" latinLnBrk="0" hangingPunct="1">
        <a:spcBef>
          <a:spcPct val="0"/>
        </a:spcBef>
        <a:buNone/>
        <a:defRPr sz="7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12292" indent="-612292" algn="l" defTabSz="1632782" rtl="0" eaLnBrk="1" latinLnBrk="0" hangingPunct="1">
        <a:spcBef>
          <a:spcPct val="20000"/>
        </a:spcBef>
        <a:buFont typeface="Arial" pitchFamily="34" charset="0"/>
        <a:buChar char="•"/>
        <a:defRPr sz="5700" kern="1200">
          <a:solidFill>
            <a:schemeClr val="tx1"/>
          </a:solidFill>
          <a:latin typeface="+mn-lt"/>
          <a:ea typeface="+mn-ea"/>
          <a:cs typeface="+mn-cs"/>
        </a:defRPr>
      </a:lvl1pPr>
      <a:lvl2pPr marL="1326632" indent="-510244" algn="l" defTabSz="1632782" rtl="0" eaLnBrk="1" latinLnBrk="0" hangingPunct="1">
        <a:spcBef>
          <a:spcPct val="20000"/>
        </a:spcBef>
        <a:buFont typeface="Arial" pitchFamily="34" charset="0"/>
        <a:buChar char="–"/>
        <a:defRPr sz="5000" kern="1200">
          <a:solidFill>
            <a:schemeClr val="tx1"/>
          </a:solidFill>
          <a:latin typeface="+mn-lt"/>
          <a:ea typeface="+mn-ea"/>
          <a:cs typeface="+mn-cs"/>
        </a:defRPr>
      </a:lvl2pPr>
      <a:lvl3pPr marL="2040975" indent="-408193" algn="l" defTabSz="1632782" rtl="0" eaLnBrk="1" latinLnBrk="0" hangingPunct="1">
        <a:spcBef>
          <a:spcPct val="20000"/>
        </a:spcBef>
        <a:buFont typeface="Arial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3pPr>
      <a:lvl4pPr marL="2857361" indent="-408193" algn="l" defTabSz="1632782" rtl="0" eaLnBrk="1" latinLnBrk="0" hangingPunct="1">
        <a:spcBef>
          <a:spcPct val="20000"/>
        </a:spcBef>
        <a:buFont typeface="Arial" pitchFamily="34" charset="0"/>
        <a:buChar char="–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73751" indent="-408193" algn="l" defTabSz="1632782" rtl="0" eaLnBrk="1" latinLnBrk="0" hangingPunct="1">
        <a:spcBef>
          <a:spcPct val="20000"/>
        </a:spcBef>
        <a:buFont typeface="Arial" pitchFamily="34" charset="0"/>
        <a:buChar char="»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490143" indent="-408193" algn="l" defTabSz="1632782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306529" indent="-408193" algn="l" defTabSz="1632782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122915" indent="-408193" algn="l" defTabSz="1632782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6939311" indent="-408193" algn="l" defTabSz="1632782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32782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6388" algn="l" defTabSz="1632782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782" algn="l" defTabSz="1632782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49168" algn="l" defTabSz="1632782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65560" algn="l" defTabSz="1632782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81949" algn="l" defTabSz="1632782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98336" algn="l" defTabSz="1632782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724" algn="l" defTabSz="1632782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31117" algn="l" defTabSz="1632782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6.jpe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5.jpe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4.jpe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18.png"/><Relationship Id="rId4" Type="http://schemas.openxmlformats.org/officeDocument/2006/relationships/image" Target="../media/image5.jpeg"/><Relationship Id="rId9" Type="http://schemas.microsoft.com/office/2007/relationships/diagramDrawing" Target="../diagrams/drawin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emf"/><Relationship Id="rId5" Type="http://schemas.openxmlformats.org/officeDocument/2006/relationships/image" Target="../media/image19.emf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4.jpe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5.jpeg"/><Relationship Id="rId9" Type="http://schemas.microsoft.com/office/2007/relationships/diagramDrawing" Target="../diagrams/drawing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24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hyperlink" Target="https://www.masterclass.com/articles/how-to-calculate-operating-profit-in-business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masterclass.com/articles/how-to-calculate-operating-cost" TargetMode="External"/><Relationship Id="rId5" Type="http://schemas.openxmlformats.org/officeDocument/2006/relationships/hyperlink" Target="https://www.zoho.com/subscriptions/guides/what-is-customer-lifetime-value-clv.html" TargetMode="External"/><Relationship Id="rId4" Type="http://schemas.openxmlformats.org/officeDocument/2006/relationships/image" Target="../media/image5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27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jpg"/><Relationship Id="rId5" Type="http://schemas.openxmlformats.org/officeDocument/2006/relationships/image" Target="../media/image25.png"/><Relationship Id="rId4" Type="http://schemas.openxmlformats.org/officeDocument/2006/relationships/image" Target="../media/image5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airam 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6700"/>
            <a:ext cx="2626360" cy="838200"/>
          </a:xfrm>
          <a:prstGeom prst="rect">
            <a:avLst/>
          </a:prstGeom>
        </p:spPr>
      </p:pic>
      <p:pic>
        <p:nvPicPr>
          <p:cNvPr id="9" name="Picture 8" descr="Sairam innovation 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9603" y="266700"/>
            <a:ext cx="2132350" cy="838200"/>
          </a:xfrm>
          <a:prstGeom prst="rect">
            <a:avLst/>
          </a:prstGeom>
        </p:spPr>
      </p:pic>
      <p:pic>
        <p:nvPicPr>
          <p:cNvPr id="10" name="Picture 9" descr="Chairman sir 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8800" y="9182102"/>
            <a:ext cx="876300" cy="886733"/>
          </a:xfrm>
          <a:prstGeom prst="rect">
            <a:avLst/>
          </a:prstGeom>
        </p:spPr>
      </p:pic>
      <p:sp>
        <p:nvSpPr>
          <p:cNvPr id="11" name="TextBox 19"/>
          <p:cNvSpPr txBox="1"/>
          <p:nvPr/>
        </p:nvSpPr>
        <p:spPr>
          <a:xfrm>
            <a:off x="2971800" y="190502"/>
            <a:ext cx="12877800" cy="13130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039"/>
              </a:lnSpc>
            </a:pPr>
            <a:r>
              <a:rPr lang="en-US" sz="8000" dirty="0">
                <a:latin typeface="Antonio Bold"/>
              </a:rPr>
              <a:t>Project Title</a:t>
            </a:r>
            <a:endParaRPr lang="en-US" sz="12000" dirty="0">
              <a:latin typeface="Antonio Bold"/>
            </a:endParaRPr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>
          <a:xfrm>
            <a:off x="4876800" y="2857500"/>
            <a:ext cx="8382000" cy="3581400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b="1" dirty="0"/>
              <a:t>STUDENTS NAME: Rohith Vijay R, </a:t>
            </a:r>
            <a:r>
              <a:rPr lang="en-US" b="1" dirty="0" err="1"/>
              <a:t>Puneeteshwar,Akash</a:t>
            </a:r>
            <a:r>
              <a:rPr lang="en-US" b="1" dirty="0"/>
              <a:t> Santhnu Sundar</a:t>
            </a:r>
          </a:p>
          <a:p>
            <a:pPr>
              <a:buNone/>
            </a:pPr>
            <a:r>
              <a:rPr lang="en-US" b="1" dirty="0"/>
              <a:t>COLLEGE NAME: Sri Sairam </a:t>
            </a:r>
            <a:r>
              <a:rPr lang="en-US" b="1" dirty="0" err="1"/>
              <a:t>Instititue</a:t>
            </a:r>
            <a:r>
              <a:rPr lang="en-US" b="1" dirty="0"/>
              <a:t> of Technology</a:t>
            </a:r>
          </a:p>
          <a:p>
            <a:pPr>
              <a:buNone/>
            </a:pPr>
            <a:r>
              <a:rPr lang="en-US" b="1" dirty="0"/>
              <a:t>BATCH : </a:t>
            </a:r>
          </a:p>
          <a:p>
            <a:pPr>
              <a:buNone/>
            </a:pPr>
            <a:r>
              <a:rPr lang="en-US" b="1" dirty="0"/>
              <a:t>REGISTER NO : </a:t>
            </a:r>
          </a:p>
          <a:p>
            <a:pPr>
              <a:buNone/>
            </a:pPr>
            <a:r>
              <a:rPr lang="en-US" b="1" dirty="0"/>
              <a:t>SUPERVISOR:</a:t>
            </a:r>
          </a:p>
          <a:p>
            <a:pPr>
              <a:buNone/>
            </a:pPr>
            <a:r>
              <a:rPr lang="en-US" b="1" dirty="0"/>
              <a:t>UNDER THE GUIDANCE OF:</a:t>
            </a:r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airam 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6700"/>
            <a:ext cx="2626360" cy="838200"/>
          </a:xfrm>
          <a:prstGeom prst="rect">
            <a:avLst/>
          </a:prstGeom>
        </p:spPr>
      </p:pic>
      <p:pic>
        <p:nvPicPr>
          <p:cNvPr id="7" name="Picture 6" descr="Sairam innovation 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9603" y="266700"/>
            <a:ext cx="2132350" cy="838200"/>
          </a:xfrm>
          <a:prstGeom prst="rect">
            <a:avLst/>
          </a:prstGeom>
        </p:spPr>
      </p:pic>
      <p:pic>
        <p:nvPicPr>
          <p:cNvPr id="8" name="Picture 7" descr="Chairman sir 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8800" y="9182102"/>
            <a:ext cx="876300" cy="886733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733800" y="2628902"/>
          <a:ext cx="11049000" cy="335280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17601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PRIMARY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SECONDARY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TERITARY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7601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7601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048000" y="190500"/>
            <a:ext cx="12573000" cy="1143000"/>
          </a:xfrm>
        </p:spPr>
        <p:txBody>
          <a:bodyPr>
            <a:noAutofit/>
          </a:bodyPr>
          <a:lstStyle/>
          <a:p>
            <a:r>
              <a:rPr lang="en-US" sz="3900" b="1" dirty="0"/>
              <a:t>JUSTIFICATION FOR SUSTAINABLE DEVELOPMENT GOAL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airam 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6700"/>
            <a:ext cx="2626360" cy="838200"/>
          </a:xfrm>
          <a:prstGeom prst="rect">
            <a:avLst/>
          </a:prstGeom>
        </p:spPr>
      </p:pic>
      <p:pic>
        <p:nvPicPr>
          <p:cNvPr id="9" name="Picture 8" descr="Sairam innovation 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9603" y="266700"/>
            <a:ext cx="2132350" cy="838200"/>
          </a:xfrm>
          <a:prstGeom prst="rect">
            <a:avLst/>
          </a:prstGeom>
        </p:spPr>
      </p:pic>
      <p:pic>
        <p:nvPicPr>
          <p:cNvPr id="10" name="Picture 9" descr="Chairman sir 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8800" y="9182102"/>
            <a:ext cx="876300" cy="8867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90502"/>
            <a:ext cx="9198340" cy="923328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defTabSz="1371578"/>
            <a:r>
              <a:rPr lang="en-US" sz="5400" b="1" dirty="0"/>
              <a:t>Who we are</a:t>
            </a:r>
            <a:endParaRPr lang="en-US" sz="5400" b="1" dirty="0">
              <a:solidFill>
                <a:prstClr val="black">
                  <a:lumMod val="85000"/>
                  <a:lumOff val="15000"/>
                </a:prstClr>
              </a:solidFill>
              <a:latin typeface="Montserra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0" y="1028702"/>
            <a:ext cx="7679408" cy="446274"/>
          </a:xfrm>
          <a:prstGeom prst="rect">
            <a:avLst/>
          </a:prstGeom>
        </p:spPr>
        <p:txBody>
          <a:bodyPr wrap="none" lIns="91439" tIns="45719" rIns="91439" bIns="45719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Avenir"/>
              </a:rPr>
              <a:t>Name of your Venture: </a:t>
            </a:r>
            <a:r>
              <a:rPr lang="en-US" sz="2000" dirty="0">
                <a:latin typeface="Carlito"/>
              </a:rPr>
              <a:t>Fully</a:t>
            </a:r>
            <a:r>
              <a:rPr lang="en-US" sz="2000" spc="-40" dirty="0">
                <a:latin typeface="Carlito"/>
              </a:rPr>
              <a:t> </a:t>
            </a:r>
            <a:r>
              <a:rPr lang="en-US" sz="2000" spc="-10" dirty="0">
                <a:latin typeface="Carlito"/>
              </a:rPr>
              <a:t>Automated</a:t>
            </a:r>
            <a:r>
              <a:rPr lang="en-US" sz="2000" spc="-60" dirty="0">
                <a:latin typeface="Carlito"/>
              </a:rPr>
              <a:t> </a:t>
            </a:r>
            <a:r>
              <a:rPr lang="en-US" sz="2000" dirty="0">
                <a:latin typeface="Carlito"/>
              </a:rPr>
              <a:t>Robotic</a:t>
            </a:r>
            <a:r>
              <a:rPr lang="en-US" sz="2000" spc="-45" dirty="0">
                <a:latin typeface="Carlito"/>
              </a:rPr>
              <a:t> </a:t>
            </a:r>
            <a:r>
              <a:rPr lang="en-US" sz="2000" spc="-10" dirty="0">
                <a:latin typeface="Carlito"/>
              </a:rPr>
              <a:t>Systems</a:t>
            </a:r>
            <a:r>
              <a:rPr lang="en-US" sz="2000" spc="-65" dirty="0">
                <a:latin typeface="Carlito"/>
              </a:rPr>
              <a:t> </a:t>
            </a:r>
            <a:r>
              <a:rPr lang="en-US" sz="2000" spc="-10" dirty="0">
                <a:latin typeface="Carlito"/>
              </a:rPr>
              <a:t>(FARS)</a:t>
            </a:r>
            <a:endParaRPr lang="en-US" sz="23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BE9276-DC2F-F843-82A1-22E8A3A5B667}"/>
              </a:ext>
            </a:extLst>
          </p:cNvPr>
          <p:cNvGrpSpPr/>
          <p:nvPr/>
        </p:nvGrpSpPr>
        <p:grpSpPr>
          <a:xfrm>
            <a:off x="704242" y="7442478"/>
            <a:ext cx="1371600" cy="1371600"/>
            <a:chOff x="6821181" y="4608210"/>
            <a:chExt cx="914400" cy="914400"/>
          </a:xfrm>
        </p:grpSpPr>
        <p:sp>
          <p:nvSpPr>
            <p:cNvPr id="12" name="Oval 11"/>
            <p:cNvSpPr/>
            <p:nvPr/>
          </p:nvSpPr>
          <p:spPr>
            <a:xfrm>
              <a:off x="6821181" y="4608210"/>
              <a:ext cx="914400" cy="9144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1578"/>
              <a:endParaRPr lang="en-US" sz="2700" dirty="0">
                <a:solidFill>
                  <a:prstClr val="white"/>
                </a:solidFill>
              </a:endParaRPr>
            </a:p>
          </p:txBody>
        </p:sp>
        <p:sp>
          <p:nvSpPr>
            <p:cNvPr id="13" name="Shape 2932">
              <a:extLst>
                <a:ext uri="{FF2B5EF4-FFF2-40B4-BE49-F238E27FC236}">
                  <a16:creationId xmlns:a16="http://schemas.microsoft.com/office/drawing/2014/main" id="{F24913FF-4021-F444-AC80-1D5E7C5340A2}"/>
                </a:ext>
              </a:extLst>
            </p:cNvPr>
            <p:cNvSpPr/>
            <p:nvPr/>
          </p:nvSpPr>
          <p:spPr>
            <a:xfrm>
              <a:off x="7038859" y="4857302"/>
              <a:ext cx="479042" cy="3919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4" y="12000"/>
                  </a:moveTo>
                  <a:cubicBezTo>
                    <a:pt x="1421" y="12000"/>
                    <a:pt x="982" y="11462"/>
                    <a:pt x="982" y="10800"/>
                  </a:cubicBezTo>
                  <a:cubicBezTo>
                    <a:pt x="982" y="10138"/>
                    <a:pt x="1421" y="9600"/>
                    <a:pt x="1964" y="9600"/>
                  </a:cubicBezTo>
                  <a:cubicBezTo>
                    <a:pt x="2505" y="9600"/>
                    <a:pt x="2945" y="10138"/>
                    <a:pt x="2945" y="10800"/>
                  </a:cubicBezTo>
                  <a:cubicBezTo>
                    <a:pt x="2945" y="11462"/>
                    <a:pt x="2505" y="12000"/>
                    <a:pt x="1964" y="12000"/>
                  </a:cubicBezTo>
                  <a:moveTo>
                    <a:pt x="21456" y="10376"/>
                  </a:moveTo>
                  <a:lnTo>
                    <a:pt x="18511" y="6776"/>
                  </a:lnTo>
                  <a:cubicBezTo>
                    <a:pt x="18422" y="6667"/>
                    <a:pt x="18299" y="6600"/>
                    <a:pt x="18164" y="6600"/>
                  </a:cubicBezTo>
                  <a:cubicBezTo>
                    <a:pt x="17892" y="6600"/>
                    <a:pt x="17673" y="6869"/>
                    <a:pt x="17673" y="7200"/>
                  </a:cubicBezTo>
                  <a:cubicBezTo>
                    <a:pt x="17673" y="7366"/>
                    <a:pt x="17728" y="7516"/>
                    <a:pt x="17817" y="7624"/>
                  </a:cubicBezTo>
                  <a:lnTo>
                    <a:pt x="19924" y="10200"/>
                  </a:lnTo>
                  <a:lnTo>
                    <a:pt x="8058" y="10200"/>
                  </a:lnTo>
                  <a:lnTo>
                    <a:pt x="14727" y="2048"/>
                  </a:lnTo>
                  <a:lnTo>
                    <a:pt x="14727" y="5400"/>
                  </a:lnTo>
                  <a:cubicBezTo>
                    <a:pt x="14727" y="5732"/>
                    <a:pt x="14947" y="6000"/>
                    <a:pt x="15218" y="6000"/>
                  </a:cubicBezTo>
                  <a:cubicBezTo>
                    <a:pt x="15489" y="6000"/>
                    <a:pt x="15709" y="5732"/>
                    <a:pt x="15709" y="5400"/>
                  </a:cubicBezTo>
                  <a:lnTo>
                    <a:pt x="15709" y="600"/>
                  </a:lnTo>
                  <a:cubicBezTo>
                    <a:pt x="15709" y="269"/>
                    <a:pt x="15489" y="0"/>
                    <a:pt x="15218" y="0"/>
                  </a:cubicBezTo>
                  <a:lnTo>
                    <a:pt x="11291" y="0"/>
                  </a:lnTo>
                  <a:cubicBezTo>
                    <a:pt x="11020" y="0"/>
                    <a:pt x="10800" y="269"/>
                    <a:pt x="10800" y="600"/>
                  </a:cubicBezTo>
                  <a:cubicBezTo>
                    <a:pt x="10800" y="932"/>
                    <a:pt x="11020" y="1200"/>
                    <a:pt x="11291" y="1200"/>
                  </a:cubicBezTo>
                  <a:lnTo>
                    <a:pt x="14033" y="1200"/>
                  </a:lnTo>
                  <a:lnTo>
                    <a:pt x="6669" y="10200"/>
                  </a:lnTo>
                  <a:lnTo>
                    <a:pt x="3858" y="10200"/>
                  </a:lnTo>
                  <a:cubicBezTo>
                    <a:pt x="3639" y="9167"/>
                    <a:pt x="2877" y="8400"/>
                    <a:pt x="1964" y="8400"/>
                  </a:cubicBezTo>
                  <a:cubicBezTo>
                    <a:pt x="879" y="8400"/>
                    <a:pt x="0" y="9475"/>
                    <a:pt x="0" y="10800"/>
                  </a:cubicBezTo>
                  <a:cubicBezTo>
                    <a:pt x="0" y="12125"/>
                    <a:pt x="879" y="13200"/>
                    <a:pt x="1964" y="13200"/>
                  </a:cubicBezTo>
                  <a:cubicBezTo>
                    <a:pt x="2877" y="13200"/>
                    <a:pt x="3639" y="12434"/>
                    <a:pt x="3858" y="11400"/>
                  </a:cubicBezTo>
                  <a:lnTo>
                    <a:pt x="6669" y="11400"/>
                  </a:lnTo>
                  <a:lnTo>
                    <a:pt x="14033" y="20400"/>
                  </a:lnTo>
                  <a:lnTo>
                    <a:pt x="11291" y="20400"/>
                  </a:lnTo>
                  <a:cubicBezTo>
                    <a:pt x="11020" y="20400"/>
                    <a:pt x="10800" y="20669"/>
                    <a:pt x="10800" y="21000"/>
                  </a:cubicBezTo>
                  <a:cubicBezTo>
                    <a:pt x="10800" y="21332"/>
                    <a:pt x="11020" y="21600"/>
                    <a:pt x="11291" y="21600"/>
                  </a:cubicBezTo>
                  <a:lnTo>
                    <a:pt x="15218" y="21600"/>
                  </a:lnTo>
                  <a:cubicBezTo>
                    <a:pt x="15489" y="21600"/>
                    <a:pt x="15709" y="21332"/>
                    <a:pt x="15709" y="21000"/>
                  </a:cubicBezTo>
                  <a:lnTo>
                    <a:pt x="15709" y="16200"/>
                  </a:lnTo>
                  <a:cubicBezTo>
                    <a:pt x="15709" y="15869"/>
                    <a:pt x="15489" y="15600"/>
                    <a:pt x="15218" y="15600"/>
                  </a:cubicBezTo>
                  <a:cubicBezTo>
                    <a:pt x="14947" y="15600"/>
                    <a:pt x="14727" y="15869"/>
                    <a:pt x="14727" y="16200"/>
                  </a:cubicBezTo>
                  <a:lnTo>
                    <a:pt x="14727" y="19552"/>
                  </a:lnTo>
                  <a:lnTo>
                    <a:pt x="8058" y="11400"/>
                  </a:lnTo>
                  <a:lnTo>
                    <a:pt x="19924" y="11400"/>
                  </a:lnTo>
                  <a:lnTo>
                    <a:pt x="17817" y="13976"/>
                  </a:lnTo>
                  <a:cubicBezTo>
                    <a:pt x="17728" y="14085"/>
                    <a:pt x="17673" y="14235"/>
                    <a:pt x="17673" y="14400"/>
                  </a:cubicBezTo>
                  <a:cubicBezTo>
                    <a:pt x="17673" y="14732"/>
                    <a:pt x="17892" y="15000"/>
                    <a:pt x="18164" y="15000"/>
                  </a:cubicBezTo>
                  <a:cubicBezTo>
                    <a:pt x="18299" y="15000"/>
                    <a:pt x="18422" y="14933"/>
                    <a:pt x="18511" y="14824"/>
                  </a:cubicBezTo>
                  <a:lnTo>
                    <a:pt x="21456" y="11224"/>
                  </a:lnTo>
                  <a:cubicBezTo>
                    <a:pt x="21545" y="11116"/>
                    <a:pt x="21600" y="10966"/>
                    <a:pt x="21600" y="10800"/>
                  </a:cubicBezTo>
                  <a:cubicBezTo>
                    <a:pt x="21600" y="10635"/>
                    <a:pt x="21545" y="10485"/>
                    <a:pt x="21456" y="10376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57136" tIns="57136" rIns="57136" bIns="57136" anchor="ctr"/>
            <a:lstStyle/>
            <a:p>
              <a:pPr defTabSz="685584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450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4" name="Rectangle 13"/>
          <p:cNvSpPr/>
          <p:nvPr/>
        </p:nvSpPr>
        <p:spPr>
          <a:xfrm>
            <a:off x="13411200" y="4076702"/>
            <a:ext cx="4064164" cy="1862046"/>
          </a:xfrm>
          <a:prstGeom prst="rect">
            <a:avLst/>
          </a:prstGeom>
          <a:solidFill>
            <a:srgbClr val="FFC000"/>
          </a:solidFill>
        </p:spPr>
        <p:txBody>
          <a:bodyPr wrap="square" lIns="91439" tIns="45719" rIns="91439" bIns="45719">
            <a:spAutoFit/>
          </a:bodyPr>
          <a:lstStyle/>
          <a:p>
            <a:pPr algn="just"/>
            <a:r>
              <a:rPr lang="en-US" sz="2300" dirty="0">
                <a:solidFill>
                  <a:srgbClr val="000000"/>
                </a:solidFill>
                <a:latin typeface="Avenir"/>
              </a:rPr>
              <a:t>	</a:t>
            </a:r>
          </a:p>
          <a:p>
            <a:pPr algn="just"/>
            <a:r>
              <a:rPr lang="en-US" sz="2300" dirty="0">
                <a:solidFill>
                  <a:srgbClr val="000000"/>
                </a:solidFill>
                <a:latin typeface="Avenir"/>
              </a:rPr>
              <a:t>	Your goal when answering this slide should be to create enough interest about your venture.</a:t>
            </a:r>
            <a:endParaRPr lang="en-US" sz="2300" dirty="0"/>
          </a:p>
        </p:txBody>
      </p:sp>
      <p:sp>
        <p:nvSpPr>
          <p:cNvPr id="15" name="Rectangle 14"/>
          <p:cNvSpPr/>
          <p:nvPr/>
        </p:nvSpPr>
        <p:spPr>
          <a:xfrm>
            <a:off x="2770114" y="4717503"/>
            <a:ext cx="4839784" cy="369330"/>
          </a:xfrm>
          <a:prstGeom prst="rect">
            <a:avLst/>
          </a:prstGeom>
        </p:spPr>
        <p:txBody>
          <a:bodyPr wrap="none" lIns="91439" tIns="45719" rIns="91439" bIns="45719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venir"/>
              </a:rPr>
              <a:t>Provide a brief on what does your venture do.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792812" y="1654987"/>
            <a:ext cx="1527980" cy="584773"/>
          </a:xfrm>
          <a:prstGeom prst="rect">
            <a:avLst/>
          </a:prstGeom>
        </p:spPr>
        <p:txBody>
          <a:bodyPr wrap="none" lIns="91439" tIns="45719" rIns="91439" bIns="45719">
            <a:sp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Avenir"/>
              </a:rPr>
              <a:t>Why ? </a:t>
            </a:r>
            <a:endParaRPr lang="en-US" sz="3200" b="1" dirty="0"/>
          </a:p>
        </p:txBody>
      </p:sp>
      <p:sp>
        <p:nvSpPr>
          <p:cNvPr id="17" name="Rectangle 16"/>
          <p:cNvSpPr/>
          <p:nvPr/>
        </p:nvSpPr>
        <p:spPr>
          <a:xfrm>
            <a:off x="2792815" y="2196108"/>
            <a:ext cx="5814410" cy="369330"/>
          </a:xfrm>
          <a:prstGeom prst="rect">
            <a:avLst/>
          </a:prstGeom>
        </p:spPr>
        <p:txBody>
          <a:bodyPr wrap="none" lIns="91439" tIns="45719" rIns="91439" bIns="45719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venir"/>
              </a:rPr>
              <a:t>Explain why do you want to pursue this Business Idea. 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2792810" y="4267520"/>
            <a:ext cx="1778049" cy="584773"/>
          </a:xfrm>
          <a:prstGeom prst="rect">
            <a:avLst/>
          </a:prstGeom>
        </p:spPr>
        <p:txBody>
          <a:bodyPr wrap="none" lIns="91439" tIns="45719" rIns="91439" bIns="45719">
            <a:sp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Avenir"/>
              </a:rPr>
              <a:t>What  ? </a:t>
            </a:r>
            <a:endParaRPr lang="en-US" sz="3200" b="1" dirty="0"/>
          </a:p>
        </p:txBody>
      </p:sp>
      <p:sp>
        <p:nvSpPr>
          <p:cNvPr id="19" name="Rectangle 18"/>
          <p:cNvSpPr/>
          <p:nvPr/>
        </p:nvSpPr>
        <p:spPr>
          <a:xfrm>
            <a:off x="2735904" y="6857705"/>
            <a:ext cx="1641794" cy="584773"/>
          </a:xfrm>
          <a:prstGeom prst="rect">
            <a:avLst/>
          </a:prstGeom>
        </p:spPr>
        <p:txBody>
          <a:bodyPr wrap="none" lIns="91439" tIns="45719" rIns="91439" bIns="45719">
            <a:sp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Avenir"/>
              </a:rPr>
              <a:t>How  ? </a:t>
            </a:r>
            <a:endParaRPr lang="en-US" sz="3200" b="1" dirty="0"/>
          </a:p>
        </p:txBody>
      </p:sp>
      <p:sp>
        <p:nvSpPr>
          <p:cNvPr id="20" name="Rectangle 19"/>
          <p:cNvSpPr/>
          <p:nvPr/>
        </p:nvSpPr>
        <p:spPr>
          <a:xfrm>
            <a:off x="2792812" y="5074622"/>
            <a:ext cx="8235788" cy="167475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lIns="91439" tIns="45719" rIns="91439" bIns="45719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latin typeface="Lato"/>
              </a:rPr>
              <a:t>our team are developing a robot that automates attendance recording using facial recognition, RFID, or QR scanning. It identifies individuals and logs their attendance in real-time, storing the data in a secure system. The project involves designing, integrating technology, and optimizing performance for accurate tracking</a:t>
            </a:r>
          </a:p>
          <a:p>
            <a:pPr algn="just">
              <a:lnSpc>
                <a:spcPct val="150000"/>
              </a:lnSpc>
            </a:pPr>
            <a:endParaRPr lang="en-IN" sz="1400" dirty="0"/>
          </a:p>
        </p:txBody>
      </p:sp>
      <p:sp>
        <p:nvSpPr>
          <p:cNvPr id="21" name="Rectangle 20"/>
          <p:cNvSpPr/>
          <p:nvPr/>
        </p:nvSpPr>
        <p:spPr>
          <a:xfrm>
            <a:off x="2852046" y="2591629"/>
            <a:ext cx="8235788" cy="134504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lIns="91439" tIns="45719" rIns="91439" bIns="45719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spc="-10" dirty="0">
                <a:latin typeface="Carlito"/>
              </a:rPr>
              <a:t>The attendance log robot automates the process of recording attendance using technologies like facial recognition, RF-ID, or QR scanning. It identifies individuals and logs their presence accurately in real-time, reducing manual errors and improving efficiency. This system streamlines attendance tracking for institutions or workplaces, saving time and ensuring precise records.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35907" y="7451859"/>
            <a:ext cx="7173757" cy="369330"/>
          </a:xfrm>
          <a:prstGeom prst="rect">
            <a:avLst/>
          </a:prstGeom>
        </p:spPr>
        <p:txBody>
          <a:bodyPr wrap="none" lIns="91439" tIns="45719" rIns="91439" bIns="45719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venir"/>
              </a:rPr>
              <a:t>Explain how your venture solves the problem and make its revenue. 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2805782" y="7857295"/>
            <a:ext cx="8235788" cy="102842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lIns="91439" tIns="45719" rIns="91439" bIns="45719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latin typeface="Lato"/>
              </a:rPr>
              <a:t>We  solves real-world problems by automating attendance, reducing manual errors, and saving time. It enhances transparency with secure, real-time logging and prevents manipulation.</a:t>
            </a:r>
          </a:p>
          <a:p>
            <a:pPr algn="just">
              <a:lnSpc>
                <a:spcPct val="150000"/>
              </a:lnSpc>
            </a:pPr>
            <a:endParaRPr lang="en-IN" sz="1400" dirty="0"/>
          </a:p>
        </p:txBody>
      </p:sp>
      <p:grpSp>
        <p:nvGrpSpPr>
          <p:cNvPr id="3" name="object 13">
            <a:extLst>
              <a:ext uri="{03A29115-DAEF-4481-B0BB-4AE82D9336D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BFD2B0B4-26A5-4E12-8EE3-EA7DB327C9DD}"/>
              </a:ext>
            </a:extLst>
          </p:cNvPr>
          <p:cNvGrpSpPr/>
          <p:nvPr/>
        </p:nvGrpSpPr>
        <p:grpSpPr>
          <a:xfrm>
            <a:off x="13716000" y="4267520"/>
            <a:ext cx="553720" cy="538480"/>
            <a:chOff x="13920424" y="4265993"/>
            <a:chExt cx="553720" cy="538480"/>
          </a:xfrm>
        </p:grpSpPr>
        <p:pic>
          <p:nvPicPr>
            <p:cNvPr id="4" name="object 14">
              <a:extLst>
                <a:ext uri="{3EA428A2-90B5-4C78-A1D9-0C5ABF108F13}">
  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3502C560-3737-49FF-94A0-6FF30C7F2A29}"/>
                </a:ext>
              </a:extLst>
            </p:cNvPr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14143147" y="4482618"/>
              <a:ext cx="107986" cy="105030"/>
            </a:xfrm>
            <a:prstGeom prst="rect">
              <a:avLst/>
            </a:prstGeom>
            <a:noFill/>
          </p:spPr>
        </p:pic>
        <p:sp>
          <p:nvSpPr>
            <p:cNvPr id="5" name="object 15">
              <a:extLst>
                <a:ext uri="{8C7EFA77-3E3C-48EC-8A22-0E50511FCE13}">
  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FD64BCE-2BBA-4F4F-AC01-9BFB3433BC66}"/>
                </a:ext>
              </a:extLst>
            </p:cNvPr>
            <p:cNvSpPr/>
            <p:nvPr/>
          </p:nvSpPr>
          <p:spPr>
            <a:xfrm>
              <a:off x="13920424" y="4265993"/>
              <a:ext cx="553720" cy="538480"/>
            </a:xfrm>
            <a:custGeom>
              <a:avLst/>
              <a:gdLst/>
              <a:ahLst/>
              <a:cxnLst/>
              <a:rect l="0" t="0" r="r" b="b"/>
              <a:pathLst>
                <a:path w="553719" h="538479">
                  <a:moveTo>
                    <a:pt x="80990" y="282270"/>
                  </a:moveTo>
                  <a:lnTo>
                    <a:pt x="40495" y="282270"/>
                  </a:lnTo>
                  <a:lnTo>
                    <a:pt x="48765" y="330645"/>
                  </a:lnTo>
                  <a:lnTo>
                    <a:pt x="66760" y="375035"/>
                  </a:lnTo>
                  <a:lnTo>
                    <a:pt x="93356" y="414346"/>
                  </a:lnTo>
                  <a:lnTo>
                    <a:pt x="127425" y="447483"/>
                  </a:lnTo>
                  <a:lnTo>
                    <a:pt x="167842" y="473350"/>
                  </a:lnTo>
                  <a:lnTo>
                    <a:pt x="213481" y="490853"/>
                  </a:lnTo>
                  <a:lnTo>
                    <a:pt x="263218" y="498896"/>
                  </a:lnTo>
                  <a:lnTo>
                    <a:pt x="263218" y="538283"/>
                  </a:lnTo>
                  <a:lnTo>
                    <a:pt x="290215" y="538283"/>
                  </a:lnTo>
                  <a:lnTo>
                    <a:pt x="290214" y="498896"/>
                  </a:lnTo>
                  <a:lnTo>
                    <a:pt x="339951" y="490853"/>
                  </a:lnTo>
                  <a:lnTo>
                    <a:pt x="385590" y="473350"/>
                  </a:lnTo>
                  <a:lnTo>
                    <a:pt x="407215" y="459510"/>
                  </a:lnTo>
                  <a:lnTo>
                    <a:pt x="263218" y="459510"/>
                  </a:lnTo>
                  <a:lnTo>
                    <a:pt x="216305" y="450631"/>
                  </a:lnTo>
                  <a:lnTo>
                    <a:pt x="174129" y="431658"/>
                  </a:lnTo>
                  <a:lnTo>
                    <a:pt x="138098" y="403964"/>
                  </a:lnTo>
                  <a:lnTo>
                    <a:pt x="109625" y="368921"/>
                  </a:lnTo>
                  <a:lnTo>
                    <a:pt x="90119" y="327899"/>
                  </a:lnTo>
                  <a:lnTo>
                    <a:pt x="80990" y="282270"/>
                  </a:lnTo>
                  <a:close/>
                </a:path>
                <a:path w="553719" h="538479">
                  <a:moveTo>
                    <a:pt x="140652" y="282270"/>
                  </a:moveTo>
                  <a:lnTo>
                    <a:pt x="113588" y="282270"/>
                  </a:lnTo>
                  <a:lnTo>
                    <a:pt x="124068" y="326556"/>
                  </a:lnTo>
                  <a:lnTo>
                    <a:pt x="146213" y="365148"/>
                  </a:lnTo>
                  <a:lnTo>
                    <a:pt x="178080" y="396139"/>
                  </a:lnTo>
                  <a:lnTo>
                    <a:pt x="217691" y="417656"/>
                  </a:lnTo>
                  <a:lnTo>
                    <a:pt x="263218" y="427869"/>
                  </a:lnTo>
                  <a:lnTo>
                    <a:pt x="263218" y="459510"/>
                  </a:lnTo>
                  <a:lnTo>
                    <a:pt x="290214" y="459510"/>
                  </a:lnTo>
                  <a:lnTo>
                    <a:pt x="290214" y="427869"/>
                  </a:lnTo>
                  <a:lnTo>
                    <a:pt x="335785" y="417656"/>
                  </a:lnTo>
                  <a:lnTo>
                    <a:pt x="365584" y="401480"/>
                  </a:lnTo>
                  <a:lnTo>
                    <a:pt x="263218" y="401480"/>
                  </a:lnTo>
                  <a:lnTo>
                    <a:pt x="217635" y="389058"/>
                  </a:lnTo>
                  <a:lnTo>
                    <a:pt x="180061" y="363150"/>
                  </a:lnTo>
                  <a:lnTo>
                    <a:pt x="153424" y="326605"/>
                  </a:lnTo>
                  <a:lnTo>
                    <a:pt x="140652" y="282270"/>
                  </a:lnTo>
                  <a:close/>
                </a:path>
                <a:path w="553719" h="538479">
                  <a:moveTo>
                    <a:pt x="512937" y="282270"/>
                  </a:moveTo>
                  <a:lnTo>
                    <a:pt x="472442" y="282270"/>
                  </a:lnTo>
                  <a:lnTo>
                    <a:pt x="463313" y="327899"/>
                  </a:lnTo>
                  <a:lnTo>
                    <a:pt x="443807" y="368921"/>
                  </a:lnTo>
                  <a:lnTo>
                    <a:pt x="415333" y="403965"/>
                  </a:lnTo>
                  <a:lnTo>
                    <a:pt x="379303" y="431658"/>
                  </a:lnTo>
                  <a:lnTo>
                    <a:pt x="337127" y="450631"/>
                  </a:lnTo>
                  <a:lnTo>
                    <a:pt x="290214" y="459510"/>
                  </a:lnTo>
                  <a:lnTo>
                    <a:pt x="407215" y="459510"/>
                  </a:lnTo>
                  <a:lnTo>
                    <a:pt x="426007" y="447483"/>
                  </a:lnTo>
                  <a:lnTo>
                    <a:pt x="460076" y="414346"/>
                  </a:lnTo>
                  <a:lnTo>
                    <a:pt x="486671" y="375035"/>
                  </a:lnTo>
                  <a:lnTo>
                    <a:pt x="504667" y="330645"/>
                  </a:lnTo>
                  <a:lnTo>
                    <a:pt x="512937" y="282270"/>
                  </a:lnTo>
                  <a:close/>
                </a:path>
                <a:path w="553719" h="538479">
                  <a:moveTo>
                    <a:pt x="290214" y="347914"/>
                  </a:moveTo>
                  <a:lnTo>
                    <a:pt x="263217" y="347914"/>
                  </a:lnTo>
                  <a:lnTo>
                    <a:pt x="263218" y="401480"/>
                  </a:lnTo>
                  <a:lnTo>
                    <a:pt x="290214" y="401480"/>
                  </a:lnTo>
                  <a:lnTo>
                    <a:pt x="290214" y="347914"/>
                  </a:lnTo>
                  <a:close/>
                </a:path>
                <a:path w="553719" h="538479">
                  <a:moveTo>
                    <a:pt x="439911" y="282270"/>
                  </a:moveTo>
                  <a:lnTo>
                    <a:pt x="412779" y="282270"/>
                  </a:lnTo>
                  <a:lnTo>
                    <a:pt x="400007" y="326605"/>
                  </a:lnTo>
                  <a:lnTo>
                    <a:pt x="373370" y="363150"/>
                  </a:lnTo>
                  <a:lnTo>
                    <a:pt x="335797" y="389058"/>
                  </a:lnTo>
                  <a:lnTo>
                    <a:pt x="290214" y="401480"/>
                  </a:lnTo>
                  <a:lnTo>
                    <a:pt x="365584" y="401480"/>
                  </a:lnTo>
                  <a:lnTo>
                    <a:pt x="375445" y="396119"/>
                  </a:lnTo>
                  <a:lnTo>
                    <a:pt x="407299" y="365129"/>
                  </a:lnTo>
                  <a:lnTo>
                    <a:pt x="429427" y="326556"/>
                  </a:lnTo>
                  <a:lnTo>
                    <a:pt x="439911" y="282270"/>
                  </a:lnTo>
                  <a:close/>
                </a:path>
                <a:path w="553719" h="538479">
                  <a:moveTo>
                    <a:pt x="195725" y="256012"/>
                  </a:moveTo>
                  <a:lnTo>
                    <a:pt x="0" y="256012"/>
                  </a:lnTo>
                  <a:lnTo>
                    <a:pt x="0" y="282270"/>
                  </a:lnTo>
                  <a:lnTo>
                    <a:pt x="195726" y="282270"/>
                  </a:lnTo>
                  <a:lnTo>
                    <a:pt x="195725" y="256012"/>
                  </a:lnTo>
                  <a:close/>
                </a:path>
                <a:path w="553719" h="538479">
                  <a:moveTo>
                    <a:pt x="553432" y="256013"/>
                  </a:moveTo>
                  <a:lnTo>
                    <a:pt x="357706" y="256012"/>
                  </a:lnTo>
                  <a:lnTo>
                    <a:pt x="357706" y="282270"/>
                  </a:lnTo>
                  <a:lnTo>
                    <a:pt x="553432" y="282270"/>
                  </a:lnTo>
                  <a:lnTo>
                    <a:pt x="553432" y="256013"/>
                  </a:lnTo>
                  <a:close/>
                </a:path>
                <a:path w="553719" h="538479">
                  <a:moveTo>
                    <a:pt x="290213" y="0"/>
                  </a:moveTo>
                  <a:lnTo>
                    <a:pt x="263217" y="0"/>
                  </a:lnTo>
                  <a:lnTo>
                    <a:pt x="263217" y="39386"/>
                  </a:lnTo>
                  <a:lnTo>
                    <a:pt x="213480" y="47430"/>
                  </a:lnTo>
                  <a:lnTo>
                    <a:pt x="167841" y="64933"/>
                  </a:lnTo>
                  <a:lnTo>
                    <a:pt x="127424" y="90800"/>
                  </a:lnTo>
                  <a:lnTo>
                    <a:pt x="93355" y="123936"/>
                  </a:lnTo>
                  <a:lnTo>
                    <a:pt x="66760" y="163247"/>
                  </a:lnTo>
                  <a:lnTo>
                    <a:pt x="48765" y="207637"/>
                  </a:lnTo>
                  <a:lnTo>
                    <a:pt x="40495" y="256012"/>
                  </a:lnTo>
                  <a:lnTo>
                    <a:pt x="80990" y="256012"/>
                  </a:lnTo>
                  <a:lnTo>
                    <a:pt x="90118" y="210384"/>
                  </a:lnTo>
                  <a:lnTo>
                    <a:pt x="109625" y="169362"/>
                  </a:lnTo>
                  <a:lnTo>
                    <a:pt x="138098" y="134318"/>
                  </a:lnTo>
                  <a:lnTo>
                    <a:pt x="174128" y="106624"/>
                  </a:lnTo>
                  <a:lnTo>
                    <a:pt x="216304" y="87652"/>
                  </a:lnTo>
                  <a:lnTo>
                    <a:pt x="263217" y="78773"/>
                  </a:lnTo>
                  <a:lnTo>
                    <a:pt x="407214" y="78773"/>
                  </a:lnTo>
                  <a:lnTo>
                    <a:pt x="385589" y="64933"/>
                  </a:lnTo>
                  <a:lnTo>
                    <a:pt x="339950" y="47430"/>
                  </a:lnTo>
                  <a:lnTo>
                    <a:pt x="290213" y="39386"/>
                  </a:lnTo>
                  <a:lnTo>
                    <a:pt x="290213" y="0"/>
                  </a:lnTo>
                  <a:close/>
                </a:path>
                <a:path w="553719" h="538479">
                  <a:moveTo>
                    <a:pt x="290214" y="78773"/>
                  </a:moveTo>
                  <a:lnTo>
                    <a:pt x="263217" y="78773"/>
                  </a:lnTo>
                  <a:lnTo>
                    <a:pt x="263217" y="110479"/>
                  </a:lnTo>
                  <a:lnTo>
                    <a:pt x="217685" y="120672"/>
                  </a:lnTo>
                  <a:lnTo>
                    <a:pt x="178026" y="142191"/>
                  </a:lnTo>
                  <a:lnTo>
                    <a:pt x="146165" y="173168"/>
                  </a:lnTo>
                  <a:lnTo>
                    <a:pt x="124022" y="211732"/>
                  </a:lnTo>
                  <a:lnTo>
                    <a:pt x="113521" y="256012"/>
                  </a:lnTo>
                  <a:lnTo>
                    <a:pt x="140652" y="256012"/>
                  </a:lnTo>
                  <a:lnTo>
                    <a:pt x="153424" y="211678"/>
                  </a:lnTo>
                  <a:lnTo>
                    <a:pt x="180061" y="175132"/>
                  </a:lnTo>
                  <a:lnTo>
                    <a:pt x="217635" y="149225"/>
                  </a:lnTo>
                  <a:lnTo>
                    <a:pt x="263217" y="136802"/>
                  </a:lnTo>
                  <a:lnTo>
                    <a:pt x="365584" y="136802"/>
                  </a:lnTo>
                  <a:lnTo>
                    <a:pt x="335758" y="120612"/>
                  </a:lnTo>
                  <a:lnTo>
                    <a:pt x="290214" y="110413"/>
                  </a:lnTo>
                  <a:lnTo>
                    <a:pt x="290214" y="78773"/>
                  </a:lnTo>
                  <a:close/>
                </a:path>
                <a:path w="553719" h="538479">
                  <a:moveTo>
                    <a:pt x="365584" y="136802"/>
                  </a:moveTo>
                  <a:lnTo>
                    <a:pt x="290214" y="136802"/>
                  </a:lnTo>
                  <a:lnTo>
                    <a:pt x="335796" y="149225"/>
                  </a:lnTo>
                  <a:lnTo>
                    <a:pt x="373370" y="175132"/>
                  </a:lnTo>
                  <a:lnTo>
                    <a:pt x="400007" y="211678"/>
                  </a:lnTo>
                  <a:lnTo>
                    <a:pt x="412779" y="256012"/>
                  </a:lnTo>
                  <a:lnTo>
                    <a:pt x="439911" y="256013"/>
                  </a:lnTo>
                  <a:lnTo>
                    <a:pt x="429403" y="211678"/>
                  </a:lnTo>
                  <a:lnTo>
                    <a:pt x="407287" y="173135"/>
                  </a:lnTo>
                  <a:lnTo>
                    <a:pt x="375424" y="142143"/>
                  </a:lnTo>
                  <a:lnTo>
                    <a:pt x="365584" y="136802"/>
                  </a:lnTo>
                  <a:close/>
                </a:path>
                <a:path w="553719" h="538479">
                  <a:moveTo>
                    <a:pt x="407214" y="78773"/>
                  </a:moveTo>
                  <a:lnTo>
                    <a:pt x="290214" y="78773"/>
                  </a:lnTo>
                  <a:lnTo>
                    <a:pt x="337126" y="87652"/>
                  </a:lnTo>
                  <a:lnTo>
                    <a:pt x="379303" y="106624"/>
                  </a:lnTo>
                  <a:lnTo>
                    <a:pt x="415333" y="134318"/>
                  </a:lnTo>
                  <a:lnTo>
                    <a:pt x="443806" y="169362"/>
                  </a:lnTo>
                  <a:lnTo>
                    <a:pt x="463312" y="210384"/>
                  </a:lnTo>
                  <a:lnTo>
                    <a:pt x="472442" y="256013"/>
                  </a:lnTo>
                  <a:lnTo>
                    <a:pt x="512937" y="256013"/>
                  </a:lnTo>
                  <a:lnTo>
                    <a:pt x="504666" y="207638"/>
                  </a:lnTo>
                  <a:lnTo>
                    <a:pt x="486671" y="163247"/>
                  </a:lnTo>
                  <a:lnTo>
                    <a:pt x="460076" y="123936"/>
                  </a:lnTo>
                  <a:lnTo>
                    <a:pt x="426007" y="90800"/>
                  </a:lnTo>
                  <a:lnTo>
                    <a:pt x="407214" y="78773"/>
                  </a:lnTo>
                  <a:close/>
                </a:path>
                <a:path w="553719" h="538479">
                  <a:moveTo>
                    <a:pt x="290214" y="136802"/>
                  </a:moveTo>
                  <a:lnTo>
                    <a:pt x="263217" y="136802"/>
                  </a:lnTo>
                  <a:lnTo>
                    <a:pt x="263217" y="190368"/>
                  </a:lnTo>
                  <a:lnTo>
                    <a:pt x="290214" y="190368"/>
                  </a:lnTo>
                  <a:lnTo>
                    <a:pt x="290214" y="136802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lang="en-US" dirty="0"/>
            </a:p>
          </p:txBody>
        </p:sp>
      </p:grpSp>
      <p:grpSp>
        <p:nvGrpSpPr>
          <p:cNvPr id="27" name="object 27">
            <a:extLst>
              <a:ext uri="{FC87A907-D38C-4B01-996D-A4AEDE5AA26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30CB121-BF7E-471E-9632-1C8637198FDA}"/>
              </a:ext>
            </a:extLst>
          </p:cNvPr>
          <p:cNvGrpSpPr/>
          <p:nvPr/>
        </p:nvGrpSpPr>
        <p:grpSpPr>
          <a:xfrm>
            <a:off x="835152" y="2737103"/>
            <a:ext cx="1251584" cy="1187450"/>
            <a:chOff x="835152" y="2737103"/>
            <a:chExt cx="1251584" cy="1187450"/>
          </a:xfrm>
        </p:grpSpPr>
        <p:sp>
          <p:nvSpPr>
            <p:cNvPr id="28" name="object 28">
              <a:extLst>
                <a:ext uri="{84DA661F-FA20-4E05-A0A5-C9C644C12C7C}">
  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CED49E63-CCD1-4306-B364-D790F97FF1D7}"/>
                </a:ext>
              </a:extLst>
            </p:cNvPr>
            <p:cNvSpPr/>
            <p:nvPr/>
          </p:nvSpPr>
          <p:spPr>
            <a:xfrm>
              <a:off x="835152" y="2737103"/>
              <a:ext cx="1251584" cy="1187450"/>
            </a:xfrm>
            <a:custGeom>
              <a:avLst/>
              <a:gdLst/>
              <a:ahLst/>
              <a:cxnLst/>
              <a:rect l="0" t="0" r="r" b="b"/>
              <a:pathLst>
                <a:path w="1251585" h="1187450">
                  <a:moveTo>
                    <a:pt x="1251204" y="0"/>
                  </a:moveTo>
                  <a:lnTo>
                    <a:pt x="0" y="0"/>
                  </a:lnTo>
                  <a:lnTo>
                    <a:pt x="0" y="1187196"/>
                  </a:lnTo>
                  <a:lnTo>
                    <a:pt x="1251204" y="1187196"/>
                  </a:lnTo>
                  <a:lnTo>
                    <a:pt x="1251204" y="0"/>
                  </a:lnTo>
                  <a:close/>
                </a:path>
              </a:pathLst>
            </a:custGeom>
            <a:solidFill>
              <a:srgbClr val="F9C090"/>
            </a:solidFill>
          </p:spPr>
          <p:txBody>
            <a:bodyPr wrap="square" lIns="0" tIns="0" rIns="0" bIns="0" rtlCol="0"/>
            <a:lstStyle/>
            <a:p>
              <a:endParaRPr lang="en-US" dirty="0"/>
            </a:p>
          </p:txBody>
        </p:sp>
        <p:pic>
          <p:nvPicPr>
            <p:cNvPr id="29" name="object 29">
              <a:extLst>
                <a:ext uri="{13E6C9C3-048C-4DF6-A834-F501D3182464}">
  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5F9FCBE-62E5-42BA-90D1-E9892785D8BE}"/>
                </a:ext>
              </a:extLst>
            </p:cNvPr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1112433" y="3646929"/>
              <a:ext cx="195214" cy="192805"/>
            </a:xfrm>
            <a:prstGeom prst="rect">
              <a:avLst/>
            </a:prstGeom>
            <a:noFill/>
          </p:spPr>
        </p:pic>
        <p:sp>
          <p:nvSpPr>
            <p:cNvPr id="30" name="object 30">
              <a:extLst>
                <a:ext uri="{86CB2187-6156-431D-A889-A73EDAEDB81C}">
  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AC08D1BF-6E09-4B85-A54B-7BEB8C61B208}"/>
                </a:ext>
              </a:extLst>
            </p:cNvPr>
            <p:cNvSpPr/>
            <p:nvPr/>
          </p:nvSpPr>
          <p:spPr>
            <a:xfrm>
              <a:off x="1012241" y="3209153"/>
              <a:ext cx="258444" cy="426084"/>
            </a:xfrm>
            <a:custGeom>
              <a:avLst/>
              <a:gdLst/>
              <a:ahLst/>
              <a:cxnLst/>
              <a:rect l="0" t="0" r="r" b="b"/>
              <a:pathLst>
                <a:path w="258444" h="426085">
                  <a:moveTo>
                    <a:pt x="130005" y="0"/>
                  </a:moveTo>
                  <a:lnTo>
                    <a:pt x="66387" y="13403"/>
                  </a:lnTo>
                  <a:lnTo>
                    <a:pt x="17454" y="60047"/>
                  </a:lnTo>
                  <a:lnTo>
                    <a:pt x="410" y="135527"/>
                  </a:lnTo>
                  <a:lnTo>
                    <a:pt x="0" y="181282"/>
                  </a:lnTo>
                  <a:lnTo>
                    <a:pt x="4677" y="228865"/>
                  </a:lnTo>
                  <a:lnTo>
                    <a:pt x="14610" y="277691"/>
                  </a:lnTo>
                  <a:lnTo>
                    <a:pt x="29970" y="327176"/>
                  </a:lnTo>
                  <a:lnTo>
                    <a:pt x="50924" y="376736"/>
                  </a:lnTo>
                  <a:lnTo>
                    <a:pt x="77641" y="425787"/>
                  </a:lnTo>
                  <a:lnTo>
                    <a:pt x="237555" y="384927"/>
                  </a:lnTo>
                  <a:lnTo>
                    <a:pt x="231070" y="344550"/>
                  </a:lnTo>
                  <a:lnTo>
                    <a:pt x="232833" y="306558"/>
                  </a:lnTo>
                  <a:lnTo>
                    <a:pt x="239616" y="270147"/>
                  </a:lnTo>
                  <a:lnTo>
                    <a:pt x="248194" y="234512"/>
                  </a:lnTo>
                  <a:lnTo>
                    <a:pt x="255340" y="198849"/>
                  </a:lnTo>
                  <a:lnTo>
                    <a:pt x="252432" y="124220"/>
                  </a:lnTo>
                  <a:lnTo>
                    <a:pt x="235926" y="83646"/>
                  </a:lnTo>
                  <a:lnTo>
                    <a:pt x="205082" y="39825"/>
                  </a:lnTo>
                  <a:lnTo>
                    <a:pt x="158613" y="5992"/>
                  </a:lnTo>
                  <a:lnTo>
                    <a:pt x="130005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lang="en-US" dirty="0"/>
            </a:p>
          </p:txBody>
        </p:sp>
        <p:pic>
          <p:nvPicPr>
            <p:cNvPr id="31" name="object 31">
              <a:extLst>
                <a:ext uri="{0A833F75-FC95-429B-90F4-51B0F7507A34}">
  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2001521-270A-4515-8F93-409B8EFD7587}"/>
                </a:ext>
              </a:extLst>
            </p:cNvPr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1529097" y="3227693"/>
              <a:ext cx="213711" cy="205545"/>
            </a:xfrm>
            <a:prstGeom prst="rect">
              <a:avLst/>
            </a:prstGeom>
            <a:noFill/>
          </p:spPr>
        </p:pic>
        <p:sp>
          <p:nvSpPr>
            <p:cNvPr id="32" name="object 32">
              <a:extLst>
                <a:ext uri="{45289981-5FA1-45D7-AFA2-72533E8F39BE}">
  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E042658-C626-459D-9234-FE78457638DF}"/>
                </a:ext>
              </a:extLst>
            </p:cNvPr>
            <p:cNvSpPr/>
            <p:nvPr/>
          </p:nvSpPr>
          <p:spPr>
            <a:xfrm>
              <a:off x="1630315" y="2807520"/>
              <a:ext cx="283845" cy="427990"/>
            </a:xfrm>
            <a:custGeom>
              <a:avLst/>
              <a:gdLst/>
              <a:ahLst/>
              <a:cxnLst/>
              <a:rect l="0" t="0" r="r" b="b"/>
              <a:pathLst>
                <a:path w="283844" h="427989">
                  <a:moveTo>
                    <a:pt x="179096" y="0"/>
                  </a:moveTo>
                  <a:lnTo>
                    <a:pt x="122061" y="9754"/>
                  </a:lnTo>
                  <a:lnTo>
                    <a:pt x="58970" y="64038"/>
                  </a:lnTo>
                  <a:lnTo>
                    <a:pt x="34969" y="101210"/>
                  </a:lnTo>
                  <a:lnTo>
                    <a:pt x="22354" y="137907"/>
                  </a:lnTo>
                  <a:lnTo>
                    <a:pt x="17808" y="174343"/>
                  </a:lnTo>
                  <a:lnTo>
                    <a:pt x="18013" y="210732"/>
                  </a:lnTo>
                  <a:lnTo>
                    <a:pt x="19653" y="247289"/>
                  </a:lnTo>
                  <a:lnTo>
                    <a:pt x="19408" y="284228"/>
                  </a:lnTo>
                  <a:lnTo>
                    <a:pt x="13963" y="321762"/>
                  </a:lnTo>
                  <a:lnTo>
                    <a:pt x="0" y="360106"/>
                  </a:lnTo>
                  <a:lnTo>
                    <a:pt x="149217" y="427635"/>
                  </a:lnTo>
                  <a:lnTo>
                    <a:pt x="184849" y="383894"/>
                  </a:lnTo>
                  <a:lnTo>
                    <a:pt x="214907" y="338731"/>
                  </a:lnTo>
                  <a:lnTo>
                    <a:pt x="239446" y="292728"/>
                  </a:lnTo>
                  <a:lnTo>
                    <a:pt x="258519" y="246471"/>
                  </a:lnTo>
                  <a:lnTo>
                    <a:pt x="272181" y="200544"/>
                  </a:lnTo>
                  <a:lnTo>
                    <a:pt x="280486" y="155530"/>
                  </a:lnTo>
                  <a:lnTo>
                    <a:pt x="283488" y="112014"/>
                  </a:lnTo>
                  <a:lnTo>
                    <a:pt x="278146" y="78424"/>
                  </a:lnTo>
                  <a:lnTo>
                    <a:pt x="262871" y="48503"/>
                  </a:lnTo>
                  <a:lnTo>
                    <a:pt x="239026" y="24164"/>
                  </a:lnTo>
                  <a:lnTo>
                    <a:pt x="207977" y="7317"/>
                  </a:lnTo>
                  <a:lnTo>
                    <a:pt x="179096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lang="en-US" dirty="0"/>
            </a:p>
          </p:txBody>
        </p:sp>
        <p:pic>
          <p:nvPicPr>
            <p:cNvPr id="33" name="object 33">
              <a:extLst>
                <a:ext uri="{C7D403BC-6781-4F0C-A319-A16186255DF3}">
  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E854953-521F-4C63-867B-241B67773362}"/>
                </a:ext>
              </a:extLst>
            </p:cNvPr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1491792" y="3647296"/>
              <a:ext cx="232073" cy="203562"/>
            </a:xfrm>
            <a:prstGeom prst="rect">
              <a:avLst/>
            </a:prstGeom>
            <a:noFill/>
          </p:spPr>
        </p:pic>
        <p:pic>
          <p:nvPicPr>
            <p:cNvPr id="34" name="object 34">
              <a:extLst>
                <a:ext uri="{916DFA84-4C27-4949-AFDD-BB5836B5952A}">
  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B704B80-8EC7-4699-909D-983FEE9B34A5}"/>
                </a:ext>
              </a:extLst>
            </p:cNvPr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1335358" y="3773422"/>
              <a:ext cx="116359" cy="85633"/>
            </a:xfrm>
            <a:prstGeom prst="rect">
              <a:avLst/>
            </a:prstGeom>
            <a:noFill/>
          </p:spPr>
        </p:pic>
        <p:sp>
          <p:nvSpPr>
            <p:cNvPr id="35" name="object 35">
              <a:extLst>
                <a:ext uri="{D98955BD-EFDC-41B3-B68C-625BCA3AB7B5}">
  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8A9DE6F-47B1-4E72-899D-8DE4A3AFBB02}"/>
                </a:ext>
              </a:extLst>
            </p:cNvPr>
            <p:cNvSpPr/>
            <p:nvPr/>
          </p:nvSpPr>
          <p:spPr>
            <a:xfrm>
              <a:off x="1565886" y="3443122"/>
              <a:ext cx="283845" cy="178435"/>
            </a:xfrm>
            <a:custGeom>
              <a:avLst/>
              <a:gdLst/>
              <a:ahLst/>
              <a:cxnLst/>
              <a:rect l="0" t="0" r="r" b="b"/>
              <a:pathLst>
                <a:path w="283844" h="178435">
                  <a:moveTo>
                    <a:pt x="141744" y="0"/>
                  </a:moveTo>
                  <a:lnTo>
                    <a:pt x="0" y="134566"/>
                  </a:lnTo>
                  <a:lnTo>
                    <a:pt x="103086" y="134566"/>
                  </a:lnTo>
                  <a:lnTo>
                    <a:pt x="100877" y="156725"/>
                  </a:lnTo>
                  <a:lnTo>
                    <a:pt x="99607" y="164049"/>
                  </a:lnTo>
                  <a:lnTo>
                    <a:pt x="175505" y="177872"/>
                  </a:lnTo>
                  <a:lnTo>
                    <a:pt x="178782" y="156303"/>
                  </a:lnTo>
                  <a:lnTo>
                    <a:pt x="180401" y="134566"/>
                  </a:lnTo>
                  <a:lnTo>
                    <a:pt x="283488" y="134566"/>
                  </a:lnTo>
                  <a:lnTo>
                    <a:pt x="141744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lang="en-US" dirty="0"/>
            </a:p>
          </p:txBody>
        </p:sp>
      </p:grpSp>
      <p:grpSp>
        <p:nvGrpSpPr>
          <p:cNvPr id="36" name="object 16">
            <a:extLst>
              <a:ext uri="{74A407DE-F57C-46AE-B2BC-AE5893653FC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3F9B0CB-8183-416E-B242-45870B014133}"/>
              </a:ext>
            </a:extLst>
          </p:cNvPr>
          <p:cNvGrpSpPr/>
          <p:nvPr/>
        </p:nvGrpSpPr>
        <p:grpSpPr>
          <a:xfrm>
            <a:off x="795527" y="5074920"/>
            <a:ext cx="1290954" cy="1414780"/>
            <a:chOff x="795527" y="5074920"/>
            <a:chExt cx="1290954" cy="1414780"/>
          </a:xfrm>
        </p:grpSpPr>
        <p:sp>
          <p:nvSpPr>
            <p:cNvPr id="37" name="object 17">
              <a:extLst>
                <a:ext uri="{5CCB98FF-22C8-4BD5-AC5B-D3267F34B3E9}">
  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C08ABE5F-7B07-4388-9BF2-897EECF929DF}"/>
                </a:ext>
              </a:extLst>
            </p:cNvPr>
            <p:cNvSpPr/>
            <p:nvPr/>
          </p:nvSpPr>
          <p:spPr>
            <a:xfrm>
              <a:off x="795527" y="5074920"/>
              <a:ext cx="1290954" cy="1414780"/>
            </a:xfrm>
            <a:custGeom>
              <a:avLst/>
              <a:gdLst/>
              <a:ahLst/>
              <a:cxnLst/>
              <a:rect l="0" t="0" r="r" b="b"/>
              <a:pathLst>
                <a:path w="1290955" h="1414779">
                  <a:moveTo>
                    <a:pt x="1290828" y="0"/>
                  </a:moveTo>
                  <a:lnTo>
                    <a:pt x="0" y="0"/>
                  </a:lnTo>
                  <a:lnTo>
                    <a:pt x="0" y="1414272"/>
                  </a:lnTo>
                  <a:lnTo>
                    <a:pt x="1290828" y="1414272"/>
                  </a:lnTo>
                  <a:lnTo>
                    <a:pt x="1290828" y="0"/>
                  </a:lnTo>
                  <a:close/>
                </a:path>
              </a:pathLst>
            </a:custGeom>
            <a:solidFill>
              <a:srgbClr val="E6B8B8"/>
            </a:solidFill>
          </p:spPr>
          <p:txBody>
            <a:bodyPr wrap="square" lIns="0" tIns="0" rIns="0" bIns="0" rtlCol="0"/>
            <a:lstStyle/>
            <a:p>
              <a:endParaRPr lang="en-US" dirty="0"/>
            </a:p>
          </p:txBody>
        </p:sp>
        <p:sp>
          <p:nvSpPr>
            <p:cNvPr id="38" name="object 18">
              <a:extLst>
                <a:ext uri="{E90DE59D-D852-4E90-AFAF-DD9292996EE3}">
  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A846AAA7-FF0F-407C-AB67-6D01F57419A2}"/>
                </a:ext>
              </a:extLst>
            </p:cNvPr>
            <p:cNvSpPr/>
            <p:nvPr/>
          </p:nvSpPr>
          <p:spPr>
            <a:xfrm>
              <a:off x="1278750" y="5557151"/>
              <a:ext cx="304800" cy="702310"/>
            </a:xfrm>
            <a:custGeom>
              <a:avLst/>
              <a:gdLst/>
              <a:ahLst/>
              <a:cxnLst/>
              <a:rect l="0" t="0" r="r" b="b"/>
              <a:pathLst>
                <a:path w="304800" h="702310">
                  <a:moveTo>
                    <a:pt x="303060" y="657644"/>
                  </a:moveTo>
                  <a:lnTo>
                    <a:pt x="299669" y="642645"/>
                  </a:lnTo>
                  <a:lnTo>
                    <a:pt x="291871" y="630339"/>
                  </a:lnTo>
                  <a:lnTo>
                    <a:pt x="280644" y="621792"/>
                  </a:lnTo>
                  <a:lnTo>
                    <a:pt x="266966" y="618070"/>
                  </a:lnTo>
                  <a:lnTo>
                    <a:pt x="38163" y="618070"/>
                  </a:lnTo>
                  <a:lnTo>
                    <a:pt x="23406" y="622350"/>
                  </a:lnTo>
                  <a:lnTo>
                    <a:pt x="11696" y="632142"/>
                  </a:lnTo>
                  <a:lnTo>
                    <a:pt x="4203" y="646036"/>
                  </a:lnTo>
                  <a:lnTo>
                    <a:pt x="2070" y="662597"/>
                  </a:lnTo>
                  <a:lnTo>
                    <a:pt x="5448" y="677595"/>
                  </a:lnTo>
                  <a:lnTo>
                    <a:pt x="13246" y="689902"/>
                  </a:lnTo>
                  <a:lnTo>
                    <a:pt x="24485" y="698449"/>
                  </a:lnTo>
                  <a:lnTo>
                    <a:pt x="38163" y="702170"/>
                  </a:lnTo>
                  <a:lnTo>
                    <a:pt x="266966" y="702170"/>
                  </a:lnTo>
                  <a:lnTo>
                    <a:pt x="281711" y="697903"/>
                  </a:lnTo>
                  <a:lnTo>
                    <a:pt x="293420" y="688098"/>
                  </a:lnTo>
                  <a:lnTo>
                    <a:pt x="300926" y="674204"/>
                  </a:lnTo>
                  <a:lnTo>
                    <a:pt x="303060" y="657644"/>
                  </a:lnTo>
                  <a:close/>
                </a:path>
                <a:path w="304800" h="702310">
                  <a:moveTo>
                    <a:pt x="304457" y="146608"/>
                  </a:moveTo>
                  <a:lnTo>
                    <a:pt x="273075" y="129273"/>
                  </a:lnTo>
                  <a:lnTo>
                    <a:pt x="270941" y="121399"/>
                  </a:lnTo>
                  <a:lnTo>
                    <a:pt x="268338" y="113703"/>
                  </a:lnTo>
                  <a:lnTo>
                    <a:pt x="266065" y="108140"/>
                  </a:lnTo>
                  <a:lnTo>
                    <a:pt x="265277" y="106210"/>
                  </a:lnTo>
                  <a:lnTo>
                    <a:pt x="261772" y="98958"/>
                  </a:lnTo>
                  <a:lnTo>
                    <a:pt x="273075" y="62230"/>
                  </a:lnTo>
                  <a:lnTo>
                    <a:pt x="258978" y="46774"/>
                  </a:lnTo>
                  <a:lnTo>
                    <a:pt x="258851" y="46634"/>
                  </a:lnTo>
                  <a:lnTo>
                    <a:pt x="247548" y="34239"/>
                  </a:lnTo>
                  <a:lnTo>
                    <a:pt x="214045" y="46634"/>
                  </a:lnTo>
                  <a:lnTo>
                    <a:pt x="207416" y="42824"/>
                  </a:lnTo>
                  <a:lnTo>
                    <a:pt x="205943" y="42113"/>
                  </a:lnTo>
                  <a:lnTo>
                    <a:pt x="205943" y="166433"/>
                  </a:lnTo>
                  <a:lnTo>
                    <a:pt x="201764" y="189115"/>
                  </a:lnTo>
                  <a:lnTo>
                    <a:pt x="190360" y="207657"/>
                  </a:lnTo>
                  <a:lnTo>
                    <a:pt x="173456" y="220141"/>
                  </a:lnTo>
                  <a:lnTo>
                    <a:pt x="152755" y="224726"/>
                  </a:lnTo>
                  <a:lnTo>
                    <a:pt x="132067" y="220141"/>
                  </a:lnTo>
                  <a:lnTo>
                    <a:pt x="115163" y="207657"/>
                  </a:lnTo>
                  <a:lnTo>
                    <a:pt x="103759" y="189115"/>
                  </a:lnTo>
                  <a:lnTo>
                    <a:pt x="99580" y="166433"/>
                  </a:lnTo>
                  <a:lnTo>
                    <a:pt x="103759" y="143738"/>
                  </a:lnTo>
                  <a:lnTo>
                    <a:pt x="115163" y="125209"/>
                  </a:lnTo>
                  <a:lnTo>
                    <a:pt x="132067" y="112712"/>
                  </a:lnTo>
                  <a:lnTo>
                    <a:pt x="152755" y="108140"/>
                  </a:lnTo>
                  <a:lnTo>
                    <a:pt x="173329" y="112941"/>
                  </a:lnTo>
                  <a:lnTo>
                    <a:pt x="190131" y="125463"/>
                  </a:lnTo>
                  <a:lnTo>
                    <a:pt x="201549" y="143891"/>
                  </a:lnTo>
                  <a:lnTo>
                    <a:pt x="205943" y="166433"/>
                  </a:lnTo>
                  <a:lnTo>
                    <a:pt x="205943" y="42113"/>
                  </a:lnTo>
                  <a:lnTo>
                    <a:pt x="200571" y="39484"/>
                  </a:lnTo>
                  <a:lnTo>
                    <a:pt x="193560" y="36626"/>
                  </a:lnTo>
                  <a:lnTo>
                    <a:pt x="186397" y="34239"/>
                  </a:lnTo>
                  <a:lnTo>
                    <a:pt x="170713" y="0"/>
                  </a:lnTo>
                  <a:lnTo>
                    <a:pt x="135077" y="0"/>
                  </a:lnTo>
                  <a:lnTo>
                    <a:pt x="119253" y="34391"/>
                  </a:lnTo>
                  <a:lnTo>
                    <a:pt x="112064" y="36791"/>
                  </a:lnTo>
                  <a:lnTo>
                    <a:pt x="105016" y="39649"/>
                  </a:lnTo>
                  <a:lnTo>
                    <a:pt x="98145" y="42989"/>
                  </a:lnTo>
                  <a:lnTo>
                    <a:pt x="91478" y="46774"/>
                  </a:lnTo>
                  <a:lnTo>
                    <a:pt x="57975" y="34391"/>
                  </a:lnTo>
                  <a:lnTo>
                    <a:pt x="32448" y="62369"/>
                  </a:lnTo>
                  <a:lnTo>
                    <a:pt x="43078" y="99098"/>
                  </a:lnTo>
                  <a:lnTo>
                    <a:pt x="39471" y="106349"/>
                  </a:lnTo>
                  <a:lnTo>
                    <a:pt x="36322" y="113830"/>
                  </a:lnTo>
                  <a:lnTo>
                    <a:pt x="33616" y="121526"/>
                  </a:lnTo>
                  <a:lnTo>
                    <a:pt x="31381" y="129413"/>
                  </a:lnTo>
                  <a:lnTo>
                    <a:pt x="0" y="146608"/>
                  </a:lnTo>
                  <a:lnTo>
                    <a:pt x="0" y="185089"/>
                  </a:lnTo>
                  <a:lnTo>
                    <a:pt x="31381" y="202425"/>
                  </a:lnTo>
                  <a:lnTo>
                    <a:pt x="33540" y="210286"/>
                  </a:lnTo>
                  <a:lnTo>
                    <a:pt x="36156" y="217982"/>
                  </a:lnTo>
                  <a:lnTo>
                    <a:pt x="39204" y="225463"/>
                  </a:lnTo>
                  <a:lnTo>
                    <a:pt x="42684" y="232740"/>
                  </a:lnTo>
                  <a:lnTo>
                    <a:pt x="31381" y="269468"/>
                  </a:lnTo>
                  <a:lnTo>
                    <a:pt x="57975" y="297446"/>
                  </a:lnTo>
                  <a:lnTo>
                    <a:pt x="91478" y="284911"/>
                  </a:lnTo>
                  <a:lnTo>
                    <a:pt x="98107" y="288759"/>
                  </a:lnTo>
                  <a:lnTo>
                    <a:pt x="104940" y="292138"/>
                  </a:lnTo>
                  <a:lnTo>
                    <a:pt x="111950" y="295033"/>
                  </a:lnTo>
                  <a:lnTo>
                    <a:pt x="119126" y="297446"/>
                  </a:lnTo>
                  <a:lnTo>
                    <a:pt x="134810" y="331698"/>
                  </a:lnTo>
                  <a:lnTo>
                    <a:pt x="170446" y="331698"/>
                  </a:lnTo>
                  <a:lnTo>
                    <a:pt x="186258" y="298030"/>
                  </a:lnTo>
                  <a:lnTo>
                    <a:pt x="193319" y="295681"/>
                  </a:lnTo>
                  <a:lnTo>
                    <a:pt x="200228" y="292874"/>
                  </a:lnTo>
                  <a:lnTo>
                    <a:pt x="206959" y="289623"/>
                  </a:lnTo>
                  <a:lnTo>
                    <a:pt x="213512" y="285940"/>
                  </a:lnTo>
                  <a:lnTo>
                    <a:pt x="246888" y="298475"/>
                  </a:lnTo>
                  <a:lnTo>
                    <a:pt x="258254" y="285940"/>
                  </a:lnTo>
                  <a:lnTo>
                    <a:pt x="259181" y="284911"/>
                  </a:lnTo>
                  <a:lnTo>
                    <a:pt x="272415" y="270344"/>
                  </a:lnTo>
                  <a:lnTo>
                    <a:pt x="261112" y="233756"/>
                  </a:lnTo>
                  <a:lnTo>
                    <a:pt x="264731" y="226441"/>
                  </a:lnTo>
                  <a:lnTo>
                    <a:pt x="265455" y="224726"/>
                  </a:lnTo>
                  <a:lnTo>
                    <a:pt x="267957" y="218909"/>
                  </a:lnTo>
                  <a:lnTo>
                    <a:pt x="270789" y="211188"/>
                  </a:lnTo>
                  <a:lnTo>
                    <a:pt x="273215" y="203301"/>
                  </a:lnTo>
                  <a:lnTo>
                    <a:pt x="304457" y="186105"/>
                  </a:lnTo>
                  <a:lnTo>
                    <a:pt x="304457" y="146608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 lang="en-US" dirty="0"/>
            </a:p>
          </p:txBody>
        </p:sp>
        <p:pic>
          <p:nvPicPr>
            <p:cNvPr id="39" name="object 19">
              <a:extLst>
                <a:ext uri="{BBA4E20E-2ED4-4DD3-B7F7-DCC7E8D36582}">
  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AC1DD82-E445-488F-B940-D3D3B88FCBCA}"/>
                </a:ext>
              </a:extLst>
            </p:cNvPr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1348293" y="6317608"/>
              <a:ext cx="166048" cy="84090"/>
            </a:xfrm>
            <a:prstGeom prst="rect">
              <a:avLst/>
            </a:prstGeom>
            <a:noFill/>
          </p:spPr>
        </p:pic>
        <p:sp>
          <p:nvSpPr>
            <p:cNvPr id="40" name="object 20">
              <a:extLst>
                <a:ext uri="{6665FDE7-F8B3-49E7-A2AC-13E14CCC4C6F}">
  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F186A6B-7769-46E1-A613-676C422B1031}"/>
                </a:ext>
              </a:extLst>
            </p:cNvPr>
            <p:cNvSpPr/>
            <p:nvPr/>
          </p:nvSpPr>
          <p:spPr>
            <a:xfrm>
              <a:off x="1098612" y="5143537"/>
              <a:ext cx="664845" cy="973455"/>
            </a:xfrm>
            <a:custGeom>
              <a:avLst/>
              <a:gdLst/>
              <a:ahLst/>
              <a:cxnLst/>
              <a:rect l="0" t="0" r="r" b="b"/>
              <a:pathLst>
                <a:path w="664844" h="973454">
                  <a:moveTo>
                    <a:pt x="361873" y="29146"/>
                  </a:moveTo>
                  <a:lnTo>
                    <a:pt x="359791" y="17780"/>
                  </a:lnTo>
                  <a:lnTo>
                    <a:pt x="354088" y="8521"/>
                  </a:lnTo>
                  <a:lnTo>
                    <a:pt x="345643" y="2286"/>
                  </a:lnTo>
                  <a:lnTo>
                    <a:pt x="335292" y="0"/>
                  </a:lnTo>
                  <a:lnTo>
                    <a:pt x="324942" y="2286"/>
                  </a:lnTo>
                  <a:lnTo>
                    <a:pt x="316484" y="8521"/>
                  </a:lnTo>
                  <a:lnTo>
                    <a:pt x="310794" y="17780"/>
                  </a:lnTo>
                  <a:lnTo>
                    <a:pt x="308698" y="29146"/>
                  </a:lnTo>
                  <a:lnTo>
                    <a:pt x="308698" y="131165"/>
                  </a:lnTo>
                  <a:lnTo>
                    <a:pt x="310794" y="142519"/>
                  </a:lnTo>
                  <a:lnTo>
                    <a:pt x="316484" y="151777"/>
                  </a:lnTo>
                  <a:lnTo>
                    <a:pt x="324942" y="158026"/>
                  </a:lnTo>
                  <a:lnTo>
                    <a:pt x="335292" y="160312"/>
                  </a:lnTo>
                  <a:lnTo>
                    <a:pt x="345643" y="158026"/>
                  </a:lnTo>
                  <a:lnTo>
                    <a:pt x="354088" y="151777"/>
                  </a:lnTo>
                  <a:lnTo>
                    <a:pt x="359791" y="142519"/>
                  </a:lnTo>
                  <a:lnTo>
                    <a:pt x="361873" y="131165"/>
                  </a:lnTo>
                  <a:lnTo>
                    <a:pt x="361873" y="29146"/>
                  </a:lnTo>
                  <a:close/>
                </a:path>
                <a:path w="664844" h="973454">
                  <a:moveTo>
                    <a:pt x="664730" y="577278"/>
                  </a:moveTo>
                  <a:lnTo>
                    <a:pt x="660946" y="528434"/>
                  </a:lnTo>
                  <a:lnTo>
                    <a:pt x="651535" y="481634"/>
                  </a:lnTo>
                  <a:lnTo>
                    <a:pt x="636892" y="437299"/>
                  </a:lnTo>
                  <a:lnTo>
                    <a:pt x="617385" y="395846"/>
                  </a:lnTo>
                  <a:lnTo>
                    <a:pt x="593407" y="357682"/>
                  </a:lnTo>
                  <a:lnTo>
                    <a:pt x="588124" y="351205"/>
                  </a:lnTo>
                  <a:lnTo>
                    <a:pt x="588124" y="588060"/>
                  </a:lnTo>
                  <a:lnTo>
                    <a:pt x="588060" y="589813"/>
                  </a:lnTo>
                  <a:lnTo>
                    <a:pt x="582993" y="638263"/>
                  </a:lnTo>
                  <a:lnTo>
                    <a:pt x="570471" y="686435"/>
                  </a:lnTo>
                  <a:lnTo>
                    <a:pt x="552043" y="726998"/>
                  </a:lnTo>
                  <a:lnTo>
                    <a:pt x="527392" y="763384"/>
                  </a:lnTo>
                  <a:lnTo>
                    <a:pt x="506056" y="792937"/>
                  </a:lnTo>
                  <a:lnTo>
                    <a:pt x="486359" y="823785"/>
                  </a:lnTo>
                  <a:lnTo>
                    <a:pt x="468325" y="855840"/>
                  </a:lnTo>
                  <a:lnTo>
                    <a:pt x="452018" y="889012"/>
                  </a:lnTo>
                  <a:lnTo>
                    <a:pt x="212712" y="889012"/>
                  </a:lnTo>
                  <a:lnTo>
                    <a:pt x="178714" y="823582"/>
                  </a:lnTo>
                  <a:lnTo>
                    <a:pt x="137998" y="762952"/>
                  </a:lnTo>
                  <a:lnTo>
                    <a:pt x="124929" y="745337"/>
                  </a:lnTo>
                  <a:lnTo>
                    <a:pt x="113347" y="726567"/>
                  </a:lnTo>
                  <a:lnTo>
                    <a:pt x="94919" y="685990"/>
                  </a:lnTo>
                  <a:lnTo>
                    <a:pt x="82067" y="637857"/>
                  </a:lnTo>
                  <a:lnTo>
                    <a:pt x="76708" y="589813"/>
                  </a:lnTo>
                  <a:lnTo>
                    <a:pt x="76606" y="577278"/>
                  </a:lnTo>
                  <a:lnTo>
                    <a:pt x="81368" y="527799"/>
                  </a:lnTo>
                  <a:lnTo>
                    <a:pt x="93687" y="481012"/>
                  </a:lnTo>
                  <a:lnTo>
                    <a:pt x="112826" y="437972"/>
                  </a:lnTo>
                  <a:lnTo>
                    <a:pt x="138099" y="399427"/>
                  </a:lnTo>
                  <a:lnTo>
                    <a:pt x="168795" y="366141"/>
                  </a:lnTo>
                  <a:lnTo>
                    <a:pt x="204228" y="338861"/>
                  </a:lnTo>
                  <a:lnTo>
                    <a:pt x="243700" y="318350"/>
                  </a:lnTo>
                  <a:lnTo>
                    <a:pt x="286512" y="305358"/>
                  </a:lnTo>
                  <a:lnTo>
                    <a:pt x="331965" y="300659"/>
                  </a:lnTo>
                  <a:lnTo>
                    <a:pt x="377418" y="305358"/>
                  </a:lnTo>
                  <a:lnTo>
                    <a:pt x="420230" y="318350"/>
                  </a:lnTo>
                  <a:lnTo>
                    <a:pt x="459701" y="338861"/>
                  </a:lnTo>
                  <a:lnTo>
                    <a:pt x="495134" y="366141"/>
                  </a:lnTo>
                  <a:lnTo>
                    <a:pt x="525843" y="399427"/>
                  </a:lnTo>
                  <a:lnTo>
                    <a:pt x="551103" y="437972"/>
                  </a:lnTo>
                  <a:lnTo>
                    <a:pt x="570255" y="481012"/>
                  </a:lnTo>
                  <a:lnTo>
                    <a:pt x="582561" y="527799"/>
                  </a:lnTo>
                  <a:lnTo>
                    <a:pt x="587349" y="577570"/>
                  </a:lnTo>
                  <a:lnTo>
                    <a:pt x="588124" y="588060"/>
                  </a:lnTo>
                  <a:lnTo>
                    <a:pt x="588124" y="351205"/>
                  </a:lnTo>
                  <a:lnTo>
                    <a:pt x="541705" y="300659"/>
                  </a:lnTo>
                  <a:lnTo>
                    <a:pt x="498449" y="267081"/>
                  </a:lnTo>
                  <a:lnTo>
                    <a:pt x="460387" y="246214"/>
                  </a:lnTo>
                  <a:lnTo>
                    <a:pt x="419773" y="230708"/>
                  </a:lnTo>
                  <a:lnTo>
                    <a:pt x="376961" y="220980"/>
                  </a:lnTo>
                  <a:lnTo>
                    <a:pt x="332371" y="217449"/>
                  </a:lnTo>
                  <a:lnTo>
                    <a:pt x="287769" y="220980"/>
                  </a:lnTo>
                  <a:lnTo>
                    <a:pt x="244957" y="230708"/>
                  </a:lnTo>
                  <a:lnTo>
                    <a:pt x="204343" y="246214"/>
                  </a:lnTo>
                  <a:lnTo>
                    <a:pt x="166281" y="267068"/>
                  </a:lnTo>
                  <a:lnTo>
                    <a:pt x="131178" y="292887"/>
                  </a:lnTo>
                  <a:lnTo>
                    <a:pt x="99390" y="323227"/>
                  </a:lnTo>
                  <a:lnTo>
                    <a:pt x="71323" y="357682"/>
                  </a:lnTo>
                  <a:lnTo>
                    <a:pt x="47345" y="395846"/>
                  </a:lnTo>
                  <a:lnTo>
                    <a:pt x="27838" y="437299"/>
                  </a:lnTo>
                  <a:lnTo>
                    <a:pt x="13195" y="481634"/>
                  </a:lnTo>
                  <a:lnTo>
                    <a:pt x="3784" y="528434"/>
                  </a:lnTo>
                  <a:lnTo>
                    <a:pt x="0" y="577278"/>
                  </a:lnTo>
                  <a:lnTo>
                    <a:pt x="0" y="589813"/>
                  </a:lnTo>
                  <a:lnTo>
                    <a:pt x="6743" y="653910"/>
                  </a:lnTo>
                  <a:lnTo>
                    <a:pt x="23139" y="715873"/>
                  </a:lnTo>
                  <a:lnTo>
                    <a:pt x="47764" y="770509"/>
                  </a:lnTo>
                  <a:lnTo>
                    <a:pt x="80835" y="819492"/>
                  </a:lnTo>
                  <a:lnTo>
                    <a:pt x="103886" y="852068"/>
                  </a:lnTo>
                  <a:lnTo>
                    <a:pt x="125882" y="890574"/>
                  </a:lnTo>
                  <a:lnTo>
                    <a:pt x="144805" y="928154"/>
                  </a:lnTo>
                  <a:lnTo>
                    <a:pt x="158610" y="957948"/>
                  </a:lnTo>
                  <a:lnTo>
                    <a:pt x="162636" y="964374"/>
                  </a:lnTo>
                  <a:lnTo>
                    <a:pt x="168021" y="969251"/>
                  </a:lnTo>
                  <a:lnTo>
                    <a:pt x="174421" y="972337"/>
                  </a:lnTo>
                  <a:lnTo>
                    <a:pt x="181470" y="973391"/>
                  </a:lnTo>
                  <a:lnTo>
                    <a:pt x="483260" y="973391"/>
                  </a:lnTo>
                  <a:lnTo>
                    <a:pt x="519950" y="928141"/>
                  </a:lnTo>
                  <a:lnTo>
                    <a:pt x="538911" y="890524"/>
                  </a:lnTo>
                  <a:lnTo>
                    <a:pt x="539775" y="889012"/>
                  </a:lnTo>
                  <a:lnTo>
                    <a:pt x="560933" y="852004"/>
                  </a:lnTo>
                  <a:lnTo>
                    <a:pt x="583895" y="819492"/>
                  </a:lnTo>
                  <a:lnTo>
                    <a:pt x="601446" y="795782"/>
                  </a:lnTo>
                  <a:lnTo>
                    <a:pt x="616966" y="770509"/>
                  </a:lnTo>
                  <a:lnTo>
                    <a:pt x="641591" y="715873"/>
                  </a:lnTo>
                  <a:lnTo>
                    <a:pt x="657987" y="653910"/>
                  </a:lnTo>
                  <a:lnTo>
                    <a:pt x="664730" y="589813"/>
                  </a:lnTo>
                  <a:lnTo>
                    <a:pt x="664730" y="577278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 lang="en-US" dirty="0"/>
            </a:p>
          </p:txBody>
        </p:sp>
        <p:pic>
          <p:nvPicPr>
            <p:cNvPr id="41" name="object 21">
              <a:extLst>
                <a:ext uri="{E6B01D51-AEC3-452D-919E-0A067C82F2B6}">
  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A5FC03D-4417-47AC-8FED-77DA6D515BB4}"/>
                </a:ext>
              </a:extLst>
            </p:cNvPr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1045705" y="5310945"/>
              <a:ext cx="117943" cy="129486"/>
            </a:xfrm>
            <a:prstGeom prst="rect">
              <a:avLst/>
            </a:prstGeom>
            <a:noFill/>
          </p:spPr>
        </p:pic>
        <p:pic>
          <p:nvPicPr>
            <p:cNvPr id="42" name="object 22">
              <a:extLst>
                <a:ext uri="{6FECA9B8-E8D9-4A4E-BE83-4EB13DB027C8}">
  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5BB3132-1493-4924-B022-358B1FC8D5FE}"/>
                </a:ext>
              </a:extLst>
            </p:cNvPr>
            <p:cNvPicPr/>
            <p:nvPr/>
          </p:nvPicPr>
          <p:blipFill>
            <a:blip r:embed="rId12"/>
            <a:stretch>
              <a:fillRect/>
            </a:stretch>
          </p:blipFill>
          <p:spPr>
            <a:xfrm>
              <a:off x="1703905" y="5318474"/>
              <a:ext cx="116331" cy="127978"/>
            </a:xfrm>
            <a:prstGeom prst="rect">
              <a:avLst/>
            </a:prstGeom>
            <a:noFill/>
          </p:spPr>
        </p:pic>
        <p:sp>
          <p:nvSpPr>
            <p:cNvPr id="43" name="object 23">
              <a:extLst>
                <a:ext uri="{6C057AAB-8CBB-4482-BF3C-E167BE5E2431}">
  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BC63755-BCF6-4F64-9A35-5398F9748162}"/>
                </a:ext>
              </a:extLst>
            </p:cNvPr>
            <p:cNvSpPr/>
            <p:nvPr/>
          </p:nvSpPr>
          <p:spPr>
            <a:xfrm>
              <a:off x="901330" y="5690055"/>
              <a:ext cx="146685" cy="58419"/>
            </a:xfrm>
            <a:custGeom>
              <a:avLst/>
              <a:gdLst/>
              <a:ahLst/>
              <a:cxnLst/>
              <a:rect l="0" t="0" r="r" b="b"/>
              <a:pathLst>
                <a:path w="146684" h="58420">
                  <a:moveTo>
                    <a:pt x="119650" y="0"/>
                  </a:moveTo>
                  <a:lnTo>
                    <a:pt x="26589" y="0"/>
                  </a:lnTo>
                  <a:lnTo>
                    <a:pt x="0" y="29147"/>
                  </a:lnTo>
                  <a:lnTo>
                    <a:pt x="2090" y="40496"/>
                  </a:lnTo>
                  <a:lnTo>
                    <a:pt x="7789" y="49760"/>
                  </a:lnTo>
                  <a:lnTo>
                    <a:pt x="16241" y="56005"/>
                  </a:lnTo>
                  <a:lnTo>
                    <a:pt x="26589" y="58295"/>
                  </a:lnTo>
                  <a:lnTo>
                    <a:pt x="119650" y="58295"/>
                  </a:lnTo>
                  <a:lnTo>
                    <a:pt x="130003" y="56005"/>
                  </a:lnTo>
                  <a:lnTo>
                    <a:pt x="138454" y="49760"/>
                  </a:lnTo>
                  <a:lnTo>
                    <a:pt x="144151" y="40496"/>
                  </a:lnTo>
                  <a:lnTo>
                    <a:pt x="146240" y="29147"/>
                  </a:lnTo>
                  <a:lnTo>
                    <a:pt x="144151" y="17804"/>
                  </a:lnTo>
                  <a:lnTo>
                    <a:pt x="138454" y="8539"/>
                  </a:lnTo>
                  <a:lnTo>
                    <a:pt x="130003" y="2291"/>
                  </a:lnTo>
                  <a:lnTo>
                    <a:pt x="119650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 lang="en-US" dirty="0"/>
            </a:p>
          </p:txBody>
        </p:sp>
        <p:pic>
          <p:nvPicPr>
            <p:cNvPr id="44" name="object 24">
              <a:extLst>
                <a:ext uri="{5F24F7C6-5420-43B4-AA5B-65C30EC78FB6}">
  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6E0068A-9779-49C4-8023-0A259FC871A9}"/>
                </a:ext>
              </a:extLst>
            </p:cNvPr>
            <p:cNvPicPr/>
            <p:nvPr/>
          </p:nvPicPr>
          <p:blipFill>
            <a:blip r:embed="rId13"/>
            <a:stretch>
              <a:fillRect/>
            </a:stretch>
          </p:blipFill>
          <p:spPr>
            <a:xfrm>
              <a:off x="1043405" y="5998430"/>
              <a:ext cx="118827" cy="131074"/>
            </a:xfrm>
            <a:prstGeom prst="rect">
              <a:avLst/>
            </a:prstGeom>
            <a:noFill/>
          </p:spPr>
        </p:pic>
        <p:pic>
          <p:nvPicPr>
            <p:cNvPr id="45" name="object 25">
              <a:extLst>
                <a:ext uri="{16EF5BBA-6E86-4990-886F-E046E8596C15}">
  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8B6D0FB-7743-4021-9E39-84DD499C7DA3}"/>
                </a:ext>
              </a:extLst>
            </p:cNvPr>
            <p:cNvPicPr/>
            <p:nvPr/>
          </p:nvPicPr>
          <p:blipFill>
            <a:blip r:embed="rId14"/>
            <a:stretch>
              <a:fillRect/>
            </a:stretch>
          </p:blipFill>
          <p:spPr>
            <a:xfrm>
              <a:off x="1703628" y="5990320"/>
              <a:ext cx="122050" cy="133913"/>
            </a:xfrm>
            <a:prstGeom prst="rect">
              <a:avLst/>
            </a:prstGeom>
            <a:noFill/>
          </p:spPr>
        </p:pic>
        <p:sp>
          <p:nvSpPr>
            <p:cNvPr id="46" name="object 26">
              <a:extLst>
                <a:ext uri="{D2AB0F3F-21DC-436C-9D5A-06C5B75B9EE1}">
  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B13DB195-5FFD-47F5-944D-37D0BE1DE166}"/>
                </a:ext>
              </a:extLst>
            </p:cNvPr>
            <p:cNvSpPr/>
            <p:nvPr/>
          </p:nvSpPr>
          <p:spPr>
            <a:xfrm>
              <a:off x="1815330" y="5689035"/>
              <a:ext cx="146685" cy="58419"/>
            </a:xfrm>
            <a:custGeom>
              <a:avLst/>
              <a:gdLst/>
              <a:ahLst/>
              <a:cxnLst/>
              <a:rect l="0" t="0" r="r" b="b"/>
              <a:pathLst>
                <a:path w="146685" h="58420">
                  <a:moveTo>
                    <a:pt x="119650" y="0"/>
                  </a:moveTo>
                  <a:lnTo>
                    <a:pt x="26589" y="0"/>
                  </a:lnTo>
                  <a:lnTo>
                    <a:pt x="0" y="29147"/>
                  </a:lnTo>
                  <a:lnTo>
                    <a:pt x="2088" y="40496"/>
                  </a:lnTo>
                  <a:lnTo>
                    <a:pt x="7785" y="49760"/>
                  </a:lnTo>
                  <a:lnTo>
                    <a:pt x="16237" y="56005"/>
                  </a:lnTo>
                  <a:lnTo>
                    <a:pt x="26589" y="58295"/>
                  </a:lnTo>
                  <a:lnTo>
                    <a:pt x="119650" y="58295"/>
                  </a:lnTo>
                  <a:lnTo>
                    <a:pt x="130021" y="56005"/>
                  </a:lnTo>
                  <a:lnTo>
                    <a:pt x="138471" y="49760"/>
                  </a:lnTo>
                  <a:lnTo>
                    <a:pt x="144157" y="40496"/>
                  </a:lnTo>
                  <a:lnTo>
                    <a:pt x="146240" y="29147"/>
                  </a:lnTo>
                  <a:lnTo>
                    <a:pt x="144157" y="17804"/>
                  </a:lnTo>
                  <a:lnTo>
                    <a:pt x="138471" y="8539"/>
                  </a:lnTo>
                  <a:lnTo>
                    <a:pt x="130021" y="2291"/>
                  </a:lnTo>
                  <a:lnTo>
                    <a:pt x="119650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airam 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6700"/>
            <a:ext cx="2626360" cy="838200"/>
          </a:xfrm>
          <a:prstGeom prst="rect">
            <a:avLst/>
          </a:prstGeom>
        </p:spPr>
      </p:pic>
      <p:pic>
        <p:nvPicPr>
          <p:cNvPr id="9" name="Picture 8" descr="Sairam innovation 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9603" y="266700"/>
            <a:ext cx="2132350" cy="838200"/>
          </a:xfrm>
          <a:prstGeom prst="rect">
            <a:avLst/>
          </a:prstGeom>
        </p:spPr>
      </p:pic>
      <p:pic>
        <p:nvPicPr>
          <p:cNvPr id="10" name="Picture 9" descr="Chairman sir 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8800" y="9182102"/>
            <a:ext cx="876300" cy="886733"/>
          </a:xfrm>
          <a:prstGeom prst="rect">
            <a:avLst/>
          </a:prstGeom>
        </p:spPr>
      </p:pic>
      <p:graphicFrame>
        <p:nvGraphicFramePr>
          <p:cNvPr id="6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357762"/>
              </p:ext>
            </p:extLst>
          </p:nvPr>
        </p:nvGraphicFramePr>
        <p:xfrm>
          <a:off x="685800" y="1333500"/>
          <a:ext cx="15531788" cy="6360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75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58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0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49424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400" b="1" spc="-12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Open Sans" panose="020B0606030504020204" pitchFamily="34" charset="0"/>
                        </a:rPr>
                        <a:t>CONTEXT</a:t>
                      </a:r>
                      <a:endParaRPr sz="1400" dirty="0">
                        <a:latin typeface="Verdana" panose="020B0604030504040204" pitchFamily="34" charset="0"/>
                        <a:ea typeface="Verdana" panose="020B0604030504040204" pitchFamily="34" charset="0"/>
                        <a:cs typeface="Open Sans" panose="020B0606030504020204" pitchFamily="34" charset="0"/>
                      </a:endParaRPr>
                    </a:p>
                    <a:p>
                      <a:pPr marL="85090" algn="just">
                        <a:lnSpc>
                          <a:spcPct val="100000"/>
                        </a:lnSpc>
                      </a:pPr>
                      <a:r>
                        <a:rPr lang="en-US" sz="1400" spc="-65" dirty="0">
                          <a:latin typeface="Verdana"/>
                        </a:rPr>
                        <a:t>When</a:t>
                      </a:r>
                      <a:r>
                        <a:rPr lang="en-US" sz="1400" spc="-270" dirty="0">
                          <a:latin typeface="Verdana"/>
                        </a:rPr>
                        <a:t> </a:t>
                      </a:r>
                      <a:r>
                        <a:rPr lang="en-US" sz="1400" spc="-40" dirty="0">
                          <a:latin typeface="Verdana"/>
                        </a:rPr>
                        <a:t>does</a:t>
                      </a:r>
                      <a:r>
                        <a:rPr lang="en-US" sz="1400" spc="-55" dirty="0">
                          <a:latin typeface="Verdana"/>
                        </a:rPr>
                        <a:t> </a:t>
                      </a:r>
                      <a:r>
                        <a:rPr lang="en-US" sz="1400" spc="-20" dirty="0">
                          <a:latin typeface="Verdana"/>
                        </a:rPr>
                        <a:t>the</a:t>
                      </a:r>
                      <a:r>
                        <a:rPr lang="en-US" sz="1400" spc="-40" dirty="0">
                          <a:latin typeface="Verdana"/>
                        </a:rPr>
                        <a:t> </a:t>
                      </a:r>
                      <a:r>
                        <a:rPr lang="en-US" sz="1400" spc="-85" dirty="0">
                          <a:latin typeface="Verdana"/>
                        </a:rPr>
                        <a:t>problem</a:t>
                      </a:r>
                      <a:r>
                        <a:rPr lang="en-US" sz="1400" spc="-260" dirty="0">
                          <a:latin typeface="Verdana"/>
                        </a:rPr>
                        <a:t> </a:t>
                      </a:r>
                      <a:r>
                        <a:rPr lang="en-US" sz="1400" spc="-10" dirty="0">
                          <a:latin typeface="Verdana"/>
                        </a:rPr>
                        <a:t>occur?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lang="en-US" sz="1400" spc="-10" dirty="0">
                        <a:latin typeface="Verdana"/>
                      </a:endParaRPr>
                    </a:p>
                    <a:p>
                      <a:pPr marL="85090" marR="323215" algn="just">
                        <a:lnSpc>
                          <a:spcPct val="100000"/>
                        </a:lnSpc>
                      </a:pPr>
                      <a:r>
                        <a:rPr lang="en-US" sz="1400" dirty="0">
                          <a:latin typeface="Verdana"/>
                        </a:rPr>
                        <a:t>In</a:t>
                      </a:r>
                      <a:r>
                        <a:rPr lang="en-US" sz="1400" spc="-20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public</a:t>
                      </a:r>
                      <a:r>
                        <a:rPr lang="en-US" sz="1400" spc="-55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spaces</a:t>
                      </a:r>
                      <a:r>
                        <a:rPr lang="en-US" sz="1400" spc="-45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like</a:t>
                      </a:r>
                      <a:r>
                        <a:rPr lang="en-US" sz="1400" spc="-35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hospitals,</a:t>
                      </a:r>
                      <a:r>
                        <a:rPr lang="en-US" sz="1400" spc="-55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airports,</a:t>
                      </a:r>
                      <a:r>
                        <a:rPr lang="en-US" sz="1400" spc="-40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and</a:t>
                      </a:r>
                      <a:r>
                        <a:rPr lang="en-US" sz="1400" spc="-15" dirty="0">
                          <a:latin typeface="Verdana"/>
                        </a:rPr>
                        <a:t> </a:t>
                      </a:r>
                      <a:r>
                        <a:rPr lang="en-US" sz="1400" spc="-10" dirty="0">
                          <a:latin typeface="Verdana"/>
                        </a:rPr>
                        <a:t>schools, </a:t>
                      </a:r>
                      <a:r>
                        <a:rPr lang="en-US" sz="1400" dirty="0">
                          <a:latin typeface="Verdana"/>
                        </a:rPr>
                        <a:t>where</a:t>
                      </a:r>
                      <a:r>
                        <a:rPr lang="en-US" sz="1400" spc="-45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guided</a:t>
                      </a:r>
                      <a:r>
                        <a:rPr lang="en-US" sz="1400" spc="-55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assistance,</a:t>
                      </a:r>
                      <a:r>
                        <a:rPr lang="en-US" sz="1400" spc="-70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navigation,</a:t>
                      </a:r>
                      <a:r>
                        <a:rPr lang="en-US" sz="1400" spc="-65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and</a:t>
                      </a:r>
                      <a:r>
                        <a:rPr lang="en-US" sz="1400" spc="-45" dirty="0">
                          <a:latin typeface="Verdana"/>
                        </a:rPr>
                        <a:t> </a:t>
                      </a:r>
                      <a:r>
                        <a:rPr lang="en-US" sz="1400" spc="-10" dirty="0">
                          <a:latin typeface="Verdana"/>
                        </a:rPr>
                        <a:t>attendance </a:t>
                      </a:r>
                      <a:r>
                        <a:rPr lang="en-US" sz="1400" dirty="0">
                          <a:latin typeface="Verdana"/>
                        </a:rPr>
                        <a:t>tracking</a:t>
                      </a:r>
                      <a:r>
                        <a:rPr lang="en-US" sz="1400" spc="-45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are</a:t>
                      </a:r>
                      <a:r>
                        <a:rPr lang="en-US" sz="1400" spc="-35" dirty="0">
                          <a:latin typeface="Verdana"/>
                        </a:rPr>
                        <a:t> </a:t>
                      </a:r>
                      <a:r>
                        <a:rPr lang="en-US" sz="1400" spc="-10" dirty="0">
                          <a:latin typeface="Verdana"/>
                        </a:rPr>
                        <a:t>needed.</a:t>
                      </a:r>
                    </a:p>
                  </a:txBody>
                  <a:tcPr marL="0" marR="0" marT="82683" marB="0">
                    <a:lnL w="9525">
                      <a:solidFill>
                        <a:srgbClr val="FBBD00"/>
                      </a:solidFill>
                      <a:prstDash val="solid"/>
                    </a:lnL>
                    <a:lnR w="12700">
                      <a:solidFill>
                        <a:srgbClr val="FBBD00"/>
                      </a:solidFill>
                      <a:prstDash val="solid"/>
                    </a:lnR>
                    <a:lnT w="9525">
                      <a:solidFill>
                        <a:srgbClr val="FBBD00"/>
                      </a:solidFill>
                      <a:prstDash val="solid"/>
                    </a:lnT>
                    <a:lnB w="9525">
                      <a:solidFill>
                        <a:srgbClr val="FBB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400" b="1" spc="-13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Open Sans" panose="020B0606030504020204" pitchFamily="34" charset="0"/>
                        </a:rPr>
                        <a:t>PROBLEM</a:t>
                      </a:r>
                      <a:endParaRPr sz="1400" dirty="0">
                        <a:latin typeface="Verdana" panose="020B0604030504040204" pitchFamily="34" charset="0"/>
                        <a:ea typeface="Verdana" panose="020B0604030504040204" pitchFamily="34" charset="0"/>
                        <a:cs typeface="Open Sans" panose="020B0606030504020204" pitchFamily="34" charset="0"/>
                      </a:endParaRPr>
                    </a:p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lang="en-US" sz="1400" spc="-20" dirty="0">
                          <a:latin typeface="Verdana"/>
                        </a:rPr>
                        <a:t>What</a:t>
                      </a:r>
                      <a:r>
                        <a:rPr lang="en-US" sz="1400" spc="-105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is</a:t>
                      </a:r>
                      <a:r>
                        <a:rPr lang="en-US" sz="1400" spc="-120" dirty="0">
                          <a:latin typeface="Verdana"/>
                        </a:rPr>
                        <a:t> </a:t>
                      </a:r>
                      <a:r>
                        <a:rPr lang="en-US" sz="1400" spc="-10" dirty="0">
                          <a:latin typeface="Verdana"/>
                        </a:rPr>
                        <a:t>the</a:t>
                      </a:r>
                      <a:r>
                        <a:rPr lang="en-US" sz="1400" spc="-100" dirty="0">
                          <a:latin typeface="Verdana"/>
                        </a:rPr>
                        <a:t> </a:t>
                      </a:r>
                      <a:r>
                        <a:rPr lang="en-US" sz="1400" spc="-20" dirty="0">
                          <a:latin typeface="Verdana"/>
                        </a:rPr>
                        <a:t>root</a:t>
                      </a:r>
                      <a:r>
                        <a:rPr lang="en-US" sz="1400" spc="-85" dirty="0">
                          <a:latin typeface="Verdana"/>
                        </a:rPr>
                        <a:t> </a:t>
                      </a:r>
                      <a:r>
                        <a:rPr lang="en-US" sz="1400" spc="-40" dirty="0">
                          <a:latin typeface="Verdana"/>
                        </a:rPr>
                        <a:t>cause</a:t>
                      </a:r>
                      <a:r>
                        <a:rPr lang="en-US" sz="1400" spc="-50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of</a:t>
                      </a:r>
                      <a:r>
                        <a:rPr lang="en-US" sz="1400" spc="-90" dirty="0">
                          <a:latin typeface="Verdana"/>
                        </a:rPr>
                        <a:t> </a:t>
                      </a:r>
                      <a:r>
                        <a:rPr lang="en-US" sz="1400" spc="-40" dirty="0">
                          <a:latin typeface="Verdana"/>
                        </a:rPr>
                        <a:t>the</a:t>
                      </a:r>
                      <a:r>
                        <a:rPr lang="en-US" sz="1400" spc="-145" dirty="0">
                          <a:latin typeface="Verdana"/>
                        </a:rPr>
                        <a:t> </a:t>
                      </a:r>
                      <a:r>
                        <a:rPr lang="en-US" sz="1400" spc="-10" dirty="0">
                          <a:latin typeface="Verdana"/>
                        </a:rPr>
                        <a:t>problem?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lang="en-US" sz="1400" spc="-10" dirty="0">
                        <a:latin typeface="Verdana"/>
                      </a:endParaRPr>
                    </a:p>
                    <a:p>
                      <a:pPr marL="83820" marR="120650">
                        <a:lnSpc>
                          <a:spcPct val="100000"/>
                        </a:lnSpc>
                      </a:pPr>
                      <a:r>
                        <a:rPr lang="en-US" sz="1400" dirty="0">
                          <a:latin typeface="Verdana"/>
                        </a:rPr>
                        <a:t>Manual</a:t>
                      </a:r>
                      <a:r>
                        <a:rPr lang="en-US" sz="1400" spc="-40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systems</a:t>
                      </a:r>
                      <a:r>
                        <a:rPr lang="en-US" sz="1400" spc="-45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are</a:t>
                      </a:r>
                      <a:r>
                        <a:rPr lang="en-US" sz="1400" spc="-25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inefficient</a:t>
                      </a:r>
                      <a:r>
                        <a:rPr lang="en-US" sz="1400" spc="-50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and</a:t>
                      </a:r>
                      <a:r>
                        <a:rPr lang="en-US" sz="1400" spc="-25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prone</a:t>
                      </a:r>
                      <a:r>
                        <a:rPr lang="en-US" sz="1400" spc="-20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to</a:t>
                      </a:r>
                      <a:r>
                        <a:rPr lang="en-US" sz="1400" spc="-5" dirty="0">
                          <a:latin typeface="Verdana"/>
                        </a:rPr>
                        <a:t> </a:t>
                      </a:r>
                      <a:r>
                        <a:rPr lang="en-US" sz="1400" spc="-10" dirty="0">
                          <a:latin typeface="Verdana"/>
                        </a:rPr>
                        <a:t>errors, </a:t>
                      </a:r>
                      <a:r>
                        <a:rPr lang="en-US" sz="1400" dirty="0">
                          <a:latin typeface="Verdana"/>
                        </a:rPr>
                        <a:t>lacking</a:t>
                      </a:r>
                      <a:r>
                        <a:rPr lang="en-US" sz="1400" spc="-65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accessibility</a:t>
                      </a:r>
                      <a:r>
                        <a:rPr lang="en-US" sz="1400" spc="-65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features</a:t>
                      </a:r>
                      <a:r>
                        <a:rPr lang="en-US" sz="1400" spc="-45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for</a:t>
                      </a:r>
                      <a:r>
                        <a:rPr lang="en-US" sz="1400" spc="-40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elderly</a:t>
                      </a:r>
                      <a:r>
                        <a:rPr lang="en-US" sz="1400" spc="-65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and</a:t>
                      </a:r>
                      <a:r>
                        <a:rPr lang="en-US" sz="1400" spc="-25" dirty="0">
                          <a:latin typeface="Verdana"/>
                        </a:rPr>
                        <a:t> </a:t>
                      </a:r>
                      <a:r>
                        <a:rPr lang="en-US" sz="1400" spc="-10" dirty="0">
                          <a:latin typeface="Verdana"/>
                        </a:rPr>
                        <a:t>differently- </a:t>
                      </a:r>
                      <a:r>
                        <a:rPr lang="en-US" sz="1400" dirty="0">
                          <a:latin typeface="Verdana"/>
                        </a:rPr>
                        <a:t>abled</a:t>
                      </a:r>
                      <a:r>
                        <a:rPr lang="en-US" sz="1400" spc="-55" dirty="0">
                          <a:latin typeface="Verdana"/>
                        </a:rPr>
                        <a:t> </a:t>
                      </a:r>
                      <a:r>
                        <a:rPr lang="en-US" sz="1400" spc="-10" dirty="0">
                          <a:latin typeface="Verdana"/>
                        </a:rPr>
                        <a:t>individuals.</a:t>
                      </a:r>
                    </a:p>
                  </a:txBody>
                  <a:tcPr marL="0" marR="0" marT="82683" marB="0">
                    <a:lnL w="12700">
                      <a:solidFill>
                        <a:srgbClr val="FBBD00"/>
                      </a:solidFill>
                      <a:prstDash val="solid"/>
                    </a:lnL>
                    <a:lnR w="9525">
                      <a:solidFill>
                        <a:srgbClr val="FBBD00"/>
                      </a:solidFill>
                      <a:prstDash val="solid"/>
                    </a:lnR>
                    <a:lnT w="9525">
                      <a:solidFill>
                        <a:srgbClr val="FBBD00"/>
                      </a:solidFill>
                      <a:prstDash val="solid"/>
                    </a:lnT>
                    <a:lnB w="9525">
                      <a:solidFill>
                        <a:srgbClr val="FBB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400" b="1" spc="-13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Open Sans" panose="020B0606030504020204" pitchFamily="34" charset="0"/>
                        </a:rPr>
                        <a:t>ALTERNATIVES</a:t>
                      </a:r>
                      <a:endParaRPr sz="1400" dirty="0">
                        <a:latin typeface="Verdana" panose="020B0604030504040204" pitchFamily="34" charset="0"/>
                        <a:ea typeface="Verdana" panose="020B0604030504040204" pitchFamily="34" charset="0"/>
                        <a:cs typeface="Open Sans" panose="020B0606030504020204" pitchFamily="34" charset="0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lang="en-US" sz="1400" spc="-40" dirty="0">
                          <a:latin typeface="Verdana"/>
                        </a:rPr>
                        <a:t>What</a:t>
                      </a:r>
                      <a:r>
                        <a:rPr lang="en-US" sz="1400" spc="-100" dirty="0">
                          <a:latin typeface="Verdana"/>
                        </a:rPr>
                        <a:t> </a:t>
                      </a:r>
                      <a:r>
                        <a:rPr lang="en-US" sz="1400" spc="-35" dirty="0">
                          <a:latin typeface="Verdana"/>
                        </a:rPr>
                        <a:t>do</a:t>
                      </a:r>
                      <a:r>
                        <a:rPr lang="en-US" sz="1400" spc="-100" dirty="0">
                          <a:latin typeface="Verdana"/>
                        </a:rPr>
                        <a:t> </a:t>
                      </a:r>
                      <a:r>
                        <a:rPr lang="en-US" sz="1400" spc="-65" dirty="0">
                          <a:latin typeface="Verdana"/>
                        </a:rPr>
                        <a:t>customers</a:t>
                      </a:r>
                      <a:r>
                        <a:rPr lang="en-US" sz="1400" spc="-160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do</a:t>
                      </a:r>
                      <a:r>
                        <a:rPr lang="en-US" sz="1400" spc="-50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now</a:t>
                      </a:r>
                      <a:r>
                        <a:rPr lang="en-US" sz="1400" spc="-35" dirty="0">
                          <a:latin typeface="Verdana"/>
                        </a:rPr>
                        <a:t> </a:t>
                      </a:r>
                      <a:r>
                        <a:rPr lang="en-US" sz="1400" spc="-15" dirty="0">
                          <a:latin typeface="Verdana"/>
                        </a:rPr>
                        <a:t>to</a:t>
                      </a:r>
                      <a:r>
                        <a:rPr lang="en-US" sz="1400" spc="-185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fix</a:t>
                      </a:r>
                      <a:r>
                        <a:rPr lang="en-US" sz="1400" spc="-40" dirty="0">
                          <a:latin typeface="Verdana"/>
                        </a:rPr>
                        <a:t> </a:t>
                      </a:r>
                      <a:r>
                        <a:rPr lang="en-US" sz="1400" spc="-50" dirty="0">
                          <a:latin typeface="Verdana"/>
                        </a:rPr>
                        <a:t>the</a:t>
                      </a:r>
                      <a:r>
                        <a:rPr lang="en-US" sz="1400" spc="-130" dirty="0">
                          <a:latin typeface="Verdana"/>
                        </a:rPr>
                        <a:t> </a:t>
                      </a:r>
                      <a:r>
                        <a:rPr lang="en-US" sz="1400" spc="-10" dirty="0">
                          <a:latin typeface="Verdana"/>
                        </a:rPr>
                        <a:t>problem?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lang="en-US" sz="1400" spc="-10" dirty="0">
                        <a:latin typeface="Verdana"/>
                      </a:endParaRPr>
                    </a:p>
                    <a:p>
                      <a:pPr marL="85725" marR="268604">
                        <a:lnSpc>
                          <a:spcPct val="100000"/>
                        </a:lnSpc>
                      </a:pPr>
                      <a:r>
                        <a:rPr lang="en-US" sz="1400" dirty="0">
                          <a:latin typeface="Verdana"/>
                        </a:rPr>
                        <a:t>Human</a:t>
                      </a:r>
                      <a:r>
                        <a:rPr lang="en-US" sz="1400" spc="-40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attendants,</a:t>
                      </a:r>
                      <a:r>
                        <a:rPr lang="en-US" sz="1400" spc="-35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maps,</a:t>
                      </a:r>
                      <a:r>
                        <a:rPr lang="en-US" sz="1400" spc="-35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and</a:t>
                      </a:r>
                      <a:r>
                        <a:rPr lang="en-US" sz="1400" spc="-25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standalone</a:t>
                      </a:r>
                      <a:r>
                        <a:rPr lang="en-US" sz="1400" spc="-40" dirty="0">
                          <a:latin typeface="Verdana"/>
                        </a:rPr>
                        <a:t> </a:t>
                      </a:r>
                      <a:r>
                        <a:rPr lang="en-US" sz="1400" spc="-10" dirty="0">
                          <a:latin typeface="Verdana"/>
                        </a:rPr>
                        <a:t>attendance </a:t>
                      </a:r>
                      <a:r>
                        <a:rPr lang="en-US" sz="1400" dirty="0">
                          <a:latin typeface="Verdana"/>
                        </a:rPr>
                        <a:t>software,</a:t>
                      </a:r>
                      <a:r>
                        <a:rPr lang="en-US" sz="1400" spc="-50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which</a:t>
                      </a:r>
                      <a:r>
                        <a:rPr lang="en-US" sz="1400" spc="-35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are</a:t>
                      </a:r>
                      <a:r>
                        <a:rPr lang="en-US" sz="1400" spc="-10" dirty="0">
                          <a:latin typeface="Verdana"/>
                        </a:rPr>
                        <a:t> error-</a:t>
                      </a:r>
                      <a:r>
                        <a:rPr lang="en-US" sz="1400" dirty="0">
                          <a:latin typeface="Verdana"/>
                        </a:rPr>
                        <a:t>prone</a:t>
                      </a:r>
                      <a:r>
                        <a:rPr lang="en-US" sz="1400" spc="-30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and</a:t>
                      </a:r>
                      <a:r>
                        <a:rPr lang="en-US" sz="1400" spc="-10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not</a:t>
                      </a:r>
                      <a:r>
                        <a:rPr lang="en-US" sz="1400" spc="-25" dirty="0">
                          <a:latin typeface="Verdana"/>
                        </a:rPr>
                        <a:t> </a:t>
                      </a:r>
                      <a:r>
                        <a:rPr lang="en-US" sz="1400" spc="-10" dirty="0">
                          <a:latin typeface="Verdana"/>
                        </a:rPr>
                        <a:t>integrated.</a:t>
                      </a:r>
                      <a:endParaRPr sz="1400" dirty="0">
                        <a:latin typeface="Verdana" panose="020B0604030504040204" pitchFamily="34" charset="0"/>
                        <a:ea typeface="Verdana" panose="020B0604030504040204" pitchFamily="34" charset="0"/>
                        <a:cs typeface="Open Sans" panose="020B0606030504020204" pitchFamily="34" charset="0"/>
                      </a:endParaRPr>
                    </a:p>
                  </a:txBody>
                  <a:tcPr marL="0" marR="0" marT="82683" marB="0">
                    <a:lnL w="9525">
                      <a:solidFill>
                        <a:srgbClr val="FBBD00"/>
                      </a:solidFill>
                      <a:prstDash val="solid"/>
                    </a:lnL>
                    <a:lnR w="9525">
                      <a:solidFill>
                        <a:srgbClr val="FBBD00"/>
                      </a:solidFill>
                      <a:prstDash val="solid"/>
                    </a:lnR>
                    <a:lnT w="9525">
                      <a:solidFill>
                        <a:srgbClr val="FBBD00"/>
                      </a:solidFill>
                      <a:prstDash val="solid"/>
                    </a:lnT>
                    <a:lnB w="9525">
                      <a:solidFill>
                        <a:srgbClr val="FBBD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9931">
                <a:tc rowSpan="2"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400" b="1" kern="1200" spc="-13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Open Sans" panose="020B0606030504020204" pitchFamily="34" charset="0"/>
                        </a:rPr>
                        <a:t>CUSTOMERS</a:t>
                      </a:r>
                    </a:p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lang="en-US" sz="1400" spc="-25" dirty="0">
                          <a:latin typeface="Verdana"/>
                        </a:rPr>
                        <a:t>Who</a:t>
                      </a:r>
                      <a:r>
                        <a:rPr lang="en-US" sz="1400" spc="-70" dirty="0">
                          <a:latin typeface="Verdana"/>
                        </a:rPr>
                        <a:t> </a:t>
                      </a:r>
                      <a:r>
                        <a:rPr lang="en-US" sz="1400" spc="-30" dirty="0">
                          <a:latin typeface="Verdana"/>
                        </a:rPr>
                        <a:t>has</a:t>
                      </a:r>
                      <a:r>
                        <a:rPr lang="en-US" sz="1400" spc="-80" dirty="0">
                          <a:latin typeface="Verdana"/>
                        </a:rPr>
                        <a:t> </a:t>
                      </a:r>
                      <a:r>
                        <a:rPr lang="en-US" sz="1400" spc="-35" dirty="0">
                          <a:latin typeface="Verdana"/>
                        </a:rPr>
                        <a:t>the</a:t>
                      </a:r>
                      <a:r>
                        <a:rPr lang="en-US" sz="1400" spc="-285" dirty="0">
                          <a:latin typeface="Verdana"/>
                        </a:rPr>
                        <a:t> </a:t>
                      </a:r>
                      <a:r>
                        <a:rPr lang="en-US" sz="1400" spc="-65" dirty="0">
                          <a:latin typeface="Verdana"/>
                        </a:rPr>
                        <a:t>problem</a:t>
                      </a:r>
                      <a:r>
                        <a:rPr lang="en-US" sz="1400" spc="-120" dirty="0">
                          <a:latin typeface="Verdana"/>
                        </a:rPr>
                        <a:t> </a:t>
                      </a:r>
                      <a:r>
                        <a:rPr lang="en-US" sz="1400" spc="-55" dirty="0">
                          <a:latin typeface="Verdana"/>
                        </a:rPr>
                        <a:t>most</a:t>
                      </a:r>
                      <a:r>
                        <a:rPr lang="en-US" sz="1400" spc="-120" dirty="0">
                          <a:latin typeface="Verdana"/>
                        </a:rPr>
                        <a:t> </a:t>
                      </a:r>
                      <a:r>
                        <a:rPr lang="en-US" sz="1400" spc="-10" dirty="0">
                          <a:latin typeface="Verdana"/>
                        </a:rPr>
                        <a:t>often?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400" spc="-10" dirty="0">
                        <a:latin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lang="en-US" sz="1400" spc="-10" dirty="0">
                        <a:latin typeface="Verdana"/>
                      </a:endParaRPr>
                    </a:p>
                    <a:p>
                      <a:pPr marL="85090" marR="878840" indent="62230">
                        <a:lnSpc>
                          <a:spcPct val="100000"/>
                        </a:lnSpc>
                      </a:pPr>
                      <a:r>
                        <a:rPr lang="en-US" sz="1400" dirty="0">
                          <a:latin typeface="Verdana"/>
                        </a:rPr>
                        <a:t>Institutions</a:t>
                      </a:r>
                      <a:r>
                        <a:rPr lang="en-US" sz="1400" spc="-60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such</a:t>
                      </a:r>
                      <a:r>
                        <a:rPr lang="en-US" sz="1400" spc="-35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as</a:t>
                      </a:r>
                      <a:r>
                        <a:rPr lang="en-US" sz="1400" spc="-25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hospitals,</a:t>
                      </a:r>
                      <a:r>
                        <a:rPr lang="en-US" sz="1400" spc="-50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airports,</a:t>
                      </a:r>
                      <a:r>
                        <a:rPr lang="en-US" sz="1400" spc="-30" dirty="0">
                          <a:latin typeface="Verdana"/>
                        </a:rPr>
                        <a:t> </a:t>
                      </a:r>
                      <a:r>
                        <a:rPr lang="en-US" sz="1400" spc="-10" dirty="0">
                          <a:latin typeface="Verdana"/>
                        </a:rPr>
                        <a:t>elderly </a:t>
                      </a:r>
                      <a:r>
                        <a:rPr lang="en-US" sz="1400" dirty="0">
                          <a:latin typeface="Verdana"/>
                        </a:rPr>
                        <a:t>care</a:t>
                      </a:r>
                      <a:r>
                        <a:rPr lang="en-US" sz="1400" spc="-20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centers,</a:t>
                      </a:r>
                      <a:r>
                        <a:rPr lang="en-US" sz="1400" spc="-40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and</a:t>
                      </a:r>
                      <a:r>
                        <a:rPr lang="en-US" sz="1400" spc="-20" dirty="0">
                          <a:latin typeface="Verdana"/>
                        </a:rPr>
                        <a:t> </a:t>
                      </a:r>
                      <a:r>
                        <a:rPr lang="en-US" sz="1400" spc="-10" dirty="0">
                          <a:latin typeface="Verdana"/>
                        </a:rPr>
                        <a:t>schools.</a:t>
                      </a:r>
                    </a:p>
                  </a:txBody>
                  <a:tcPr marL="0" marR="0" marT="83334" marB="0">
                    <a:lnL w="9525">
                      <a:solidFill>
                        <a:srgbClr val="FBBD00"/>
                      </a:solidFill>
                      <a:prstDash val="solid"/>
                    </a:lnL>
                    <a:lnR w="12700">
                      <a:solidFill>
                        <a:srgbClr val="FBBD00"/>
                      </a:solidFill>
                      <a:prstDash val="solid"/>
                    </a:lnR>
                    <a:lnT w="9525">
                      <a:solidFill>
                        <a:srgbClr val="FBBD00"/>
                      </a:solidFill>
                      <a:prstDash val="solid"/>
                    </a:lnT>
                    <a:lnB w="9525">
                      <a:solidFill>
                        <a:srgbClr val="FBB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400" b="1" kern="1200" spc="-13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Open Sans" panose="020B0606030504020204" pitchFamily="34" charset="0"/>
                        </a:rPr>
                        <a:t>EMOTIONAL</a:t>
                      </a:r>
                      <a:r>
                        <a:rPr lang="en-IN" sz="1400" b="1" spc="-15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sz="1400" b="1" spc="-15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Open Sans" panose="020B0606030504020204" pitchFamily="34" charset="0"/>
                        </a:rPr>
                        <a:t>IMPACT</a:t>
                      </a:r>
                      <a:endParaRPr sz="1400" dirty="0">
                        <a:latin typeface="Verdana" panose="020B0604030504040204" pitchFamily="34" charset="0"/>
                        <a:ea typeface="Verdana" panose="020B0604030504040204" pitchFamily="34" charset="0"/>
                        <a:cs typeface="Open Sans" panose="020B0606030504020204" pitchFamily="34" charset="0"/>
                      </a:endParaRPr>
                    </a:p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lang="en-US" sz="1400" spc="-45" dirty="0">
                          <a:latin typeface="Verdana"/>
                        </a:rPr>
                        <a:t>How</a:t>
                      </a:r>
                      <a:r>
                        <a:rPr lang="en-US" sz="1400" spc="-120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does</a:t>
                      </a:r>
                      <a:r>
                        <a:rPr lang="en-US" sz="1400" spc="20" dirty="0">
                          <a:latin typeface="Verdana"/>
                        </a:rPr>
                        <a:t> </a:t>
                      </a:r>
                      <a:r>
                        <a:rPr lang="en-US" sz="1400" spc="-40" dirty="0">
                          <a:latin typeface="Verdana"/>
                        </a:rPr>
                        <a:t>the</a:t>
                      </a:r>
                      <a:r>
                        <a:rPr lang="en-US" sz="1400" spc="-120" dirty="0">
                          <a:latin typeface="Verdana"/>
                        </a:rPr>
                        <a:t> </a:t>
                      </a:r>
                      <a:r>
                        <a:rPr lang="en-US" sz="1400" spc="-40" dirty="0">
                          <a:latin typeface="Verdana"/>
                        </a:rPr>
                        <a:t>customer</a:t>
                      </a:r>
                      <a:r>
                        <a:rPr lang="en-US" sz="1400" spc="-75" dirty="0">
                          <a:latin typeface="Verdana"/>
                        </a:rPr>
                        <a:t> </a:t>
                      </a:r>
                      <a:r>
                        <a:rPr lang="en-US" sz="1400" spc="-20" dirty="0">
                          <a:latin typeface="Verdana"/>
                        </a:rPr>
                        <a:t>feel?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lang="en-US" sz="1400" spc="-20" dirty="0">
                        <a:latin typeface="Verdana"/>
                      </a:endParaRPr>
                    </a:p>
                    <a:p>
                      <a:pPr marL="83820" marR="241934">
                        <a:lnSpc>
                          <a:spcPct val="100000"/>
                        </a:lnSpc>
                      </a:pPr>
                      <a:r>
                        <a:rPr lang="en-US" sz="1400" dirty="0">
                          <a:latin typeface="Verdana"/>
                        </a:rPr>
                        <a:t>Customers</a:t>
                      </a:r>
                      <a:r>
                        <a:rPr lang="en-US" sz="1400" spc="-60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feel</a:t>
                      </a:r>
                      <a:r>
                        <a:rPr lang="en-US" sz="1400" spc="-40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frustrated</a:t>
                      </a:r>
                      <a:r>
                        <a:rPr lang="en-US" sz="1400" spc="-50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due</a:t>
                      </a:r>
                      <a:r>
                        <a:rPr lang="en-US" sz="1400" spc="-30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to</a:t>
                      </a:r>
                      <a:r>
                        <a:rPr lang="en-US" sz="1400" spc="-40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inefficiencies,</a:t>
                      </a:r>
                      <a:r>
                        <a:rPr lang="en-US" sz="1400" spc="-65" dirty="0">
                          <a:latin typeface="Verdana"/>
                        </a:rPr>
                        <a:t> </a:t>
                      </a:r>
                      <a:r>
                        <a:rPr lang="en-US" sz="1400" spc="-10" dirty="0">
                          <a:latin typeface="Verdana"/>
                        </a:rPr>
                        <a:t>errors, </a:t>
                      </a:r>
                      <a:r>
                        <a:rPr lang="en-US" sz="1400" dirty="0">
                          <a:latin typeface="Verdana"/>
                        </a:rPr>
                        <a:t>and</a:t>
                      </a:r>
                      <a:r>
                        <a:rPr lang="en-US" sz="1400" spc="-30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lack</a:t>
                      </a:r>
                      <a:r>
                        <a:rPr lang="en-US" sz="1400" spc="-50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of</a:t>
                      </a:r>
                      <a:r>
                        <a:rPr lang="en-US" sz="1400" spc="-30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accessibility</a:t>
                      </a:r>
                      <a:r>
                        <a:rPr lang="en-US" sz="1400" spc="-70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in</a:t>
                      </a:r>
                      <a:r>
                        <a:rPr lang="en-US" sz="1400" spc="-30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existing</a:t>
                      </a:r>
                      <a:r>
                        <a:rPr lang="en-US" sz="1400" spc="-55" dirty="0">
                          <a:latin typeface="Verdana"/>
                        </a:rPr>
                        <a:t> </a:t>
                      </a:r>
                      <a:r>
                        <a:rPr lang="en-US" sz="1400" spc="-10" dirty="0">
                          <a:latin typeface="Verdana"/>
                        </a:rPr>
                        <a:t>systems.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400" spc="-10" dirty="0">
                        <a:latin typeface="Verdana"/>
                      </a:endParaRPr>
                    </a:p>
                  </a:txBody>
                  <a:tcPr marL="0" marR="0" marT="83334" marB="0">
                    <a:lnL w="12700">
                      <a:solidFill>
                        <a:srgbClr val="FBBD00"/>
                      </a:solidFill>
                      <a:prstDash val="solid"/>
                    </a:lnL>
                    <a:lnR w="9525">
                      <a:solidFill>
                        <a:srgbClr val="FBBD00"/>
                      </a:solidFill>
                      <a:prstDash val="solid"/>
                    </a:lnR>
                    <a:lnT w="9525">
                      <a:solidFill>
                        <a:srgbClr val="FBBD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400" b="1" kern="1200" spc="-13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Open Sans" panose="020B0606030504020204" pitchFamily="34" charset="0"/>
                        </a:rPr>
                        <a:t>ALTERNATIVE</a:t>
                      </a:r>
                      <a:r>
                        <a:rPr lang="en-IN" sz="1400" b="1" spc="-15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sz="1400" b="1" kern="1200" spc="-13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Open Sans" panose="020B0606030504020204" pitchFamily="34" charset="0"/>
                        </a:rPr>
                        <a:t>SHORTCOMINGS</a:t>
                      </a: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lang="en-US" sz="1400" spc="-45" dirty="0">
                          <a:latin typeface="Verdana"/>
                        </a:rPr>
                        <a:t>What</a:t>
                      </a:r>
                      <a:r>
                        <a:rPr lang="en-US" sz="1400" spc="-120" dirty="0">
                          <a:latin typeface="Verdana"/>
                        </a:rPr>
                        <a:t> </a:t>
                      </a:r>
                      <a:r>
                        <a:rPr lang="en-US" sz="1400" spc="-40" dirty="0">
                          <a:latin typeface="Verdana"/>
                        </a:rPr>
                        <a:t>are</a:t>
                      </a:r>
                      <a:r>
                        <a:rPr lang="en-US" sz="1400" spc="-95" dirty="0">
                          <a:latin typeface="Verdana"/>
                        </a:rPr>
                        <a:t> </a:t>
                      </a:r>
                      <a:r>
                        <a:rPr lang="en-US" sz="1400" spc="-40" dirty="0">
                          <a:latin typeface="Verdana"/>
                        </a:rPr>
                        <a:t>the</a:t>
                      </a:r>
                      <a:r>
                        <a:rPr lang="en-US" sz="1400" spc="-105" dirty="0">
                          <a:latin typeface="Verdana"/>
                        </a:rPr>
                        <a:t> </a:t>
                      </a:r>
                      <a:r>
                        <a:rPr lang="en-US" sz="1400" spc="-60" dirty="0">
                          <a:latin typeface="Verdana"/>
                        </a:rPr>
                        <a:t>disadvantages</a:t>
                      </a:r>
                      <a:r>
                        <a:rPr lang="en-US" sz="1400" spc="-140" dirty="0">
                          <a:latin typeface="Verdana"/>
                        </a:rPr>
                        <a:t> </a:t>
                      </a:r>
                      <a:r>
                        <a:rPr lang="en-US" sz="1400" spc="-30" dirty="0">
                          <a:latin typeface="Verdana"/>
                        </a:rPr>
                        <a:t>of</a:t>
                      </a:r>
                      <a:r>
                        <a:rPr lang="en-US" sz="1400" spc="-114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the</a:t>
                      </a:r>
                      <a:r>
                        <a:rPr lang="en-US" sz="1400" spc="395" dirty="0">
                          <a:latin typeface="Verdana"/>
                        </a:rPr>
                        <a:t> </a:t>
                      </a:r>
                      <a:r>
                        <a:rPr lang="en-US" sz="1400" spc="-10" dirty="0">
                          <a:latin typeface="Verdana"/>
                        </a:rPr>
                        <a:t>alternatives?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400" spc="-10" dirty="0">
                        <a:latin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400" spc="-10" dirty="0">
                        <a:latin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400" spc="-10" dirty="0">
                        <a:latin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endParaRPr lang="en-US" sz="1400" spc="-10" dirty="0">
                        <a:latin typeface="Verdana"/>
                      </a:endParaRPr>
                    </a:p>
                    <a:p>
                      <a:pPr marL="85725" marR="674370">
                        <a:lnSpc>
                          <a:spcPct val="100000"/>
                        </a:lnSpc>
                      </a:pPr>
                      <a:r>
                        <a:rPr lang="en-US" sz="1400" dirty="0">
                          <a:latin typeface="Verdana"/>
                        </a:rPr>
                        <a:t>The</a:t>
                      </a:r>
                      <a:r>
                        <a:rPr lang="en-US" sz="1400" spc="-30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manual</a:t>
                      </a:r>
                      <a:r>
                        <a:rPr lang="en-US" sz="1400" spc="-35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processes</a:t>
                      </a:r>
                      <a:r>
                        <a:rPr lang="en-US" sz="1400" spc="-50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lead</a:t>
                      </a:r>
                      <a:r>
                        <a:rPr lang="en-US" sz="1400" spc="-40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to</a:t>
                      </a:r>
                      <a:r>
                        <a:rPr lang="en-US" sz="1400" spc="-15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delays,</a:t>
                      </a:r>
                      <a:r>
                        <a:rPr lang="en-US" sz="1400" spc="-50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errors,</a:t>
                      </a:r>
                      <a:r>
                        <a:rPr lang="en-US" sz="1400" spc="-35" dirty="0">
                          <a:latin typeface="Verdana"/>
                        </a:rPr>
                        <a:t> </a:t>
                      </a:r>
                      <a:r>
                        <a:rPr lang="en-US" sz="1400" spc="-25" dirty="0">
                          <a:latin typeface="Verdana"/>
                        </a:rPr>
                        <a:t>and </a:t>
                      </a:r>
                      <a:r>
                        <a:rPr lang="en-US" sz="1400" dirty="0">
                          <a:latin typeface="Verdana"/>
                        </a:rPr>
                        <a:t>difficulty</a:t>
                      </a:r>
                      <a:r>
                        <a:rPr lang="en-US" sz="1400" spc="-50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for</a:t>
                      </a:r>
                      <a:r>
                        <a:rPr lang="en-US" sz="1400" spc="-25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those</a:t>
                      </a:r>
                      <a:r>
                        <a:rPr lang="en-US" sz="1400" spc="-25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with</a:t>
                      </a:r>
                      <a:r>
                        <a:rPr lang="en-US" sz="1400" spc="-40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special</a:t>
                      </a:r>
                      <a:r>
                        <a:rPr lang="en-US" sz="1400" spc="-45" dirty="0">
                          <a:latin typeface="Verdana"/>
                        </a:rPr>
                        <a:t> </a:t>
                      </a:r>
                      <a:r>
                        <a:rPr lang="en-US" sz="1400" spc="-10" dirty="0">
                          <a:latin typeface="Verdana"/>
                        </a:rPr>
                        <a:t>needs.</a:t>
                      </a:r>
                    </a:p>
                  </a:txBody>
                  <a:tcPr marL="0" marR="0" marT="83334" marB="0">
                    <a:lnL w="9525">
                      <a:solidFill>
                        <a:srgbClr val="FBBD00"/>
                      </a:solidFill>
                      <a:prstDash val="solid"/>
                    </a:lnL>
                    <a:lnR w="9525">
                      <a:solidFill>
                        <a:srgbClr val="FBBD00"/>
                      </a:solidFill>
                      <a:prstDash val="solid"/>
                    </a:lnR>
                    <a:lnT w="9525">
                      <a:solidFill>
                        <a:srgbClr val="FBBD00"/>
                      </a:solidFill>
                      <a:prstDash val="solid"/>
                    </a:lnT>
                    <a:lnB w="9525">
                      <a:solidFill>
                        <a:srgbClr val="FBBD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46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1280" marB="0">
                    <a:lnL w="9525">
                      <a:solidFill>
                        <a:srgbClr val="FBBD00"/>
                      </a:solidFill>
                      <a:prstDash val="solid"/>
                    </a:lnL>
                    <a:lnR w="12700">
                      <a:solidFill>
                        <a:srgbClr val="FBBD00"/>
                      </a:solidFill>
                      <a:prstDash val="solid"/>
                    </a:lnR>
                    <a:lnT w="9525">
                      <a:solidFill>
                        <a:srgbClr val="FBBD00"/>
                      </a:solidFill>
                      <a:prstDash val="solid"/>
                    </a:lnT>
                    <a:lnB w="9525">
                      <a:solidFill>
                        <a:srgbClr val="FBB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dirty="0">
                        <a:latin typeface="Verdana" panose="020B0604030504040204" pitchFamily="34" charset="0"/>
                        <a:ea typeface="Verdana" panose="020B0604030504040204" pitchFamily="34" charset="0"/>
                        <a:cs typeface="Open Sans" panose="020B0606030504020204" pitchFamily="34" charset="0"/>
                      </a:endParaRPr>
                    </a:p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lang="en-US" sz="1400" b="1" spc="-130" dirty="0">
                          <a:latin typeface="Verdana"/>
                        </a:rPr>
                        <a:t>QUANTIFIABLE</a:t>
                      </a:r>
                      <a:r>
                        <a:rPr lang="en-US" sz="1400" b="1" spc="-235" dirty="0">
                          <a:latin typeface="Verdana"/>
                        </a:rPr>
                        <a:t> </a:t>
                      </a:r>
                      <a:r>
                        <a:rPr lang="en-US" sz="1400" b="1" spc="-10" dirty="0">
                          <a:latin typeface="Verdana"/>
                        </a:rPr>
                        <a:t>IMPACT</a:t>
                      </a:r>
                    </a:p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lang="en-US" sz="1400" spc="-40" dirty="0">
                          <a:latin typeface="Verdana"/>
                        </a:rPr>
                        <a:t>What</a:t>
                      </a:r>
                      <a:r>
                        <a:rPr lang="en-US" sz="1400" spc="-100" dirty="0">
                          <a:latin typeface="Verdana"/>
                        </a:rPr>
                        <a:t> </a:t>
                      </a:r>
                      <a:r>
                        <a:rPr lang="en-US" sz="1400" spc="-20" dirty="0">
                          <a:latin typeface="Verdana"/>
                        </a:rPr>
                        <a:t>is</a:t>
                      </a:r>
                      <a:r>
                        <a:rPr lang="en-US" sz="1400" spc="-114" dirty="0">
                          <a:latin typeface="Verdana"/>
                        </a:rPr>
                        <a:t> </a:t>
                      </a:r>
                      <a:r>
                        <a:rPr lang="en-US" sz="1400" spc="-40" dirty="0">
                          <a:latin typeface="Verdana"/>
                        </a:rPr>
                        <a:t>the</a:t>
                      </a:r>
                      <a:r>
                        <a:rPr lang="en-US" sz="1400" spc="-95" dirty="0">
                          <a:latin typeface="Verdana"/>
                        </a:rPr>
                        <a:t> </a:t>
                      </a:r>
                      <a:r>
                        <a:rPr lang="en-US" sz="1400" spc="-55" dirty="0">
                          <a:latin typeface="Verdana"/>
                        </a:rPr>
                        <a:t>measurable</a:t>
                      </a:r>
                      <a:r>
                        <a:rPr lang="en-US" sz="1400" spc="-95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impact</a:t>
                      </a:r>
                      <a:r>
                        <a:rPr lang="en-US" sz="1400" spc="150" dirty="0">
                          <a:latin typeface="Verdana"/>
                        </a:rPr>
                        <a:t> </a:t>
                      </a:r>
                      <a:r>
                        <a:rPr lang="en-US" sz="1400" spc="-55" dirty="0">
                          <a:latin typeface="Verdana"/>
                        </a:rPr>
                        <a:t>(include</a:t>
                      </a:r>
                      <a:r>
                        <a:rPr lang="en-US" sz="1400" spc="-155" dirty="0">
                          <a:latin typeface="Verdana"/>
                        </a:rPr>
                        <a:t> </a:t>
                      </a:r>
                      <a:r>
                        <a:rPr lang="en-US" sz="1400" spc="-10" dirty="0">
                          <a:latin typeface="Verdana"/>
                        </a:rPr>
                        <a:t>units)?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lang="en-US" sz="1400" spc="-10" dirty="0">
                        <a:latin typeface="Verdana"/>
                      </a:endParaRPr>
                    </a:p>
                    <a:p>
                      <a:pPr marL="83820" marR="844550">
                        <a:lnSpc>
                          <a:spcPct val="100000"/>
                        </a:lnSpc>
                      </a:pPr>
                      <a:r>
                        <a:rPr lang="en-US" sz="1400" dirty="0">
                          <a:latin typeface="Verdana"/>
                        </a:rPr>
                        <a:t>Measure</a:t>
                      </a:r>
                      <a:r>
                        <a:rPr lang="en-US" sz="1400" spc="-45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the</a:t>
                      </a:r>
                      <a:r>
                        <a:rPr lang="en-US" sz="1400" spc="-25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impact</a:t>
                      </a:r>
                      <a:r>
                        <a:rPr lang="en-US" sz="1400" spc="-40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in</a:t>
                      </a:r>
                      <a:r>
                        <a:rPr lang="en-US" sz="1400" spc="-25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terms</a:t>
                      </a:r>
                      <a:r>
                        <a:rPr lang="en-US" sz="1400" spc="-35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of</a:t>
                      </a:r>
                      <a:r>
                        <a:rPr lang="en-US" sz="1400" spc="-25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reduced</a:t>
                      </a:r>
                      <a:r>
                        <a:rPr lang="en-US" sz="1400" spc="-20" dirty="0">
                          <a:latin typeface="Verdana"/>
                        </a:rPr>
                        <a:t> </a:t>
                      </a:r>
                      <a:r>
                        <a:rPr lang="en-US" sz="1400" spc="-10" dirty="0">
                          <a:latin typeface="Verdana"/>
                        </a:rPr>
                        <a:t>errors, </a:t>
                      </a:r>
                      <a:r>
                        <a:rPr lang="en-US" sz="1400" dirty="0">
                          <a:latin typeface="Verdana"/>
                        </a:rPr>
                        <a:t>improved</a:t>
                      </a:r>
                      <a:r>
                        <a:rPr lang="en-US" sz="1400" spc="-45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operational</a:t>
                      </a:r>
                      <a:r>
                        <a:rPr lang="en-US" sz="1400" spc="-50" dirty="0">
                          <a:latin typeface="Verdana"/>
                        </a:rPr>
                        <a:t> </a:t>
                      </a:r>
                      <a:r>
                        <a:rPr lang="en-US" sz="1400" spc="-20" dirty="0">
                          <a:latin typeface="Verdana"/>
                        </a:rPr>
                        <a:t>efficiency,</a:t>
                      </a:r>
                      <a:r>
                        <a:rPr lang="en-US" sz="1400" spc="-65" dirty="0">
                          <a:latin typeface="Verdana"/>
                        </a:rPr>
                        <a:t> </a:t>
                      </a:r>
                      <a:r>
                        <a:rPr lang="en-US" sz="1400" dirty="0">
                          <a:latin typeface="Verdana"/>
                        </a:rPr>
                        <a:t>and</a:t>
                      </a:r>
                      <a:r>
                        <a:rPr lang="en-US" sz="1400" spc="-35" dirty="0">
                          <a:latin typeface="Verdana"/>
                        </a:rPr>
                        <a:t> </a:t>
                      </a:r>
                      <a:r>
                        <a:rPr lang="en-US" sz="1400" spc="-10" dirty="0">
                          <a:latin typeface="Verdana"/>
                        </a:rPr>
                        <a:t>higher accessibility.</a:t>
                      </a:r>
                    </a:p>
                  </a:txBody>
                  <a:tcPr marL="0" marR="0" marT="0" marB="0">
                    <a:lnL w="12700">
                      <a:solidFill>
                        <a:srgbClr val="FBBD00"/>
                      </a:solidFill>
                      <a:prstDash val="solid"/>
                    </a:lnL>
                    <a:lnR w="9525">
                      <a:solidFill>
                        <a:srgbClr val="FBBD00"/>
                      </a:solidFill>
                      <a:prstDash val="solid"/>
                    </a:lnR>
                    <a:lnB w="9525">
                      <a:solidFill>
                        <a:srgbClr val="FBBD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1280" marB="0">
                    <a:lnL w="9525">
                      <a:solidFill>
                        <a:srgbClr val="FBBD00"/>
                      </a:solidFill>
                      <a:prstDash val="solid"/>
                    </a:lnL>
                    <a:lnR w="9525">
                      <a:solidFill>
                        <a:srgbClr val="FBBD00"/>
                      </a:solidFill>
                      <a:prstDash val="solid"/>
                    </a:lnR>
                    <a:lnT w="9525">
                      <a:solidFill>
                        <a:srgbClr val="FBBD00"/>
                      </a:solidFill>
                      <a:prstDash val="solid"/>
                    </a:lnT>
                    <a:lnB w="9525">
                      <a:solidFill>
                        <a:srgbClr val="FBBD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6718841" y="6602497"/>
            <a:ext cx="2187530" cy="337628"/>
          </a:xfrm>
          <a:prstGeom prst="rect">
            <a:avLst/>
          </a:prstGeom>
        </p:spPr>
        <p:txBody>
          <a:bodyPr vert="horz" wrap="square" lIns="0" tIns="14323" rIns="0" bIns="0" rtlCol="0" anchor="ctr">
            <a:spAutoFit/>
          </a:bodyPr>
          <a:lstStyle/>
          <a:p>
            <a:pPr marL="39064">
              <a:spcBef>
                <a:spcPts val="112"/>
              </a:spcBef>
            </a:pPr>
            <a:fld id="{81D60167-4931-47E6-BA6A-407CBD079E47}" type="slidenum">
              <a:rPr dirty="0">
                <a:latin typeface="Verdana" panose="020B0604030504040204" pitchFamily="34" charset="0"/>
                <a:ea typeface="Verdana" panose="020B0604030504040204" pitchFamily="34" charset="0"/>
              </a:rPr>
              <a:pPr marL="39064">
                <a:spcBef>
                  <a:spcPts val="112"/>
                </a:spcBef>
              </a:pPr>
              <a:t>4</a:t>
            </a:fld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object 3"/>
          <p:cNvSpPr txBox="1">
            <a:spLocks/>
          </p:cNvSpPr>
          <p:nvPr/>
        </p:nvSpPr>
        <p:spPr>
          <a:xfrm>
            <a:off x="990600" y="0"/>
            <a:ext cx="15304106" cy="1128181"/>
          </a:xfrm>
          <a:prstGeom prst="rect">
            <a:avLst/>
          </a:prstGeom>
        </p:spPr>
        <p:txBody>
          <a:bodyPr vert="horz" wrap="square" lIns="0" tIns="12370" rIns="0" bIns="0" rtlCol="0" anchor="ctr">
            <a:spAutoFit/>
          </a:bodyPr>
          <a:lstStyle/>
          <a:p>
            <a:pPr algn="ctr">
              <a:lnSpc>
                <a:spcPts val="8746"/>
              </a:lnSpc>
              <a:spcBef>
                <a:spcPts val="96"/>
              </a:spcBef>
              <a:defRPr/>
            </a:pPr>
            <a:r>
              <a:rPr lang="en-IN" sz="5400" b="1" dirty="0">
                <a:cs typeface="Times New Roman" panose="02020603050405020304" pitchFamily="18" charset="0"/>
              </a:rPr>
              <a:t>Problem/Opportunity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6815208"/>
            <a:ext cx="9144000" cy="1118253"/>
          </a:xfrm>
          <a:prstGeom prst="rect">
            <a:avLst/>
          </a:prstGeom>
        </p:spPr>
        <p:txBody>
          <a:bodyPr lIns="91439" tIns="45719" rIns="91439" bIns="45719">
            <a:spAutoFit/>
          </a:bodyPr>
          <a:lstStyle/>
          <a:p>
            <a:endParaRPr lang="en-US" dirty="0"/>
          </a:p>
          <a:p>
            <a:pPr marL="93101">
              <a:spcBef>
                <a:spcPts val="195"/>
              </a:spcBef>
            </a:pPr>
            <a:endParaRPr lang="en-US" sz="1100" spc="-82" dirty="0">
              <a:latin typeface="Verdana" panose="020B0604030504040204" pitchFamily="34" charset="0"/>
              <a:ea typeface="Verdana" panose="020B0604030504040204" pitchFamily="34" charset="0"/>
              <a:cs typeface="Open Sans" panose="020B0606030504020204" pitchFamily="34" charset="0"/>
            </a:endParaRPr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airam 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6700"/>
            <a:ext cx="2626360" cy="838200"/>
          </a:xfrm>
          <a:prstGeom prst="rect">
            <a:avLst/>
          </a:prstGeom>
        </p:spPr>
      </p:pic>
      <p:pic>
        <p:nvPicPr>
          <p:cNvPr id="9" name="Picture 8" descr="Sairam innovation 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9603" y="266700"/>
            <a:ext cx="2132350" cy="838200"/>
          </a:xfrm>
          <a:prstGeom prst="rect">
            <a:avLst/>
          </a:prstGeom>
        </p:spPr>
      </p:pic>
      <p:pic>
        <p:nvPicPr>
          <p:cNvPr id="10" name="Picture 9" descr="Chairman sir 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8800" y="9182102"/>
            <a:ext cx="876300" cy="88673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38200" y="1967184"/>
            <a:ext cx="11201400" cy="6001641"/>
          </a:xfrm>
          <a:prstGeom prst="rect">
            <a:avLst/>
          </a:prstGeom>
          <a:noFill/>
        </p:spPr>
        <p:txBody>
          <a:bodyPr wrap="square" lIns="91439" tIns="45719" rIns="91439" bIns="45719">
            <a:spAutoFit/>
          </a:bodyPr>
          <a:lstStyle/>
          <a:p>
            <a:pPr marL="457193" indent="-457193">
              <a:buFont typeface="Arial" panose="020B0604020202020204" pitchFamily="34" charset="0"/>
              <a:buChar char="•"/>
            </a:pPr>
            <a:r>
              <a:rPr lang="pt-BR" sz="3200" dirty="0"/>
              <a:t>How many customers did you interview? </a:t>
            </a:r>
          </a:p>
          <a:p>
            <a:pPr marL="457193" indent="-457193">
              <a:buFont typeface="Arial" panose="020B0604020202020204" pitchFamily="34" charset="0"/>
              <a:buChar char="•"/>
            </a:pPr>
            <a:endParaRPr lang="pt-BR" sz="3200" dirty="0"/>
          </a:p>
          <a:p>
            <a:pPr marL="457193" indent="-457193">
              <a:buFont typeface="Arial" panose="020B0604020202020204" pitchFamily="34" charset="0"/>
              <a:buChar char="•"/>
            </a:pPr>
            <a:r>
              <a:rPr lang="pt-BR" sz="3200" dirty="0"/>
              <a:t>What was the interview mode?</a:t>
            </a:r>
          </a:p>
          <a:p>
            <a:endParaRPr lang="pt-BR" sz="3200" i="1" dirty="0"/>
          </a:p>
          <a:p>
            <a:pPr marL="457193" indent="-457193">
              <a:buFont typeface="Arial" panose="020B0604020202020204" pitchFamily="34" charset="0"/>
              <a:buChar char="•"/>
            </a:pPr>
            <a:r>
              <a:rPr lang="pt-BR" sz="3200" dirty="0"/>
              <a:t>How many of them agree this is a problem and wants a solution?</a:t>
            </a:r>
          </a:p>
          <a:p>
            <a:endParaRPr lang="pt-BR" sz="3200" dirty="0"/>
          </a:p>
          <a:p>
            <a:pPr marL="457193" indent="-457193">
              <a:buFont typeface="Arial" panose="020B0604020202020204" pitchFamily="34" charset="0"/>
              <a:buChar char="•"/>
            </a:pPr>
            <a:r>
              <a:rPr lang="pt-BR" sz="3200" dirty="0"/>
              <a:t>How many of them said they don't need a new solution?</a:t>
            </a:r>
          </a:p>
          <a:p>
            <a:pPr marL="457193" indent="-457193">
              <a:buFont typeface="Arial" panose="020B0604020202020204" pitchFamily="34" charset="0"/>
              <a:buChar char="•"/>
            </a:pPr>
            <a:endParaRPr lang="pt-BR" sz="3200" i="1" dirty="0"/>
          </a:p>
          <a:p>
            <a:pPr marL="457193" indent="-457193">
              <a:buFont typeface="Arial" panose="020B0604020202020204" pitchFamily="34" charset="0"/>
              <a:buChar char="•"/>
            </a:pPr>
            <a:endParaRPr lang="pt-BR" sz="3200" i="1" dirty="0"/>
          </a:p>
          <a:p>
            <a:pPr marL="457193" indent="-457193">
              <a:buFont typeface="Arial" panose="020B0604020202020204" pitchFamily="34" charset="0"/>
              <a:buChar char="•"/>
            </a:pPr>
            <a:endParaRPr lang="pt-BR" sz="3200" dirty="0"/>
          </a:p>
          <a:p>
            <a:pPr marL="457193" indent="-457193">
              <a:buFont typeface="Arial" panose="020B0604020202020204" pitchFamily="34" charset="0"/>
              <a:buChar char="•"/>
            </a:pPr>
            <a:endParaRPr lang="pt-BR" sz="3200" i="1" dirty="0"/>
          </a:p>
        </p:txBody>
      </p:sp>
      <p:sp>
        <p:nvSpPr>
          <p:cNvPr id="13" name="Rectangle 12"/>
          <p:cNvSpPr/>
          <p:nvPr/>
        </p:nvSpPr>
        <p:spPr>
          <a:xfrm>
            <a:off x="838203" y="3536970"/>
            <a:ext cx="473204" cy="369330"/>
          </a:xfrm>
          <a:prstGeom prst="rect">
            <a:avLst/>
          </a:prstGeom>
        </p:spPr>
        <p:txBody>
          <a:bodyPr wrap="none" lIns="91439" tIns="45719" rIns="91439" bIns="45719">
            <a:spAutoFit/>
          </a:bodyPr>
          <a:lstStyle/>
          <a:p>
            <a:pPr marL="285746" indent="-285746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15" name="TextBox 15"/>
          <p:cNvSpPr txBox="1"/>
          <p:nvPr/>
        </p:nvSpPr>
        <p:spPr>
          <a:xfrm>
            <a:off x="3505200" y="190500"/>
            <a:ext cx="12338484" cy="1115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746"/>
              </a:lnSpc>
              <a:spcBef>
                <a:spcPts val="96"/>
              </a:spcBef>
            </a:pPr>
            <a:r>
              <a:rPr lang="en-US" sz="5400" b="1" dirty="0"/>
              <a:t>Problem Interviews And Surveys Results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airam 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6700"/>
            <a:ext cx="2626360" cy="838200"/>
          </a:xfrm>
          <a:prstGeom prst="rect">
            <a:avLst/>
          </a:prstGeom>
        </p:spPr>
      </p:pic>
      <p:pic>
        <p:nvPicPr>
          <p:cNvPr id="9" name="Picture 8" descr="Sairam innovation 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9603" y="266700"/>
            <a:ext cx="2132350" cy="838200"/>
          </a:xfrm>
          <a:prstGeom prst="rect">
            <a:avLst/>
          </a:prstGeom>
        </p:spPr>
      </p:pic>
      <p:pic>
        <p:nvPicPr>
          <p:cNvPr id="10" name="Picture 9" descr="Chairman sir 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8800" y="9182102"/>
            <a:ext cx="876300" cy="88673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543800" y="1485902"/>
            <a:ext cx="9448800" cy="6399785"/>
          </a:xfrm>
          <a:prstGeom prst="roundRect">
            <a:avLst/>
          </a:prstGeom>
          <a:noFill/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lIns="91439" tIns="45719" rIns="91439" bIns="45719" rtlCol="0" anchor="ctr"/>
          <a:lstStyle/>
          <a:p>
            <a:pPr algn="just">
              <a:defRPr/>
            </a:pPr>
            <a:r>
              <a:rPr lang="en-IN" sz="2300" b="1" kern="0" dirty="0">
                <a:latin typeface="+mj-lt"/>
              </a:rPr>
              <a:t>How to calculate market size?</a:t>
            </a:r>
          </a:p>
          <a:p>
            <a:pPr algn="just">
              <a:defRPr/>
            </a:pPr>
            <a:endParaRPr lang="en-IN" kern="0" dirty="0">
              <a:latin typeface="+mj-lt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b="1" dirty="0">
                <a:latin typeface="Lato"/>
              </a:rPr>
              <a:t>Estimated Value</a:t>
            </a:r>
            <a:r>
              <a:rPr lang="en-US" dirty="0">
                <a:latin typeface="Lato"/>
              </a:rPr>
              <a:t>: </a:t>
            </a:r>
            <a:r>
              <a:rPr lang="en-US" sz="1400" dirty="0">
                <a:latin typeface="Lato"/>
              </a:rPr>
              <a:t>The global attendance management system market is valued at approximately </a:t>
            </a:r>
            <a:r>
              <a:rPr lang="en-US" sz="1400" b="1" dirty="0">
                <a:latin typeface="Lato"/>
              </a:rPr>
              <a:t>$2 to $3 billion</a:t>
            </a:r>
            <a:r>
              <a:rPr lang="en-US" sz="1400" dirty="0">
                <a:latin typeface="Lato"/>
              </a:rPr>
              <a:t> as of recent reports.</a:t>
            </a:r>
          </a:p>
          <a:p>
            <a:pPr marL="180000">
              <a:lnSpc>
                <a:spcPct val="100000"/>
              </a:lnSpc>
              <a:spcBef>
                <a:spcPts val="100"/>
              </a:spcBef>
            </a:pPr>
            <a:r>
              <a:rPr lang="en-US" b="1" dirty="0">
                <a:latin typeface="Lato"/>
              </a:rPr>
              <a:t>Growth Rate</a:t>
            </a:r>
            <a:br>
              <a:rPr lang="en-US" b="1" dirty="0">
                <a:latin typeface="Lato"/>
              </a:rPr>
            </a:br>
            <a:endParaRPr lang="en-US" b="1" dirty="0">
              <a:latin typeface="Lato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b="1" dirty="0">
                <a:latin typeface="Lato"/>
              </a:rPr>
              <a:t>Projected CAGR</a:t>
            </a:r>
            <a:r>
              <a:rPr lang="en-US" dirty="0">
                <a:latin typeface="Lato"/>
              </a:rPr>
              <a:t>: </a:t>
            </a:r>
            <a:r>
              <a:rPr lang="en-US" sz="1400" dirty="0">
                <a:latin typeface="Lato"/>
              </a:rPr>
              <a:t>The market is expected to grow at a compound annual growth rate (CAGR) of </a:t>
            </a:r>
            <a:r>
              <a:rPr lang="en-US" sz="1400" b="1" dirty="0">
                <a:latin typeface="Lato"/>
              </a:rPr>
              <a:t>10-15%</a:t>
            </a:r>
            <a:r>
              <a:rPr lang="en-US" sz="1400" dirty="0">
                <a:latin typeface="Lato"/>
              </a:rPr>
              <a:t> over the next five years.</a:t>
            </a:r>
          </a:p>
          <a:p>
            <a:pPr marL="180000">
              <a:lnSpc>
                <a:spcPct val="100000"/>
              </a:lnSpc>
              <a:spcBef>
                <a:spcPts val="100"/>
              </a:spcBef>
            </a:pPr>
            <a:r>
              <a:rPr lang="en-US" b="1" dirty="0">
                <a:latin typeface="Lato"/>
              </a:rPr>
              <a:t>Key Drivers of Growth</a:t>
            </a:r>
            <a:br>
              <a:rPr lang="en-US" b="1" dirty="0">
                <a:latin typeface="Lato"/>
              </a:rPr>
            </a:br>
            <a:endParaRPr lang="en-US" b="1" dirty="0">
              <a:latin typeface="Lato"/>
            </a:endParaRPr>
          </a:p>
          <a:p>
            <a:pPr marL="180000">
              <a:lnSpc>
                <a:spcPct val="100000"/>
              </a:lnSpc>
              <a:spcBef>
                <a:spcPts val="50"/>
              </a:spcBef>
            </a:pPr>
            <a:r>
              <a:rPr lang="en-US" sz="1800" b="1" dirty="0">
                <a:latin typeface="Lato"/>
              </a:rPr>
              <a:t>Technological Advancements</a:t>
            </a:r>
            <a:r>
              <a:rPr lang="en-US" sz="1800" dirty="0">
                <a:latin typeface="Lato"/>
              </a:rPr>
              <a:t>:</a:t>
            </a:r>
          </a:p>
          <a:p>
            <a:pPr marL="180000">
              <a:lnSpc>
                <a:spcPct val="100000"/>
              </a:lnSpc>
              <a:spcBef>
                <a:spcPts val="50"/>
              </a:spcBef>
            </a:pPr>
            <a:r>
              <a:rPr lang="en-US" sz="1400" dirty="0">
                <a:latin typeface="Lato"/>
              </a:rPr>
              <a:t>The integration of advanced technologies, such as </a:t>
            </a:r>
            <a:r>
              <a:rPr lang="en-US" sz="1400" b="1" dirty="0">
                <a:latin typeface="Lato"/>
              </a:rPr>
              <a:t>artificial intelligence (AI)</a:t>
            </a:r>
            <a:r>
              <a:rPr lang="en-US" sz="1400" dirty="0">
                <a:latin typeface="Lato"/>
              </a:rPr>
              <a:t>, </a:t>
            </a:r>
            <a:r>
              <a:rPr lang="en-US" sz="1400" b="1" dirty="0">
                <a:latin typeface="Lato"/>
              </a:rPr>
              <a:t>machine learning</a:t>
            </a:r>
            <a:r>
              <a:rPr lang="en-US" sz="1400" dirty="0">
                <a:latin typeface="Lato"/>
              </a:rPr>
              <a:t>, and </a:t>
            </a:r>
            <a:r>
              <a:rPr lang="en-US" sz="1400" b="1" dirty="0">
                <a:latin typeface="Lato"/>
              </a:rPr>
              <a:t>biometric recognition</a:t>
            </a:r>
            <a:r>
              <a:rPr lang="en-US" sz="1400" dirty="0">
                <a:latin typeface="Lato"/>
              </a:rPr>
              <a:t> (fingerprint, facial recognition), is enhancing the accuracy and reliability of attendance systems.</a:t>
            </a:r>
            <a:br>
              <a:rPr lang="en-US" sz="1400" dirty="0">
                <a:latin typeface="Lato"/>
              </a:rPr>
            </a:br>
            <a:endParaRPr lang="en-US" sz="1400" dirty="0">
              <a:latin typeface="Lato"/>
            </a:endParaRPr>
          </a:p>
          <a:p>
            <a:pPr marL="180000">
              <a:lnSpc>
                <a:spcPct val="100000"/>
              </a:lnSpc>
              <a:spcBef>
                <a:spcPts val="50"/>
              </a:spcBef>
            </a:pPr>
            <a:r>
              <a:rPr lang="en-US" sz="1800" b="1" dirty="0">
                <a:latin typeface="Lato"/>
              </a:rPr>
              <a:t>Need for Accurate Record-Keeping</a:t>
            </a:r>
            <a:r>
              <a:rPr lang="en-US" sz="1800" dirty="0">
                <a:latin typeface="Lato"/>
              </a:rPr>
              <a:t>:</a:t>
            </a:r>
          </a:p>
          <a:p>
            <a:pPr marL="180000">
              <a:lnSpc>
                <a:spcPct val="100000"/>
              </a:lnSpc>
              <a:spcBef>
                <a:spcPts val="50"/>
              </a:spcBef>
            </a:pPr>
            <a:r>
              <a:rPr lang="en-US" sz="1400" dirty="0">
                <a:latin typeface="Lato"/>
              </a:rPr>
              <a:t>Accurate attendance records are essential for compliance, payroll processing, and performance evaluation, driving organizations to adopt reliable automated systems.</a:t>
            </a:r>
            <a:br>
              <a:rPr lang="en-US" sz="1400" dirty="0">
                <a:latin typeface="Lato"/>
              </a:rPr>
            </a:br>
            <a:endParaRPr lang="en-US" sz="1400" dirty="0">
              <a:latin typeface="Lato"/>
            </a:endParaRPr>
          </a:p>
          <a:p>
            <a:pPr marL="180000">
              <a:lnSpc>
                <a:spcPct val="100000"/>
              </a:lnSpc>
              <a:spcBef>
                <a:spcPts val="50"/>
              </a:spcBef>
            </a:pPr>
            <a:r>
              <a:rPr lang="en-US" sz="1800" b="1" dirty="0">
                <a:latin typeface="Lato"/>
              </a:rPr>
              <a:t>Focus on Employee Engagement</a:t>
            </a:r>
            <a:r>
              <a:rPr lang="en-US" sz="1800" dirty="0">
                <a:latin typeface="Lato"/>
              </a:rPr>
              <a:t>:</a:t>
            </a:r>
          </a:p>
          <a:p>
            <a:pPr marL="180000">
              <a:lnSpc>
                <a:spcPct val="100000"/>
              </a:lnSpc>
              <a:spcBef>
                <a:spcPts val="50"/>
              </a:spcBef>
            </a:pPr>
            <a:r>
              <a:rPr lang="en-US" sz="1400" dirty="0">
                <a:latin typeface="Lato"/>
              </a:rPr>
              <a:t>Companies are looking for ways to improve employee engagement and satisfaction, and automated attendance solutions can contribute by providing transparency and ease of use.</a:t>
            </a:r>
          </a:p>
          <a:p>
            <a:pPr algn="just">
              <a:defRPr/>
            </a:pPr>
            <a:endParaRPr lang="en-US" dirty="0">
              <a:latin typeface="+mj-lt"/>
            </a:endParaRPr>
          </a:p>
          <a:p>
            <a:pPr algn="ctr">
              <a:defRPr/>
            </a:pPr>
            <a:r>
              <a:rPr lang="en-IN" sz="2700" kern="0" dirty="0">
                <a:solidFill>
                  <a:prstClr val="white"/>
                </a:solidFill>
                <a:latin typeface="Calibri" panose="020F0502020204030204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342904"/>
            <a:ext cx="12725400" cy="646329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algn="ctr" defTabSz="685789"/>
            <a:r>
              <a:rPr lang="en-US" sz="3600" b="1" dirty="0">
                <a:solidFill>
                  <a:prstClr val="black">
                    <a:lumMod val="85000"/>
                    <a:lumOff val="15000"/>
                  </a:prstClr>
                </a:solidFill>
                <a:latin typeface="Montserrat"/>
              </a:rPr>
              <a:t>Market Size Estimation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0614" y="4958835"/>
            <a:ext cx="248784" cy="369330"/>
          </a:xfrm>
          <a:prstGeom prst="rect">
            <a:avLst/>
          </a:prstGeom>
        </p:spPr>
        <p:txBody>
          <a:bodyPr wrap="none" lIns="91439" tIns="45719" rIns="91439" bIns="45719">
            <a:spAutoFit/>
          </a:bodyPr>
          <a:lstStyle/>
          <a:p>
            <a:r>
              <a:rPr lang="en-US" dirty="0">
                <a:solidFill>
                  <a:srgbClr val="2E475D"/>
                </a:solidFill>
                <a:latin typeface="Lexend Deca"/>
              </a:rPr>
              <a:t>.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20616" y="9363533"/>
            <a:ext cx="5675840" cy="446274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defTabSz="685789"/>
            <a:r>
              <a:rPr lang="en-US" sz="2300" b="1" dirty="0">
                <a:solidFill>
                  <a:prstClr val="black">
                    <a:lumMod val="85000"/>
                    <a:lumOff val="15000"/>
                  </a:prstClr>
                </a:solidFill>
                <a:latin typeface="Montserrat"/>
              </a:rPr>
              <a:t>Sources: ……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39203" y="8039102"/>
            <a:ext cx="7713574" cy="1431159"/>
          </a:xfrm>
          <a:prstGeom prst="rect">
            <a:avLst/>
          </a:prstGeom>
          <a:solidFill>
            <a:srgbClr val="FFC000"/>
          </a:solidFill>
        </p:spPr>
        <p:txBody>
          <a:bodyPr wrap="square" lIns="91439" tIns="45719" rIns="91439" bIns="45719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+mj-lt"/>
              </a:rPr>
              <a:t>	</a:t>
            </a:r>
          </a:p>
          <a:p>
            <a:r>
              <a:rPr lang="en-US" dirty="0">
                <a:solidFill>
                  <a:srgbClr val="000000"/>
                </a:solidFill>
                <a:latin typeface="+mj-lt"/>
              </a:rPr>
              <a:t>	</a:t>
            </a:r>
            <a:r>
              <a:rPr lang="en-US" sz="2300" dirty="0">
                <a:solidFill>
                  <a:srgbClr val="000000"/>
                </a:solidFill>
                <a:latin typeface="+mj-lt"/>
              </a:rPr>
              <a:t>This slide is to provide details on Market Size and demonstrate How big is the market opportunity your venture is pursuing. Add source/reference to the data presented.</a:t>
            </a:r>
            <a:endParaRPr lang="en-US" sz="2300" dirty="0">
              <a:latin typeface="+mj-lt"/>
            </a:endParaRPr>
          </a:p>
        </p:txBody>
      </p:sp>
      <p:graphicFrame>
        <p:nvGraphicFramePr>
          <p:cNvPr id="18" name="Diagram 17"/>
          <p:cNvGraphicFramePr/>
          <p:nvPr>
            <p:extLst>
              <p:ext uri="{D42A27DB-BD31-4B8C-83A1-F6EECF244321}">
                <p14:modId xmlns:p14="http://schemas.microsoft.com/office/powerpoint/2010/main" val="1169359264"/>
              </p:ext>
            </p:extLst>
          </p:nvPr>
        </p:nvGraphicFramePr>
        <p:xfrm>
          <a:off x="457200" y="1866902"/>
          <a:ext cx="6735468" cy="5481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pSp>
        <p:nvGrpSpPr>
          <p:cNvPr id="2" name="object 8">
            <a:extLst>
              <a:ext uri="{0CDB6138-BD7A-4F50-87B0-FED215CB3953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BA9620C-CD8F-4D95-BC77-7999D5100B7B}"/>
              </a:ext>
            </a:extLst>
          </p:cNvPr>
          <p:cNvGrpSpPr/>
          <p:nvPr/>
        </p:nvGrpSpPr>
        <p:grpSpPr>
          <a:xfrm>
            <a:off x="9156192" y="8208583"/>
            <a:ext cx="551180" cy="538480"/>
            <a:chOff x="10643583" y="8135429"/>
            <a:chExt cx="551180" cy="538480"/>
          </a:xfrm>
        </p:grpSpPr>
        <p:pic>
          <p:nvPicPr>
            <p:cNvPr id="3" name="object 9">
              <a:extLst>
                <a:ext uri="{56284F4B-495D-4078-ADC3-84E5991E0F4F}">
  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2288307-CEC5-4141-A7E9-6C8BDDF35549}"/>
                </a:ext>
              </a:extLst>
            </p:cNvPr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10865266" y="8352055"/>
              <a:ext cx="107483" cy="105030"/>
            </a:xfrm>
            <a:prstGeom prst="rect">
              <a:avLst/>
            </a:prstGeom>
            <a:noFill/>
          </p:spPr>
        </p:pic>
        <p:sp>
          <p:nvSpPr>
            <p:cNvPr id="4" name="object 10">
              <a:extLst>
                <a:ext uri="{8B493271-2070-44DC-9D6B-68AA3AAC94A7}">
  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F18DAC5-0B97-4083-B785-F4EA4EC37A30}"/>
                </a:ext>
              </a:extLst>
            </p:cNvPr>
            <p:cNvSpPr/>
            <p:nvPr/>
          </p:nvSpPr>
          <p:spPr>
            <a:xfrm>
              <a:off x="10643583" y="8135429"/>
              <a:ext cx="551180" cy="538480"/>
            </a:xfrm>
            <a:custGeom>
              <a:avLst/>
              <a:gdLst/>
              <a:ahLst/>
              <a:cxnLst/>
              <a:rect l="0" t="0" r="r" b="b"/>
              <a:pathLst>
                <a:path w="551179" h="538479">
                  <a:moveTo>
                    <a:pt x="80612" y="282270"/>
                  </a:moveTo>
                  <a:lnTo>
                    <a:pt x="40306" y="282270"/>
                  </a:lnTo>
                  <a:lnTo>
                    <a:pt x="48538" y="330645"/>
                  </a:lnTo>
                  <a:lnTo>
                    <a:pt x="66449" y="375035"/>
                  </a:lnTo>
                  <a:lnTo>
                    <a:pt x="92920" y="414346"/>
                  </a:lnTo>
                  <a:lnTo>
                    <a:pt x="126831" y="447483"/>
                  </a:lnTo>
                  <a:lnTo>
                    <a:pt x="167059" y="473350"/>
                  </a:lnTo>
                  <a:lnTo>
                    <a:pt x="212486" y="490853"/>
                  </a:lnTo>
                  <a:lnTo>
                    <a:pt x="261991" y="498896"/>
                  </a:lnTo>
                  <a:lnTo>
                    <a:pt x="261991" y="538283"/>
                  </a:lnTo>
                  <a:lnTo>
                    <a:pt x="288862" y="538283"/>
                  </a:lnTo>
                  <a:lnTo>
                    <a:pt x="288862" y="498896"/>
                  </a:lnTo>
                  <a:lnTo>
                    <a:pt x="338366" y="490853"/>
                  </a:lnTo>
                  <a:lnTo>
                    <a:pt x="383793" y="473350"/>
                  </a:lnTo>
                  <a:lnTo>
                    <a:pt x="405317" y="459510"/>
                  </a:lnTo>
                  <a:lnTo>
                    <a:pt x="261991" y="459510"/>
                  </a:lnTo>
                  <a:lnTo>
                    <a:pt x="215297" y="450631"/>
                  </a:lnTo>
                  <a:lnTo>
                    <a:pt x="173317" y="431658"/>
                  </a:lnTo>
                  <a:lnTo>
                    <a:pt x="137455" y="403964"/>
                  </a:lnTo>
                  <a:lnTo>
                    <a:pt x="109114" y="368921"/>
                  </a:lnTo>
                  <a:lnTo>
                    <a:pt x="89699" y="327899"/>
                  </a:lnTo>
                  <a:lnTo>
                    <a:pt x="80612" y="282270"/>
                  </a:lnTo>
                  <a:close/>
                </a:path>
                <a:path w="551179" h="538479">
                  <a:moveTo>
                    <a:pt x="139997" y="282270"/>
                  </a:moveTo>
                  <a:lnTo>
                    <a:pt x="113059" y="282270"/>
                  </a:lnTo>
                  <a:lnTo>
                    <a:pt x="123490" y="326556"/>
                  </a:lnTo>
                  <a:lnTo>
                    <a:pt x="145531" y="365148"/>
                  </a:lnTo>
                  <a:lnTo>
                    <a:pt x="177250" y="396139"/>
                  </a:lnTo>
                  <a:lnTo>
                    <a:pt x="216676" y="417656"/>
                  </a:lnTo>
                  <a:lnTo>
                    <a:pt x="261991" y="427869"/>
                  </a:lnTo>
                  <a:lnTo>
                    <a:pt x="261991" y="459510"/>
                  </a:lnTo>
                  <a:lnTo>
                    <a:pt x="288862" y="459510"/>
                  </a:lnTo>
                  <a:lnTo>
                    <a:pt x="288862" y="427869"/>
                  </a:lnTo>
                  <a:lnTo>
                    <a:pt x="334220" y="417656"/>
                  </a:lnTo>
                  <a:lnTo>
                    <a:pt x="363880" y="401480"/>
                  </a:lnTo>
                  <a:lnTo>
                    <a:pt x="261991" y="401480"/>
                  </a:lnTo>
                  <a:lnTo>
                    <a:pt x="216621" y="389058"/>
                  </a:lnTo>
                  <a:lnTo>
                    <a:pt x="179222" y="363150"/>
                  </a:lnTo>
                  <a:lnTo>
                    <a:pt x="152709" y="326605"/>
                  </a:lnTo>
                  <a:lnTo>
                    <a:pt x="139997" y="282270"/>
                  </a:lnTo>
                  <a:close/>
                </a:path>
                <a:path w="551179" h="538479">
                  <a:moveTo>
                    <a:pt x="510546" y="282270"/>
                  </a:moveTo>
                  <a:lnTo>
                    <a:pt x="470240" y="282270"/>
                  </a:lnTo>
                  <a:lnTo>
                    <a:pt x="461153" y="327899"/>
                  </a:lnTo>
                  <a:lnTo>
                    <a:pt x="441738" y="368921"/>
                  </a:lnTo>
                  <a:lnTo>
                    <a:pt x="413398" y="403964"/>
                  </a:lnTo>
                  <a:lnTo>
                    <a:pt x="377535" y="431658"/>
                  </a:lnTo>
                  <a:lnTo>
                    <a:pt x="335556" y="450631"/>
                  </a:lnTo>
                  <a:lnTo>
                    <a:pt x="288862" y="459510"/>
                  </a:lnTo>
                  <a:lnTo>
                    <a:pt x="405317" y="459510"/>
                  </a:lnTo>
                  <a:lnTo>
                    <a:pt x="424022" y="447483"/>
                  </a:lnTo>
                  <a:lnTo>
                    <a:pt x="457932" y="414346"/>
                  </a:lnTo>
                  <a:lnTo>
                    <a:pt x="484403" y="375035"/>
                  </a:lnTo>
                  <a:lnTo>
                    <a:pt x="502314" y="330645"/>
                  </a:lnTo>
                  <a:lnTo>
                    <a:pt x="510546" y="282270"/>
                  </a:lnTo>
                  <a:close/>
                </a:path>
                <a:path w="551179" h="538479">
                  <a:moveTo>
                    <a:pt x="288861" y="347914"/>
                  </a:moveTo>
                  <a:lnTo>
                    <a:pt x="261991" y="347914"/>
                  </a:lnTo>
                  <a:lnTo>
                    <a:pt x="261991" y="401480"/>
                  </a:lnTo>
                  <a:lnTo>
                    <a:pt x="288862" y="401480"/>
                  </a:lnTo>
                  <a:lnTo>
                    <a:pt x="288861" y="347914"/>
                  </a:lnTo>
                  <a:close/>
                </a:path>
                <a:path w="551179" h="538479">
                  <a:moveTo>
                    <a:pt x="437860" y="282270"/>
                  </a:moveTo>
                  <a:lnTo>
                    <a:pt x="410855" y="282270"/>
                  </a:lnTo>
                  <a:lnTo>
                    <a:pt x="398143" y="326605"/>
                  </a:lnTo>
                  <a:lnTo>
                    <a:pt x="371630" y="363150"/>
                  </a:lnTo>
                  <a:lnTo>
                    <a:pt x="334232" y="389058"/>
                  </a:lnTo>
                  <a:lnTo>
                    <a:pt x="288862" y="401480"/>
                  </a:lnTo>
                  <a:lnTo>
                    <a:pt x="363880" y="401480"/>
                  </a:lnTo>
                  <a:lnTo>
                    <a:pt x="373695" y="396119"/>
                  </a:lnTo>
                  <a:lnTo>
                    <a:pt x="405400" y="365129"/>
                  </a:lnTo>
                  <a:lnTo>
                    <a:pt x="427426" y="326556"/>
                  </a:lnTo>
                  <a:lnTo>
                    <a:pt x="437860" y="282270"/>
                  </a:lnTo>
                  <a:close/>
                </a:path>
                <a:path w="551179" h="538479">
                  <a:moveTo>
                    <a:pt x="194813" y="256012"/>
                  </a:moveTo>
                  <a:lnTo>
                    <a:pt x="0" y="256012"/>
                  </a:lnTo>
                  <a:lnTo>
                    <a:pt x="0" y="282270"/>
                  </a:lnTo>
                  <a:lnTo>
                    <a:pt x="194813" y="282270"/>
                  </a:lnTo>
                  <a:lnTo>
                    <a:pt x="194813" y="256012"/>
                  </a:lnTo>
                  <a:close/>
                </a:path>
                <a:path w="551179" h="538479">
                  <a:moveTo>
                    <a:pt x="550852" y="256012"/>
                  </a:moveTo>
                  <a:lnTo>
                    <a:pt x="356039" y="256012"/>
                  </a:lnTo>
                  <a:lnTo>
                    <a:pt x="356039" y="282270"/>
                  </a:lnTo>
                  <a:lnTo>
                    <a:pt x="550852" y="282270"/>
                  </a:lnTo>
                  <a:lnTo>
                    <a:pt x="550852" y="256012"/>
                  </a:lnTo>
                  <a:close/>
                </a:path>
                <a:path w="551179" h="538479">
                  <a:moveTo>
                    <a:pt x="288861" y="0"/>
                  </a:moveTo>
                  <a:lnTo>
                    <a:pt x="261990" y="0"/>
                  </a:lnTo>
                  <a:lnTo>
                    <a:pt x="261990" y="39386"/>
                  </a:lnTo>
                  <a:lnTo>
                    <a:pt x="212486" y="47430"/>
                  </a:lnTo>
                  <a:lnTo>
                    <a:pt x="167059" y="64933"/>
                  </a:lnTo>
                  <a:lnTo>
                    <a:pt x="126830" y="90800"/>
                  </a:lnTo>
                  <a:lnTo>
                    <a:pt x="92920" y="123936"/>
                  </a:lnTo>
                  <a:lnTo>
                    <a:pt x="66449" y="163247"/>
                  </a:lnTo>
                  <a:lnTo>
                    <a:pt x="48537" y="207638"/>
                  </a:lnTo>
                  <a:lnTo>
                    <a:pt x="40306" y="256012"/>
                  </a:lnTo>
                  <a:lnTo>
                    <a:pt x="80612" y="256012"/>
                  </a:lnTo>
                  <a:lnTo>
                    <a:pt x="89698" y="210384"/>
                  </a:lnTo>
                  <a:lnTo>
                    <a:pt x="109114" y="169362"/>
                  </a:lnTo>
                  <a:lnTo>
                    <a:pt x="137454" y="134318"/>
                  </a:lnTo>
                  <a:lnTo>
                    <a:pt x="173316" y="106624"/>
                  </a:lnTo>
                  <a:lnTo>
                    <a:pt x="215296" y="87652"/>
                  </a:lnTo>
                  <a:lnTo>
                    <a:pt x="261990" y="78773"/>
                  </a:lnTo>
                  <a:lnTo>
                    <a:pt x="405316" y="78773"/>
                  </a:lnTo>
                  <a:lnTo>
                    <a:pt x="383793" y="64933"/>
                  </a:lnTo>
                  <a:lnTo>
                    <a:pt x="338366" y="47430"/>
                  </a:lnTo>
                  <a:lnTo>
                    <a:pt x="288861" y="39386"/>
                  </a:lnTo>
                  <a:lnTo>
                    <a:pt x="288861" y="0"/>
                  </a:lnTo>
                  <a:close/>
                </a:path>
                <a:path w="551179" h="538479">
                  <a:moveTo>
                    <a:pt x="288861" y="78773"/>
                  </a:moveTo>
                  <a:lnTo>
                    <a:pt x="261990" y="78773"/>
                  </a:lnTo>
                  <a:lnTo>
                    <a:pt x="261990" y="110479"/>
                  </a:lnTo>
                  <a:lnTo>
                    <a:pt x="216670" y="120672"/>
                  </a:lnTo>
                  <a:lnTo>
                    <a:pt x="177197" y="142191"/>
                  </a:lnTo>
                  <a:lnTo>
                    <a:pt x="145483" y="173168"/>
                  </a:lnTo>
                  <a:lnTo>
                    <a:pt x="123444" y="211732"/>
                  </a:lnTo>
                  <a:lnTo>
                    <a:pt x="112992" y="256012"/>
                  </a:lnTo>
                  <a:lnTo>
                    <a:pt x="139997" y="256012"/>
                  </a:lnTo>
                  <a:lnTo>
                    <a:pt x="152709" y="211678"/>
                  </a:lnTo>
                  <a:lnTo>
                    <a:pt x="179222" y="175132"/>
                  </a:lnTo>
                  <a:lnTo>
                    <a:pt x="216620" y="149225"/>
                  </a:lnTo>
                  <a:lnTo>
                    <a:pt x="261990" y="136802"/>
                  </a:lnTo>
                  <a:lnTo>
                    <a:pt x="363880" y="136802"/>
                  </a:lnTo>
                  <a:lnTo>
                    <a:pt x="334193" y="120612"/>
                  </a:lnTo>
                  <a:lnTo>
                    <a:pt x="288861" y="110413"/>
                  </a:lnTo>
                  <a:lnTo>
                    <a:pt x="288861" y="78773"/>
                  </a:lnTo>
                  <a:close/>
                </a:path>
                <a:path w="551179" h="538479">
                  <a:moveTo>
                    <a:pt x="363880" y="136802"/>
                  </a:moveTo>
                  <a:lnTo>
                    <a:pt x="288861" y="136802"/>
                  </a:lnTo>
                  <a:lnTo>
                    <a:pt x="334231" y="149225"/>
                  </a:lnTo>
                  <a:lnTo>
                    <a:pt x="371630" y="175132"/>
                  </a:lnTo>
                  <a:lnTo>
                    <a:pt x="398143" y="211678"/>
                  </a:lnTo>
                  <a:lnTo>
                    <a:pt x="410855" y="256012"/>
                  </a:lnTo>
                  <a:lnTo>
                    <a:pt x="437860" y="256012"/>
                  </a:lnTo>
                  <a:lnTo>
                    <a:pt x="427402" y="211678"/>
                  </a:lnTo>
                  <a:lnTo>
                    <a:pt x="405389" y="173135"/>
                  </a:lnTo>
                  <a:lnTo>
                    <a:pt x="373674" y="142143"/>
                  </a:lnTo>
                  <a:lnTo>
                    <a:pt x="363880" y="136802"/>
                  </a:lnTo>
                  <a:close/>
                </a:path>
                <a:path w="551179" h="538479">
                  <a:moveTo>
                    <a:pt x="405316" y="78773"/>
                  </a:moveTo>
                  <a:lnTo>
                    <a:pt x="288861" y="78773"/>
                  </a:lnTo>
                  <a:lnTo>
                    <a:pt x="335555" y="87652"/>
                  </a:lnTo>
                  <a:lnTo>
                    <a:pt x="377535" y="106624"/>
                  </a:lnTo>
                  <a:lnTo>
                    <a:pt x="413397" y="134318"/>
                  </a:lnTo>
                  <a:lnTo>
                    <a:pt x="441738" y="169362"/>
                  </a:lnTo>
                  <a:lnTo>
                    <a:pt x="461153" y="210384"/>
                  </a:lnTo>
                  <a:lnTo>
                    <a:pt x="470240" y="256012"/>
                  </a:lnTo>
                  <a:lnTo>
                    <a:pt x="510546" y="256012"/>
                  </a:lnTo>
                  <a:lnTo>
                    <a:pt x="502314" y="207638"/>
                  </a:lnTo>
                  <a:lnTo>
                    <a:pt x="484403" y="163247"/>
                  </a:lnTo>
                  <a:lnTo>
                    <a:pt x="457931" y="123936"/>
                  </a:lnTo>
                  <a:lnTo>
                    <a:pt x="424021" y="90800"/>
                  </a:lnTo>
                  <a:lnTo>
                    <a:pt x="405316" y="78773"/>
                  </a:lnTo>
                  <a:close/>
                </a:path>
                <a:path w="551179" h="538479">
                  <a:moveTo>
                    <a:pt x="288861" y="136802"/>
                  </a:moveTo>
                  <a:lnTo>
                    <a:pt x="261990" y="136802"/>
                  </a:lnTo>
                  <a:lnTo>
                    <a:pt x="261990" y="190368"/>
                  </a:lnTo>
                  <a:lnTo>
                    <a:pt x="288861" y="190368"/>
                  </a:lnTo>
                  <a:lnTo>
                    <a:pt x="288861" y="136802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lang="en-US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airam 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6700"/>
            <a:ext cx="2626360" cy="838200"/>
          </a:xfrm>
          <a:prstGeom prst="rect">
            <a:avLst/>
          </a:prstGeom>
        </p:spPr>
      </p:pic>
      <p:pic>
        <p:nvPicPr>
          <p:cNvPr id="9" name="Picture 8" descr="Sairam innovation 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9603" y="266700"/>
            <a:ext cx="2132350" cy="838200"/>
          </a:xfrm>
          <a:prstGeom prst="rect">
            <a:avLst/>
          </a:prstGeom>
        </p:spPr>
      </p:pic>
      <p:pic>
        <p:nvPicPr>
          <p:cNvPr id="10" name="Picture 9" descr="Chairman sir 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8800" y="9182102"/>
            <a:ext cx="876300" cy="88673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769112" y="1955331"/>
            <a:ext cx="8991380" cy="1846657"/>
          </a:xfrm>
          <a:prstGeom prst="rect">
            <a:avLst/>
          </a:prstGeom>
          <a:solidFill>
            <a:srgbClr val="FFC000"/>
          </a:solidFill>
        </p:spPr>
        <p:txBody>
          <a:bodyPr wrap="square" lIns="91439" tIns="45719" rIns="91439" bIns="45719">
            <a:spAutoFit/>
          </a:bodyPr>
          <a:lstStyle/>
          <a:p>
            <a:pPr defTabSz="1371557"/>
            <a:r>
              <a:rPr lang="en-US" sz="2700" b="1" dirty="0">
                <a:solidFill>
                  <a:schemeClr val="bg1"/>
                </a:solidFill>
                <a:latin typeface="Calibri" panose="020F0502020204030204"/>
              </a:rPr>
              <a:t>Goals</a:t>
            </a:r>
          </a:p>
          <a:p>
            <a:pPr defTabSz="1371557"/>
            <a:endParaRPr lang="en-US" sz="2700" b="1" dirty="0">
              <a:solidFill>
                <a:schemeClr val="bg1"/>
              </a:solidFill>
              <a:latin typeface="Calibri" panose="020F0502020204030204"/>
            </a:endParaRPr>
          </a:p>
          <a:p>
            <a:pPr defTabSz="1371557"/>
            <a:endParaRPr lang="en-US" sz="2700" b="1" dirty="0">
              <a:solidFill>
                <a:schemeClr val="bg1"/>
              </a:solidFill>
              <a:latin typeface="Calibri" panose="020F0502020204030204"/>
            </a:endParaRPr>
          </a:p>
          <a:p>
            <a:pPr defTabSz="1371557"/>
            <a:endParaRPr lang="en-US" sz="1100" b="1" dirty="0">
              <a:solidFill>
                <a:schemeClr val="bg1"/>
              </a:solidFill>
              <a:latin typeface="Calibri" panose="020F0502020204030204"/>
            </a:endParaRPr>
          </a:p>
          <a:p>
            <a:pPr defTabSz="1371557"/>
            <a:endParaRPr lang="en-US" sz="1100" b="1" dirty="0">
              <a:solidFill>
                <a:schemeClr val="bg1"/>
              </a:solidFill>
              <a:latin typeface="Calibri" panose="020F0502020204030204"/>
            </a:endParaRPr>
          </a:p>
          <a:p>
            <a:pPr defTabSz="1371557"/>
            <a:endParaRPr lang="en-US" sz="1100" b="1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69113" y="4093458"/>
            <a:ext cx="9144166" cy="1831269"/>
          </a:xfrm>
          <a:prstGeom prst="rect">
            <a:avLst/>
          </a:prstGeom>
          <a:solidFill>
            <a:schemeClr val="accent6"/>
          </a:solidFill>
        </p:spPr>
        <p:txBody>
          <a:bodyPr wrap="square" lIns="91439" tIns="45719" rIns="91439" bIns="45719">
            <a:spAutoFit/>
          </a:bodyPr>
          <a:lstStyle/>
          <a:p>
            <a:pPr defTabSz="1371557"/>
            <a:r>
              <a:rPr lang="en-US" sz="2700" b="1" dirty="0">
                <a:solidFill>
                  <a:schemeClr val="bg1"/>
                </a:solidFill>
                <a:latin typeface="Calibri" panose="020F0502020204030204"/>
              </a:rPr>
              <a:t>Frustrations</a:t>
            </a:r>
          </a:p>
          <a:p>
            <a:pPr defTabSz="1371557"/>
            <a:endParaRPr lang="en-US" sz="2700" b="1" dirty="0">
              <a:solidFill>
                <a:schemeClr val="bg1"/>
              </a:solidFill>
              <a:latin typeface="Calibri" panose="020F0502020204030204"/>
            </a:endParaRPr>
          </a:p>
          <a:p>
            <a:pPr defTabSz="1371557"/>
            <a:r>
              <a:rPr lang="en-US" sz="2700" b="1" dirty="0">
                <a:solidFill>
                  <a:schemeClr val="bg1"/>
                </a:solidFill>
                <a:latin typeface="Calibri" panose="020F0502020204030204"/>
              </a:rPr>
              <a:t> </a:t>
            </a:r>
          </a:p>
          <a:p>
            <a:pPr defTabSz="1371557"/>
            <a:endParaRPr lang="en-US" sz="1100" b="1" dirty="0">
              <a:solidFill>
                <a:schemeClr val="bg1"/>
              </a:solidFill>
              <a:latin typeface="Calibri" panose="020F0502020204030204"/>
            </a:endParaRPr>
          </a:p>
          <a:p>
            <a:pPr defTabSz="1371557"/>
            <a:endParaRPr lang="en-US" sz="2100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24400" y="6155705"/>
            <a:ext cx="9188876" cy="398570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39" tIns="45719" rIns="91439" bIns="45719">
            <a:spAutoFit/>
          </a:bodyPr>
          <a:lstStyle/>
          <a:p>
            <a:pPr defTabSz="1371557"/>
            <a:r>
              <a:rPr lang="en-US" sz="2700" b="1" dirty="0">
                <a:solidFill>
                  <a:srgbClr val="FD9F4D"/>
                </a:solidFill>
                <a:latin typeface="Calibri" panose="020F0502020204030204"/>
              </a:rPr>
              <a:t>Bio</a:t>
            </a:r>
          </a:p>
          <a:p>
            <a:pPr defTabSz="1371557"/>
            <a:endParaRPr lang="en-US" sz="2700" b="1" dirty="0">
              <a:solidFill>
                <a:srgbClr val="FD9F4D"/>
              </a:solidFill>
              <a:latin typeface="Calibri" panose="020F0502020204030204"/>
            </a:endParaRPr>
          </a:p>
          <a:p>
            <a:pPr defTabSz="1371557"/>
            <a:endParaRPr lang="en-US" sz="2700" b="1" dirty="0">
              <a:solidFill>
                <a:srgbClr val="FD9F4D"/>
              </a:solidFill>
              <a:latin typeface="Calibri" panose="020F0502020204030204"/>
            </a:endParaRPr>
          </a:p>
          <a:p>
            <a:pPr defTabSz="1371557"/>
            <a:endParaRPr lang="en-US" sz="2700" b="1" dirty="0">
              <a:solidFill>
                <a:srgbClr val="FD9F4D"/>
              </a:solidFill>
              <a:latin typeface="Calibri" panose="020F0502020204030204"/>
            </a:endParaRPr>
          </a:p>
          <a:p>
            <a:pPr defTabSz="1371557"/>
            <a:endParaRPr lang="en-US" sz="2700" b="1" dirty="0">
              <a:solidFill>
                <a:srgbClr val="FD9F4D"/>
              </a:solidFill>
              <a:latin typeface="Calibri" panose="020F0502020204030204"/>
            </a:endParaRPr>
          </a:p>
          <a:p>
            <a:pPr defTabSz="1371557"/>
            <a:endParaRPr lang="en-US" sz="2700" b="1" dirty="0">
              <a:solidFill>
                <a:srgbClr val="FD9F4D"/>
              </a:solidFill>
              <a:latin typeface="Calibri" panose="020F0502020204030204"/>
            </a:endParaRPr>
          </a:p>
          <a:p>
            <a:pPr defTabSz="1371557"/>
            <a:endParaRPr lang="en-US" sz="1600" b="1" dirty="0">
              <a:solidFill>
                <a:prstClr val="black"/>
              </a:solidFill>
              <a:latin typeface="Calibri" panose="020F0502020204030204"/>
            </a:endParaRPr>
          </a:p>
          <a:p>
            <a:pPr defTabSz="1371557"/>
            <a:endParaRPr lang="en-US" sz="2100" dirty="0">
              <a:solidFill>
                <a:srgbClr val="052B3E"/>
              </a:solidFill>
              <a:latin typeface="Calibri" panose="020F0502020204030204"/>
            </a:endParaRPr>
          </a:p>
          <a:p>
            <a:pPr defTabSz="1371557"/>
            <a:endParaRPr lang="en-US" dirty="0">
              <a:solidFill>
                <a:srgbClr val="052B3E"/>
              </a:solidFill>
              <a:latin typeface="Calibri" panose="020F0502020204030204"/>
            </a:endParaRPr>
          </a:p>
          <a:p>
            <a:pPr defTabSz="1371557"/>
            <a:endParaRPr lang="en-US" sz="3600" dirty="0">
              <a:solidFill>
                <a:srgbClr val="052B3E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09603" y="6896103"/>
            <a:ext cx="1870831" cy="507829"/>
          </a:xfrm>
          <a:prstGeom prst="rect">
            <a:avLst/>
          </a:prstGeom>
        </p:spPr>
        <p:txBody>
          <a:bodyPr wrap="none" lIns="91439" tIns="45719" rIns="91439" bIns="45719">
            <a:spAutoFit/>
          </a:bodyPr>
          <a:lstStyle/>
          <a:p>
            <a:pPr defTabSz="1371557"/>
            <a:r>
              <a:rPr lang="en-US" sz="2700" b="1" dirty="0">
                <a:latin typeface="Calibri" panose="020F0502020204030204"/>
              </a:rPr>
              <a:t>Personality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158199" y="1437390"/>
            <a:ext cx="1999007" cy="507829"/>
          </a:xfrm>
          <a:prstGeom prst="rect">
            <a:avLst/>
          </a:prstGeom>
        </p:spPr>
        <p:txBody>
          <a:bodyPr wrap="none" lIns="91439" tIns="45719" rIns="91439" bIns="45719">
            <a:spAutoFit/>
          </a:bodyPr>
          <a:lstStyle/>
          <a:p>
            <a:pPr defTabSz="1371557"/>
            <a:r>
              <a:rPr lang="en-US" sz="2700" b="1" dirty="0">
                <a:solidFill>
                  <a:srgbClr val="FD9F4D"/>
                </a:solidFill>
                <a:latin typeface="Calibri" panose="020F0502020204030204"/>
              </a:rPr>
              <a:t>Motivations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969" y="5722648"/>
            <a:ext cx="4497266" cy="1061827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defTabSz="1371557"/>
            <a:r>
              <a:rPr lang="en-US" sz="2100" dirty="0">
                <a:solidFill>
                  <a:srgbClr val="052B3E"/>
                </a:solidFill>
                <a:latin typeface="Calibri" panose="020F0502020204030204"/>
              </a:rPr>
              <a:t>Age: </a:t>
            </a:r>
          </a:p>
          <a:p>
            <a:pPr defTabSz="1371557"/>
            <a:r>
              <a:rPr lang="en-US" sz="2100" dirty="0">
                <a:solidFill>
                  <a:srgbClr val="052B3E"/>
                </a:solidFill>
                <a:latin typeface="Calibri" panose="020F0502020204030204"/>
              </a:rPr>
              <a:t>Occupation: 	</a:t>
            </a:r>
          </a:p>
          <a:p>
            <a:pPr defTabSz="1371557"/>
            <a:r>
              <a:rPr lang="en-US" sz="2100" dirty="0">
                <a:solidFill>
                  <a:srgbClr val="052B3E"/>
                </a:solidFill>
                <a:latin typeface="Calibri" panose="020F0502020204030204"/>
              </a:rPr>
              <a:t>Location: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0303" y="1285997"/>
            <a:ext cx="2354642" cy="56716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39" tIns="45719" rIns="91439" bIns="45719" rtlCol="0" anchor="ctr"/>
          <a:lstStyle/>
          <a:p>
            <a:pPr algn="ctr" defTabSz="1371557"/>
            <a:r>
              <a:rPr lang="en-US" sz="1600" dirty="0">
                <a:solidFill>
                  <a:schemeClr val="tx1"/>
                </a:solidFill>
                <a:latin typeface="Calibri" panose="020F0502020204030204"/>
              </a:rPr>
              <a:t>Personality trait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09488" y="7527691"/>
            <a:ext cx="3553360" cy="2187914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4325600" y="2324102"/>
            <a:ext cx="3254332" cy="249855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22484" y="4477027"/>
            <a:ext cx="4093840" cy="10624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defTabSz="1371557"/>
            <a:r>
              <a:rPr lang="en-US" sz="2100" b="1" dirty="0">
                <a:solidFill>
                  <a:prstClr val="white"/>
                </a:solidFill>
                <a:latin typeface="Calibri" panose="020F0502020204030204"/>
              </a:rPr>
              <a:t>Ethos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1400" y="266700"/>
            <a:ext cx="11351228" cy="840228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algn="ctr" defTabSz="1371591">
              <a:lnSpc>
                <a:spcPct val="90000"/>
              </a:lnSpc>
              <a:spcBef>
                <a:spcPct val="0"/>
              </a:spcBef>
            </a:pPr>
            <a:r>
              <a:rPr lang="en-US" sz="5400" b="1" dirty="0"/>
              <a:t>Customer Persona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5969" y="1838290"/>
            <a:ext cx="4120358" cy="2498558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39" tIns="45719" rIns="91439" bIns="45719" rtlCol="0" anchor="ctr"/>
          <a:lstStyle/>
          <a:p>
            <a:pPr defTabSz="1371591"/>
            <a:r>
              <a:rPr lang="en-US" sz="2300" dirty="0">
                <a:solidFill>
                  <a:prstClr val="black"/>
                </a:solidFill>
                <a:latin typeface="Calibri" panose="020F0502020204030204"/>
              </a:rPr>
              <a:t>Photo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7733" y="1285995"/>
            <a:ext cx="2354642" cy="56716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39" tIns="45719" rIns="91439" bIns="45719" rtlCol="0" anchor="ctr"/>
          <a:lstStyle/>
          <a:p>
            <a:pPr algn="ctr" defTabSz="1371557"/>
            <a:r>
              <a:rPr lang="en-US" sz="1600" dirty="0">
                <a:solidFill>
                  <a:schemeClr val="tx1"/>
                </a:solidFill>
                <a:latin typeface="Calibri" panose="020F0502020204030204"/>
              </a:rPr>
              <a:t>Personality trait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285161" y="1285994"/>
            <a:ext cx="2354642" cy="56716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39" tIns="45719" rIns="91439" bIns="45719" rtlCol="0" anchor="ctr"/>
          <a:lstStyle/>
          <a:p>
            <a:pPr algn="ctr" defTabSz="1371557"/>
            <a:r>
              <a:rPr lang="en-US" sz="1600" dirty="0">
                <a:solidFill>
                  <a:schemeClr val="tx1"/>
                </a:solidFill>
                <a:latin typeface="Calibri" panose="020F0502020204030204"/>
              </a:rPr>
              <a:t>Personality trait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249403" y="5829300"/>
            <a:ext cx="3889846" cy="2923875"/>
          </a:xfrm>
          <a:prstGeom prst="rect">
            <a:avLst/>
          </a:prstGeom>
          <a:solidFill>
            <a:srgbClr val="FFC000"/>
          </a:solidFill>
        </p:spPr>
        <p:txBody>
          <a:bodyPr wrap="square" lIns="91439" tIns="45719" rIns="91439" bIns="45719">
            <a:spAutoFit/>
          </a:bodyPr>
          <a:lstStyle/>
          <a:p>
            <a:pPr algn="just"/>
            <a:r>
              <a:rPr lang="en-US" sz="2300" dirty="0"/>
              <a:t>	</a:t>
            </a:r>
          </a:p>
          <a:p>
            <a:pPr algn="just"/>
            <a:r>
              <a:rPr lang="en-US" sz="2300" dirty="0"/>
              <a:t>	The aim is to collect the information about your ideal customer persona who are likely to buy your product or service . It will help you tailor the user experience through targeted design</a:t>
            </a:r>
            <a:r>
              <a:rPr lang="en-US" dirty="0"/>
              <a:t>. </a:t>
            </a:r>
          </a:p>
        </p:txBody>
      </p:sp>
      <p:pic>
        <p:nvPicPr>
          <p:cNvPr id="24" name="Graphic 27" descr="Target with solid fill">
            <a:extLst>
              <a:ext uri="{FF2B5EF4-FFF2-40B4-BE49-F238E27FC236}">
                <a16:creationId xmlns:a16="http://schemas.microsoft.com/office/drawing/2014/main" id="{0A6ECB55-4CA0-4244-AFAF-47071920EBDB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4200" y="6057904"/>
            <a:ext cx="655576" cy="6370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airam 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6700"/>
            <a:ext cx="2626360" cy="838200"/>
          </a:xfrm>
          <a:prstGeom prst="rect">
            <a:avLst/>
          </a:prstGeom>
        </p:spPr>
      </p:pic>
      <p:pic>
        <p:nvPicPr>
          <p:cNvPr id="9" name="Picture 8" descr="Sairam innovation 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9603" y="266700"/>
            <a:ext cx="2132350" cy="838200"/>
          </a:xfrm>
          <a:prstGeom prst="rect">
            <a:avLst/>
          </a:prstGeom>
        </p:spPr>
      </p:pic>
      <p:pic>
        <p:nvPicPr>
          <p:cNvPr id="10" name="Picture 9" descr="Chairman sir 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8800" y="9182102"/>
            <a:ext cx="876300" cy="886733"/>
          </a:xfrm>
          <a:prstGeom prst="rect">
            <a:avLst/>
          </a:prstGeom>
        </p:spPr>
      </p:pic>
      <p:sp>
        <p:nvSpPr>
          <p:cNvPr id="6" name="TextBox 15"/>
          <p:cNvSpPr txBox="1"/>
          <p:nvPr/>
        </p:nvSpPr>
        <p:spPr>
          <a:xfrm>
            <a:off x="2971800" y="190502"/>
            <a:ext cx="12338484" cy="1115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746"/>
              </a:lnSpc>
            </a:pPr>
            <a:r>
              <a:rPr lang="en-US" sz="5400" b="1" dirty="0"/>
              <a:t>Value Proposition Canvas 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971110" y="1638301"/>
            <a:ext cx="15187102" cy="7087219"/>
            <a:chOff x="950612" y="1275171"/>
            <a:chExt cx="6808255" cy="3685379"/>
          </a:xfrm>
        </p:grpSpPr>
        <p:grpSp>
          <p:nvGrpSpPr>
            <p:cNvPr id="13" name="Group 13"/>
            <p:cNvGrpSpPr/>
            <p:nvPr/>
          </p:nvGrpSpPr>
          <p:grpSpPr>
            <a:xfrm>
              <a:off x="2991814" y="2419869"/>
              <a:ext cx="2911565" cy="1229114"/>
              <a:chOff x="587719" y="1125830"/>
              <a:chExt cx="4350054" cy="1835386"/>
            </a:xfrm>
          </p:grpSpPr>
          <p:grpSp>
            <p:nvGrpSpPr>
              <p:cNvPr id="33" name="Group 14"/>
              <p:cNvGrpSpPr/>
              <p:nvPr/>
            </p:nvGrpSpPr>
            <p:grpSpPr>
              <a:xfrm>
                <a:off x="2884450" y="1125830"/>
                <a:ext cx="2053323" cy="1828800"/>
                <a:chOff x="2884450" y="1125830"/>
                <a:chExt cx="2053323" cy="1828800"/>
              </a:xfrm>
            </p:grpSpPr>
            <p:sp>
              <p:nvSpPr>
                <p:cNvPr id="43" name="Flowchart: Connector 42"/>
                <p:cNvSpPr/>
                <p:nvPr/>
              </p:nvSpPr>
              <p:spPr>
                <a:xfrm>
                  <a:off x="2884450" y="1125830"/>
                  <a:ext cx="1828800" cy="1828800"/>
                </a:xfrm>
                <a:prstGeom prst="flowChartConnector">
                  <a:avLst/>
                </a:prstGeom>
                <a:solidFill>
                  <a:srgbClr val="FFC000">
                    <a:lumMod val="60000"/>
                    <a:lumOff val="40000"/>
                  </a:srgbClr>
                </a:solidFill>
                <a:ln w="63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685771">
                    <a:defRPr/>
                  </a:pPr>
                  <a:endParaRPr lang="en-US" sz="3200" kern="0" dirty="0">
                    <a:solidFill>
                      <a:prstClr val="black"/>
                    </a:solidFill>
                    <a:latin typeface="Calibri" panose="020F0502020204030204"/>
                    <a:sym typeface="Arial"/>
                  </a:endParaRPr>
                </a:p>
              </p:txBody>
            </p:sp>
            <p:sp>
              <p:nvSpPr>
                <p:cNvPr id="44" name="Flowchart: Connector 25"/>
                <p:cNvSpPr/>
                <p:nvPr/>
              </p:nvSpPr>
              <p:spPr>
                <a:xfrm>
                  <a:off x="3646450" y="1887830"/>
                  <a:ext cx="304800" cy="304800"/>
                </a:xfrm>
                <a:prstGeom prst="flowChartConnector">
                  <a:avLst/>
                </a:prstGeom>
                <a:solidFill>
                  <a:srgbClr val="FFC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685771">
                    <a:defRPr/>
                  </a:pPr>
                  <a:endParaRPr lang="en-US" sz="3200" kern="0" dirty="0">
                    <a:solidFill>
                      <a:prstClr val="white"/>
                    </a:solidFill>
                    <a:latin typeface="Calibri" panose="020F0502020204030204"/>
                    <a:sym typeface="Arial"/>
                  </a:endParaRPr>
                </a:p>
              </p:txBody>
            </p:sp>
            <p:cxnSp>
              <p:nvCxnSpPr>
                <p:cNvPr id="45" name="Straight Arrow Connector 26"/>
                <p:cNvCxnSpPr>
                  <a:endCxn id="43" idx="2"/>
                </p:cNvCxnSpPr>
                <p:nvPr/>
              </p:nvCxnSpPr>
              <p:spPr>
                <a:xfrm flipH="1">
                  <a:off x="2884450" y="2040230"/>
                  <a:ext cx="762000" cy="0"/>
                </a:xfrm>
                <a:prstGeom prst="straightConnector1">
                  <a:avLst/>
                </a:prstGeom>
                <a:noFill/>
                <a:ln w="38100" cap="flat" cmpd="sng" algn="ctr">
                  <a:solidFill>
                    <a:srgbClr val="A5A5A5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46" name="Straight Connector 45"/>
                <p:cNvCxnSpPr>
                  <a:stCxn id="43" idx="7"/>
                </p:cNvCxnSpPr>
                <p:nvPr/>
              </p:nvCxnSpPr>
              <p:spPr>
                <a:xfrm flipH="1">
                  <a:off x="3798850" y="1393652"/>
                  <a:ext cx="646578" cy="494178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rgbClr val="A5A5A5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47" name="Straight Connector 46"/>
                <p:cNvCxnSpPr>
                  <a:stCxn id="43" idx="5"/>
                </p:cNvCxnSpPr>
                <p:nvPr/>
              </p:nvCxnSpPr>
              <p:spPr>
                <a:xfrm flipH="1" flipV="1">
                  <a:off x="3798850" y="2192630"/>
                  <a:ext cx="646578" cy="494178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rgbClr val="A5A5A5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48" name="TextBox 47"/>
                <p:cNvSpPr txBox="1"/>
                <p:nvPr/>
              </p:nvSpPr>
              <p:spPr>
                <a:xfrm>
                  <a:off x="4063533" y="1920026"/>
                  <a:ext cx="874240" cy="3211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685771">
                    <a:defRPr/>
                  </a:pPr>
                  <a:r>
                    <a:rPr lang="en-US" b="1" kern="0" dirty="0">
                      <a:solidFill>
                        <a:srgbClr val="ED7D31">
                          <a:lumMod val="50000"/>
                        </a:srgbClr>
                      </a:solidFill>
                      <a:cs typeface="Arial"/>
                      <a:sym typeface="Arial"/>
                    </a:rPr>
                    <a:t>JOBS</a:t>
                  </a:r>
                </a:p>
              </p:txBody>
            </p:sp>
            <p:sp>
              <p:nvSpPr>
                <p:cNvPr id="49" name="TextBox 48"/>
                <p:cNvSpPr txBox="1"/>
                <p:nvPr/>
              </p:nvSpPr>
              <p:spPr>
                <a:xfrm>
                  <a:off x="3355370" y="2351186"/>
                  <a:ext cx="874240" cy="3211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685771">
                    <a:defRPr/>
                  </a:pPr>
                  <a:r>
                    <a:rPr lang="en-US" b="1" kern="0" dirty="0">
                      <a:solidFill>
                        <a:srgbClr val="ED7D31">
                          <a:lumMod val="50000"/>
                        </a:srgbClr>
                      </a:solidFill>
                      <a:cs typeface="Arial"/>
                      <a:sym typeface="Arial"/>
                    </a:rPr>
                    <a:t>PAINS</a:t>
                  </a:r>
                </a:p>
              </p:txBody>
            </p:sp>
            <p:sp>
              <p:nvSpPr>
                <p:cNvPr id="50" name="TextBox 49"/>
                <p:cNvSpPr txBox="1"/>
                <p:nvPr/>
              </p:nvSpPr>
              <p:spPr>
                <a:xfrm>
                  <a:off x="3315382" y="1377593"/>
                  <a:ext cx="874240" cy="3211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685771">
                    <a:defRPr/>
                  </a:pPr>
                  <a:r>
                    <a:rPr lang="en-US" b="1" kern="0" dirty="0">
                      <a:solidFill>
                        <a:srgbClr val="ED7D31">
                          <a:lumMod val="50000"/>
                        </a:srgbClr>
                      </a:solidFill>
                      <a:cs typeface="Arial"/>
                      <a:sym typeface="Arial"/>
                    </a:rPr>
                    <a:t>GAINS</a:t>
                  </a:r>
                </a:p>
              </p:txBody>
            </p:sp>
          </p:grpSp>
          <p:grpSp>
            <p:nvGrpSpPr>
              <p:cNvPr id="34" name="Group 15"/>
              <p:cNvGrpSpPr/>
              <p:nvPr/>
            </p:nvGrpSpPr>
            <p:grpSpPr>
              <a:xfrm>
                <a:off x="587719" y="1125830"/>
                <a:ext cx="2080915" cy="1835386"/>
                <a:chOff x="587719" y="1125830"/>
                <a:chExt cx="2080915" cy="1835386"/>
              </a:xfrm>
            </p:grpSpPr>
            <p:sp>
              <p:nvSpPr>
                <p:cNvPr id="35" name="Rectangle 34"/>
                <p:cNvSpPr/>
                <p:nvPr/>
              </p:nvSpPr>
              <p:spPr>
                <a:xfrm>
                  <a:off x="653143" y="1125830"/>
                  <a:ext cx="1828800" cy="1828800"/>
                </a:xfrm>
                <a:prstGeom prst="rect">
                  <a:avLst/>
                </a:prstGeom>
                <a:solidFill>
                  <a:srgbClr val="70AD47">
                    <a:lumMod val="60000"/>
                    <a:lumOff val="4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685771">
                    <a:defRPr/>
                  </a:pPr>
                  <a:endParaRPr lang="en-US" sz="3200" kern="0" dirty="0">
                    <a:solidFill>
                      <a:prstClr val="white"/>
                    </a:solidFill>
                    <a:latin typeface="Calibri" panose="020F0502020204030204"/>
                    <a:sym typeface="Arial"/>
                  </a:endParaRPr>
                </a:p>
              </p:txBody>
            </p:sp>
            <p:sp>
              <p:nvSpPr>
                <p:cNvPr id="36" name="Flowchart: Connector 35"/>
                <p:cNvSpPr/>
                <p:nvPr/>
              </p:nvSpPr>
              <p:spPr>
                <a:xfrm>
                  <a:off x="1415143" y="1891123"/>
                  <a:ext cx="304800" cy="304800"/>
                </a:xfrm>
                <a:prstGeom prst="flowChartConnector">
                  <a:avLst/>
                </a:prstGeom>
                <a:solidFill>
                  <a:srgbClr val="70AD47">
                    <a:lumMod val="75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685771">
                    <a:defRPr/>
                  </a:pPr>
                  <a:endParaRPr lang="en-US" sz="3200" kern="0" dirty="0">
                    <a:solidFill>
                      <a:prstClr val="white"/>
                    </a:solidFill>
                    <a:latin typeface="Calibri" panose="020F0502020204030204"/>
                    <a:sym typeface="Arial"/>
                  </a:endParaRPr>
                </a:p>
              </p:txBody>
            </p:sp>
            <p:cxnSp>
              <p:nvCxnSpPr>
                <p:cNvPr id="37" name="Straight Arrow Connector 36"/>
                <p:cNvCxnSpPr>
                  <a:endCxn id="35" idx="3"/>
                </p:cNvCxnSpPr>
                <p:nvPr/>
              </p:nvCxnSpPr>
              <p:spPr>
                <a:xfrm>
                  <a:off x="1738265" y="2040230"/>
                  <a:ext cx="743678" cy="0"/>
                </a:xfrm>
                <a:prstGeom prst="straightConnector1">
                  <a:avLst/>
                </a:prstGeom>
                <a:noFill/>
                <a:ln w="38100" cap="flat" cmpd="sng" algn="ctr">
                  <a:solidFill>
                    <a:srgbClr val="A5A5A5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38" name="Straight Connector 37"/>
                <p:cNvCxnSpPr>
                  <a:stCxn id="36" idx="0"/>
                </p:cNvCxnSpPr>
                <p:nvPr/>
              </p:nvCxnSpPr>
              <p:spPr>
                <a:xfrm flipH="1" flipV="1">
                  <a:off x="653143" y="1125830"/>
                  <a:ext cx="914400" cy="765293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rgbClr val="A5A5A5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39" name="Straight Connector 38"/>
                <p:cNvCxnSpPr/>
                <p:nvPr/>
              </p:nvCxnSpPr>
              <p:spPr>
                <a:xfrm flipH="1">
                  <a:off x="653143" y="2202509"/>
                  <a:ext cx="925766" cy="758707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rgbClr val="A5A5A5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40" name="TextBox 39"/>
                <p:cNvSpPr txBox="1"/>
                <p:nvPr/>
              </p:nvSpPr>
              <p:spPr>
                <a:xfrm>
                  <a:off x="1298137" y="1377593"/>
                  <a:ext cx="1277154" cy="3211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685771">
                    <a:defRPr/>
                  </a:pPr>
                  <a:r>
                    <a:rPr lang="en-US" b="1" kern="0" dirty="0">
                      <a:solidFill>
                        <a:srgbClr val="70AD47">
                          <a:lumMod val="50000"/>
                        </a:srgbClr>
                      </a:solidFill>
                      <a:cs typeface="Arial"/>
                      <a:sym typeface="Arial"/>
                    </a:rPr>
                    <a:t>GAIN CREATORS </a:t>
                  </a:r>
                </a:p>
              </p:txBody>
            </p:sp>
            <p:sp>
              <p:nvSpPr>
                <p:cNvPr id="41" name="TextBox 40"/>
                <p:cNvSpPr txBox="1"/>
                <p:nvPr/>
              </p:nvSpPr>
              <p:spPr>
                <a:xfrm>
                  <a:off x="1391480" y="2351187"/>
                  <a:ext cx="1277154" cy="3211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685771">
                    <a:defRPr/>
                  </a:pPr>
                  <a:r>
                    <a:rPr lang="en-US" b="1" kern="0" dirty="0">
                      <a:solidFill>
                        <a:srgbClr val="70AD47">
                          <a:lumMod val="50000"/>
                        </a:srgbClr>
                      </a:solidFill>
                      <a:cs typeface="Arial"/>
                      <a:sym typeface="Arial"/>
                    </a:rPr>
                    <a:t>PAIN KILLERS</a:t>
                  </a:r>
                </a:p>
              </p:txBody>
            </p:sp>
            <p:sp>
              <p:nvSpPr>
                <p:cNvPr id="42" name="TextBox 41"/>
                <p:cNvSpPr txBox="1"/>
                <p:nvPr/>
              </p:nvSpPr>
              <p:spPr>
                <a:xfrm>
                  <a:off x="587719" y="1764605"/>
                  <a:ext cx="1277154" cy="5620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685771">
                    <a:defRPr/>
                  </a:pPr>
                  <a:r>
                    <a:rPr lang="en-US" b="1" kern="0" dirty="0">
                      <a:solidFill>
                        <a:srgbClr val="70AD47">
                          <a:lumMod val="50000"/>
                        </a:srgbClr>
                      </a:solidFill>
                      <a:cs typeface="Arial"/>
                      <a:sym typeface="Arial"/>
                    </a:rPr>
                    <a:t>PRODUCT/ </a:t>
                  </a:r>
                </a:p>
                <a:p>
                  <a:pPr defTabSz="685771">
                    <a:defRPr/>
                  </a:pPr>
                  <a:r>
                    <a:rPr lang="en-US" b="1" kern="0" dirty="0">
                      <a:solidFill>
                        <a:srgbClr val="70AD47">
                          <a:lumMod val="50000"/>
                        </a:srgbClr>
                      </a:solidFill>
                      <a:cs typeface="Arial"/>
                      <a:sym typeface="Arial"/>
                    </a:rPr>
                    <a:t>SERVICE</a:t>
                  </a:r>
                </a:p>
              </p:txBody>
            </p:sp>
          </p:grpSp>
        </p:grpSp>
        <p:cxnSp>
          <p:nvCxnSpPr>
            <p:cNvPr id="14" name="Straight Connector 13"/>
            <p:cNvCxnSpPr/>
            <p:nvPr/>
          </p:nvCxnSpPr>
          <p:spPr>
            <a:xfrm flipV="1">
              <a:off x="3639097" y="1771429"/>
              <a:ext cx="7608" cy="648440"/>
            </a:xfrm>
            <a:prstGeom prst="line">
              <a:avLst/>
            </a:prstGeom>
            <a:noFill/>
            <a:ln w="19050" cap="flat" cmpd="sng" algn="ctr">
              <a:solidFill>
                <a:srgbClr val="70AD47"/>
              </a:solidFill>
              <a:prstDash val="solid"/>
              <a:miter lim="800000"/>
            </a:ln>
            <a:effectLst/>
          </p:spPr>
        </p:cxnSp>
        <p:cxnSp>
          <p:nvCxnSpPr>
            <p:cNvPr id="15" name="Straight Connector 14"/>
            <p:cNvCxnSpPr/>
            <p:nvPr/>
          </p:nvCxnSpPr>
          <p:spPr>
            <a:xfrm flipH="1" flipV="1">
              <a:off x="2949027" y="1775840"/>
              <a:ext cx="706208" cy="6152"/>
            </a:xfrm>
            <a:prstGeom prst="line">
              <a:avLst/>
            </a:prstGeom>
            <a:noFill/>
            <a:ln w="19050" cap="flat" cmpd="sng" algn="ctr">
              <a:solidFill>
                <a:srgbClr val="70AD47"/>
              </a:solidFill>
              <a:prstDash val="solid"/>
              <a:miter lim="800000"/>
            </a:ln>
            <a:effectLst/>
          </p:spPr>
        </p:cxnSp>
        <p:sp>
          <p:nvSpPr>
            <p:cNvPr id="16" name="TextBox 15"/>
            <p:cNvSpPr txBox="1"/>
            <p:nvPr/>
          </p:nvSpPr>
          <p:spPr>
            <a:xfrm>
              <a:off x="993509" y="1343410"/>
              <a:ext cx="1949094" cy="1190502"/>
            </a:xfrm>
            <a:prstGeom prst="rect">
              <a:avLst/>
            </a:prstGeom>
            <a:noFill/>
            <a:ln>
              <a:solidFill>
                <a:srgbClr val="E7E6E6">
                  <a:lumMod val="50000"/>
                </a:srgbClr>
              </a:solidFill>
            </a:ln>
          </p:spPr>
          <p:txBody>
            <a:bodyPr wrap="square" rtlCol="0">
              <a:spAutoFit/>
            </a:bodyPr>
            <a:lstStyle/>
            <a:p>
              <a:pPr defTabSz="685771">
                <a:defRPr/>
              </a:pPr>
              <a:r>
                <a:rPr lang="en-US" sz="1400" kern="0" dirty="0">
                  <a:solidFill>
                    <a:prstClr val="white">
                      <a:lumMod val="50000"/>
                    </a:prstClr>
                  </a:solidFill>
                  <a:cs typeface="Arial"/>
                  <a:sym typeface="Arial"/>
                </a:rPr>
                <a:t> </a:t>
              </a:r>
            </a:p>
            <a:p>
              <a:pPr marL="140334" marR="169544" indent="-128270">
                <a:lnSpc>
                  <a:spcPct val="100000"/>
                </a:lnSpc>
                <a:spcBef>
                  <a:spcPts val="100"/>
                </a:spcBef>
              </a:pPr>
              <a:r>
                <a:rPr lang="en-US" sz="1400" dirty="0">
                  <a:latin typeface="Wingdings"/>
                </a:rPr>
                <a:t></a:t>
              </a:r>
              <a:r>
                <a:rPr lang="en-US" sz="1400" i="1" dirty="0">
                  <a:latin typeface="Carlito"/>
                </a:rPr>
                <a:t>FARS</a:t>
              </a:r>
              <a:r>
                <a:rPr lang="en-US" sz="1400" i="1" spc="-50" dirty="0">
                  <a:latin typeface="Carlito"/>
                </a:rPr>
                <a:t> </a:t>
              </a:r>
              <a:r>
                <a:rPr lang="en-US" sz="1400" i="1" dirty="0">
                  <a:latin typeface="Carlito"/>
                </a:rPr>
                <a:t>provides</a:t>
              </a:r>
              <a:r>
                <a:rPr lang="en-US" sz="1400" i="1" spc="-50" dirty="0">
                  <a:latin typeface="Carlito"/>
                </a:rPr>
                <a:t> </a:t>
              </a:r>
              <a:r>
                <a:rPr lang="en-US" sz="1400" i="1" dirty="0">
                  <a:latin typeface="Carlito"/>
                </a:rPr>
                <a:t>personalized</a:t>
              </a:r>
              <a:r>
                <a:rPr lang="en-US" sz="1400" i="1" spc="-50" dirty="0">
                  <a:latin typeface="Carlito"/>
                </a:rPr>
                <a:t> </a:t>
              </a:r>
              <a:r>
                <a:rPr lang="en-US" sz="1400" i="1" dirty="0">
                  <a:latin typeface="Carlito"/>
                </a:rPr>
                <a:t>guidance</a:t>
              </a:r>
              <a:r>
                <a:rPr lang="en-US" sz="1400" i="1" spc="-30" dirty="0">
                  <a:latin typeface="Carlito"/>
                </a:rPr>
                <a:t> </a:t>
              </a:r>
              <a:r>
                <a:rPr lang="en-US" sz="1400" i="1" dirty="0">
                  <a:latin typeface="Carlito"/>
                </a:rPr>
                <a:t>for</a:t>
              </a:r>
              <a:r>
                <a:rPr lang="en-US" sz="1400" i="1" spc="-65" dirty="0">
                  <a:latin typeface="Carlito"/>
                </a:rPr>
                <a:t> </a:t>
              </a:r>
              <a:r>
                <a:rPr lang="en-US" sz="1400" i="1" dirty="0">
                  <a:latin typeface="Carlito"/>
                </a:rPr>
                <a:t>each</a:t>
              </a:r>
              <a:r>
                <a:rPr lang="en-US" sz="1400" i="1" spc="-30" dirty="0">
                  <a:latin typeface="Carlito"/>
                </a:rPr>
                <a:t> </a:t>
              </a:r>
              <a:r>
                <a:rPr lang="en-US" sz="1400" i="1" spc="-10" dirty="0">
                  <a:latin typeface="Carlito"/>
                </a:rPr>
                <a:t>user, enhancing </a:t>
              </a:r>
              <a:r>
                <a:rPr lang="en-US" sz="1400" i="1" dirty="0">
                  <a:latin typeface="Carlito"/>
                </a:rPr>
                <a:t>overall</a:t>
              </a:r>
              <a:r>
                <a:rPr lang="en-US" sz="1400" i="1" spc="-35" dirty="0">
                  <a:latin typeface="Carlito"/>
                </a:rPr>
                <a:t> </a:t>
              </a:r>
              <a:r>
                <a:rPr lang="en-US" sz="1400" i="1" spc="-10" dirty="0">
                  <a:latin typeface="Carlito"/>
                </a:rPr>
                <a:t>efficiency.</a:t>
              </a:r>
            </a:p>
            <a:p>
              <a:pPr marL="140334" marR="5080" indent="-128270">
                <a:lnSpc>
                  <a:spcPct val="100000"/>
                </a:lnSpc>
              </a:pPr>
              <a:r>
                <a:rPr lang="en-US" sz="1400" dirty="0">
                  <a:latin typeface="Wingdings"/>
                </a:rPr>
                <a:t></a:t>
              </a:r>
              <a:r>
                <a:rPr lang="en-US" sz="1400" dirty="0">
                  <a:latin typeface="Carlito"/>
                </a:rPr>
                <a:t>Scalable</a:t>
              </a:r>
              <a:r>
                <a:rPr lang="en-US" sz="1400" spc="-45" dirty="0">
                  <a:latin typeface="Carlito"/>
                </a:rPr>
                <a:t> </a:t>
              </a:r>
              <a:r>
                <a:rPr lang="en-US" sz="1400" dirty="0">
                  <a:latin typeface="Carlito"/>
                </a:rPr>
                <a:t>across</a:t>
              </a:r>
              <a:r>
                <a:rPr lang="en-US" sz="1400" spc="-50" dirty="0">
                  <a:latin typeface="Carlito"/>
                </a:rPr>
                <a:t> </a:t>
              </a:r>
              <a:r>
                <a:rPr lang="en-US" sz="1400" dirty="0">
                  <a:latin typeface="Carlito"/>
                </a:rPr>
                <a:t>multiple</a:t>
              </a:r>
              <a:r>
                <a:rPr lang="en-US" sz="1400" spc="-40" dirty="0">
                  <a:latin typeface="Carlito"/>
                </a:rPr>
                <a:t> </a:t>
              </a:r>
              <a:r>
                <a:rPr lang="en-US" sz="1400" dirty="0">
                  <a:latin typeface="Carlito"/>
                </a:rPr>
                <a:t>sectors,</a:t>
              </a:r>
              <a:r>
                <a:rPr lang="en-US" sz="1400" spc="-50" dirty="0">
                  <a:latin typeface="Carlito"/>
                </a:rPr>
                <a:t> </a:t>
              </a:r>
              <a:r>
                <a:rPr lang="en-US" sz="1400" dirty="0">
                  <a:latin typeface="Carlito"/>
                </a:rPr>
                <a:t>offering</a:t>
              </a:r>
              <a:r>
                <a:rPr lang="en-US" sz="1400" spc="-60" dirty="0">
                  <a:latin typeface="Carlito"/>
                </a:rPr>
                <a:t> </a:t>
              </a:r>
              <a:r>
                <a:rPr lang="en-US" sz="1400" dirty="0">
                  <a:latin typeface="Carlito"/>
                </a:rPr>
                <a:t>cost</a:t>
              </a:r>
              <a:r>
                <a:rPr lang="en-US" sz="1400" spc="-50" dirty="0">
                  <a:latin typeface="Carlito"/>
                </a:rPr>
                <a:t> </a:t>
              </a:r>
              <a:r>
                <a:rPr lang="en-US" sz="1400" spc="-10" dirty="0">
                  <a:latin typeface="Carlito"/>
                </a:rPr>
                <a:t>savings </a:t>
              </a:r>
              <a:r>
                <a:rPr lang="en-US" sz="1400" dirty="0">
                  <a:latin typeface="Carlito"/>
                </a:rPr>
                <a:t>in</a:t>
              </a:r>
              <a:r>
                <a:rPr lang="en-US" sz="1400" spc="-30" dirty="0">
                  <a:latin typeface="Carlito"/>
                </a:rPr>
                <a:t> </a:t>
              </a:r>
              <a:r>
                <a:rPr lang="en-US" sz="1400" dirty="0">
                  <a:latin typeface="Carlito"/>
                </a:rPr>
                <a:t>human</a:t>
              </a:r>
              <a:r>
                <a:rPr lang="en-US" sz="1400" spc="-30" dirty="0">
                  <a:latin typeface="Carlito"/>
                </a:rPr>
                <a:t> </a:t>
              </a:r>
              <a:r>
                <a:rPr lang="en-US" sz="1400" spc="-10" dirty="0">
                  <a:latin typeface="Carlito"/>
                </a:rPr>
                <a:t>resources</a:t>
              </a:r>
            </a:p>
            <a:p>
              <a:pPr marL="128585" indent="-128585" defTabSz="685771">
                <a:buFont typeface="Wingdings" panose="05000000000000000000" pitchFamily="2" charset="2"/>
                <a:buChar char="à"/>
                <a:defRPr/>
              </a:pPr>
              <a:endParaRPr lang="en-US" sz="1400" kern="0" dirty="0">
                <a:solidFill>
                  <a:prstClr val="white">
                    <a:lumMod val="50000"/>
                  </a:prstClr>
                </a:solidFill>
                <a:cs typeface="Arial"/>
                <a:sym typeface="Wingdings" panose="05000000000000000000" pitchFamily="2" charset="2"/>
              </a:endParaRPr>
            </a:p>
            <a:p>
              <a:pPr defTabSz="685771">
                <a:defRPr/>
              </a:pPr>
              <a:endParaRPr lang="en-US" sz="1400" kern="0" dirty="0">
                <a:solidFill>
                  <a:prstClr val="white">
                    <a:lumMod val="50000"/>
                  </a:prstClr>
                </a:solidFill>
                <a:cs typeface="Arial"/>
                <a:sym typeface="Wingdings" panose="05000000000000000000" pitchFamily="2" charset="2"/>
              </a:endParaRPr>
            </a:p>
            <a:p>
              <a:pPr defTabSz="685771">
                <a:defRPr/>
              </a:pPr>
              <a:endParaRPr lang="en-US" sz="1400" kern="0" dirty="0">
                <a:solidFill>
                  <a:prstClr val="white">
                    <a:lumMod val="50000"/>
                  </a:prstClr>
                </a:solidFill>
                <a:cs typeface="Arial"/>
                <a:sym typeface="Wingdings" panose="05000000000000000000" pitchFamily="2" charset="2"/>
              </a:endParaRPr>
            </a:p>
            <a:p>
              <a:pPr defTabSz="685771">
                <a:defRPr/>
              </a:pPr>
              <a:endParaRPr lang="en-US" sz="1400" kern="0" dirty="0">
                <a:solidFill>
                  <a:prstClr val="white">
                    <a:lumMod val="50000"/>
                  </a:prstClr>
                </a:solidFill>
                <a:cs typeface="Arial"/>
                <a:sym typeface="Wingdings" panose="05000000000000000000" pitchFamily="2" charset="2"/>
              </a:endParaRPr>
            </a:p>
          </p:txBody>
        </p:sp>
        <p:cxnSp>
          <p:nvCxnSpPr>
            <p:cNvPr id="17" name="Straight Connector 16"/>
            <p:cNvCxnSpPr>
              <a:cxnSpLocks/>
            </p:cNvCxnSpPr>
            <p:nvPr/>
          </p:nvCxnSpPr>
          <p:spPr>
            <a:xfrm flipH="1" flipV="1">
              <a:off x="3639097" y="3644573"/>
              <a:ext cx="3804" cy="879462"/>
            </a:xfrm>
            <a:prstGeom prst="line">
              <a:avLst/>
            </a:prstGeom>
            <a:noFill/>
            <a:ln w="19050" cap="flat" cmpd="sng" algn="ctr">
              <a:solidFill>
                <a:srgbClr val="70AD47"/>
              </a:solidFill>
              <a:prstDash val="solid"/>
              <a:miter lim="800000"/>
            </a:ln>
            <a:effectLst/>
          </p:spPr>
        </p:cxnSp>
        <p:cxnSp>
          <p:nvCxnSpPr>
            <p:cNvPr id="18" name="Straight Connector 17"/>
            <p:cNvCxnSpPr>
              <a:cxnSpLocks/>
            </p:cNvCxnSpPr>
            <p:nvPr/>
          </p:nvCxnSpPr>
          <p:spPr>
            <a:xfrm flipH="1" flipV="1">
              <a:off x="2847511" y="4524035"/>
              <a:ext cx="799194" cy="920"/>
            </a:xfrm>
            <a:prstGeom prst="line">
              <a:avLst/>
            </a:prstGeom>
            <a:noFill/>
            <a:ln w="19050" cap="flat" cmpd="sng" algn="ctr">
              <a:solidFill>
                <a:srgbClr val="70AD47"/>
              </a:solidFill>
              <a:prstDash val="solid"/>
              <a:miter lim="800000"/>
            </a:ln>
            <a:effectLst/>
          </p:spPr>
        </p:cxnSp>
        <p:sp>
          <p:nvSpPr>
            <p:cNvPr id="19" name="TextBox 18"/>
            <p:cNvSpPr txBox="1"/>
            <p:nvPr/>
          </p:nvSpPr>
          <p:spPr>
            <a:xfrm>
              <a:off x="1043362" y="4121648"/>
              <a:ext cx="1804149" cy="838902"/>
            </a:xfrm>
            <a:prstGeom prst="rect">
              <a:avLst/>
            </a:prstGeom>
            <a:noFill/>
            <a:ln>
              <a:solidFill>
                <a:srgbClr val="E7E6E6">
                  <a:lumMod val="50000"/>
                </a:srgbClr>
              </a:solidFill>
            </a:ln>
          </p:spPr>
          <p:txBody>
            <a:bodyPr wrap="square" rtlCol="0">
              <a:spAutoFit/>
            </a:bodyPr>
            <a:lstStyle/>
            <a:p>
              <a:pPr defTabSz="685771">
                <a:defRPr/>
              </a:pPr>
              <a:endParaRPr lang="en-US" sz="1400" kern="0" dirty="0">
                <a:solidFill>
                  <a:prstClr val="white">
                    <a:lumMod val="50000"/>
                  </a:prstClr>
                </a:solidFill>
                <a:cs typeface="Arial"/>
                <a:sym typeface="Wingdings" panose="05000000000000000000" pitchFamily="2" charset="2"/>
              </a:endParaRPr>
            </a:p>
            <a:p>
              <a:pPr marL="140334" marR="185420" indent="-128270">
                <a:lnSpc>
                  <a:spcPct val="100000"/>
                </a:lnSpc>
                <a:spcBef>
                  <a:spcPts val="105"/>
                </a:spcBef>
              </a:pPr>
              <a:r>
                <a:rPr lang="en-US" sz="1400" dirty="0">
                  <a:latin typeface="Wingdings"/>
                </a:rPr>
                <a:t></a:t>
              </a:r>
              <a:r>
                <a:rPr lang="en-US" sz="1400" i="1" dirty="0">
                  <a:latin typeface="Carlito"/>
                </a:rPr>
                <a:t>FARS</a:t>
              </a:r>
              <a:r>
                <a:rPr lang="en-US" sz="1400" i="1" spc="-55" dirty="0">
                  <a:latin typeface="Carlito"/>
                </a:rPr>
                <a:t> </a:t>
              </a:r>
              <a:r>
                <a:rPr lang="en-US" sz="1400" i="1" dirty="0">
                  <a:latin typeface="Carlito"/>
                </a:rPr>
                <a:t>eliminates</a:t>
              </a:r>
              <a:r>
                <a:rPr lang="en-US" sz="1400" i="1" spc="-50" dirty="0">
                  <a:latin typeface="Carlito"/>
                </a:rPr>
                <a:t> </a:t>
              </a:r>
              <a:r>
                <a:rPr lang="en-US" sz="1400" i="1" dirty="0">
                  <a:latin typeface="Carlito"/>
                </a:rPr>
                <a:t>manual</a:t>
              </a:r>
              <a:r>
                <a:rPr lang="en-US" sz="1400" i="1" spc="-25" dirty="0">
                  <a:latin typeface="Carlito"/>
                </a:rPr>
                <a:t> </a:t>
              </a:r>
              <a:r>
                <a:rPr lang="en-US" sz="1400" i="1" dirty="0">
                  <a:latin typeface="Carlito"/>
                </a:rPr>
                <a:t>logging</a:t>
              </a:r>
              <a:r>
                <a:rPr lang="en-US" sz="1400" i="1" spc="-40" dirty="0">
                  <a:latin typeface="Carlito"/>
                </a:rPr>
                <a:t> </a:t>
              </a:r>
              <a:r>
                <a:rPr lang="en-US" sz="1400" i="1" dirty="0">
                  <a:latin typeface="Carlito"/>
                </a:rPr>
                <a:t>by</a:t>
              </a:r>
              <a:r>
                <a:rPr lang="en-US" sz="1400" i="1" spc="-40" dirty="0">
                  <a:latin typeface="Carlito"/>
                </a:rPr>
                <a:t> </a:t>
              </a:r>
              <a:r>
                <a:rPr lang="en-US" sz="1400" i="1" spc="-10" dirty="0">
                  <a:latin typeface="Carlito"/>
                </a:rPr>
                <a:t>automating </a:t>
              </a:r>
              <a:r>
                <a:rPr lang="en-US" sz="1400" i="1" dirty="0">
                  <a:latin typeface="Carlito"/>
                </a:rPr>
                <a:t>attendance</a:t>
              </a:r>
              <a:r>
                <a:rPr lang="en-US" sz="1400" i="1" spc="-30" dirty="0">
                  <a:latin typeface="Carlito"/>
                </a:rPr>
                <a:t> </a:t>
              </a:r>
              <a:r>
                <a:rPr lang="en-US" sz="1400" i="1" spc="-10" dirty="0">
                  <a:latin typeface="Carlito"/>
                </a:rPr>
                <a:t>tracking</a:t>
              </a:r>
              <a:r>
                <a:rPr lang="en-US" sz="1400" i="1" spc="-45" dirty="0">
                  <a:latin typeface="Carlito"/>
                </a:rPr>
                <a:t> </a:t>
              </a:r>
              <a:r>
                <a:rPr lang="en-US" sz="1400" i="1" dirty="0">
                  <a:latin typeface="Carlito"/>
                </a:rPr>
                <a:t>through</a:t>
              </a:r>
              <a:r>
                <a:rPr lang="en-US" sz="1400" i="1" spc="-35" dirty="0">
                  <a:latin typeface="Carlito"/>
                </a:rPr>
                <a:t> </a:t>
              </a:r>
              <a:r>
                <a:rPr lang="en-US" sz="1400" i="1" dirty="0">
                  <a:latin typeface="Carlito"/>
                </a:rPr>
                <a:t>face</a:t>
              </a:r>
              <a:r>
                <a:rPr lang="en-US" sz="1400" i="1" spc="-65" dirty="0">
                  <a:latin typeface="Carlito"/>
                </a:rPr>
                <a:t> </a:t>
              </a:r>
              <a:r>
                <a:rPr lang="en-US" sz="1400" i="1" spc="-10" dirty="0">
                  <a:latin typeface="Carlito"/>
                </a:rPr>
                <a:t>recognition.</a:t>
              </a:r>
            </a:p>
            <a:p>
              <a:pPr marL="140334" marR="5080" indent="-128270">
                <a:lnSpc>
                  <a:spcPct val="100000"/>
                </a:lnSpc>
              </a:pPr>
              <a:r>
                <a:rPr lang="en-US" sz="1400" dirty="0">
                  <a:latin typeface="Wingdings"/>
                </a:rPr>
                <a:t></a:t>
              </a:r>
              <a:r>
                <a:rPr lang="en-US" sz="1400" dirty="0">
                  <a:latin typeface="Carlito"/>
                </a:rPr>
                <a:t>It</a:t>
              </a:r>
              <a:r>
                <a:rPr lang="en-US" sz="1400" spc="-30" dirty="0">
                  <a:latin typeface="Carlito"/>
                </a:rPr>
                <a:t> </a:t>
              </a:r>
              <a:r>
                <a:rPr lang="en-US" sz="1400" dirty="0">
                  <a:latin typeface="Carlito"/>
                </a:rPr>
                <a:t>offers</a:t>
              </a:r>
              <a:r>
                <a:rPr lang="en-US" sz="1400" spc="-50" dirty="0">
                  <a:latin typeface="Carlito"/>
                </a:rPr>
                <a:t> </a:t>
              </a:r>
              <a:r>
                <a:rPr lang="en-US" sz="1400" spc="-10" dirty="0">
                  <a:latin typeface="Carlito"/>
                </a:rPr>
                <a:t>real-</a:t>
              </a:r>
              <a:r>
                <a:rPr lang="en-US" sz="1400" dirty="0">
                  <a:latin typeface="Carlito"/>
                </a:rPr>
                <a:t>time</a:t>
              </a:r>
              <a:r>
                <a:rPr lang="en-US" sz="1400" spc="-40" dirty="0">
                  <a:latin typeface="Carlito"/>
                </a:rPr>
                <a:t> </a:t>
              </a:r>
              <a:r>
                <a:rPr lang="en-US" sz="1400" dirty="0">
                  <a:latin typeface="Carlito"/>
                </a:rPr>
                <a:t>guidance,</a:t>
              </a:r>
              <a:r>
                <a:rPr lang="en-US" sz="1400" spc="-5" dirty="0">
                  <a:latin typeface="Carlito"/>
                </a:rPr>
                <a:t> </a:t>
              </a:r>
              <a:r>
                <a:rPr lang="en-US" sz="1400" dirty="0">
                  <a:latin typeface="Carlito"/>
                </a:rPr>
                <a:t>reducing</a:t>
              </a:r>
              <a:r>
                <a:rPr lang="en-US" sz="1400" spc="-30" dirty="0">
                  <a:latin typeface="Carlito"/>
                </a:rPr>
                <a:t> </a:t>
              </a:r>
              <a:r>
                <a:rPr lang="en-US" sz="1400" dirty="0">
                  <a:latin typeface="Carlito"/>
                </a:rPr>
                <a:t>confusion</a:t>
              </a:r>
              <a:r>
                <a:rPr lang="en-US" sz="1400" spc="-40" dirty="0">
                  <a:latin typeface="Carlito"/>
                </a:rPr>
                <a:t> </a:t>
              </a:r>
              <a:r>
                <a:rPr lang="en-US" sz="1400" spc="-25" dirty="0">
                  <a:latin typeface="Carlito"/>
                </a:rPr>
                <a:t>in </a:t>
              </a:r>
              <a:r>
                <a:rPr lang="en-US" sz="1400" dirty="0">
                  <a:latin typeface="Carlito"/>
                </a:rPr>
                <a:t>large</a:t>
              </a:r>
              <a:r>
                <a:rPr lang="en-US" sz="1400" spc="-30" dirty="0">
                  <a:latin typeface="Carlito"/>
                </a:rPr>
                <a:t> </a:t>
              </a:r>
              <a:r>
                <a:rPr lang="en-US" sz="1400" spc="-10" dirty="0">
                  <a:latin typeface="Carlito"/>
                </a:rPr>
                <a:t>spaces</a:t>
              </a:r>
              <a:endParaRPr lang="en-US" sz="1400" kern="0" dirty="0">
                <a:solidFill>
                  <a:prstClr val="white">
                    <a:lumMod val="50000"/>
                  </a:prstClr>
                </a:solidFill>
                <a:cs typeface="Arial"/>
                <a:sym typeface="Wingdings" panose="05000000000000000000" pitchFamily="2" charset="2"/>
              </a:endParaRPr>
            </a:p>
            <a:p>
              <a:pPr defTabSz="685771">
                <a:defRPr/>
              </a:pPr>
              <a:endParaRPr lang="en-US" sz="1400" kern="0" dirty="0">
                <a:solidFill>
                  <a:prstClr val="white">
                    <a:lumMod val="50000"/>
                  </a:prstClr>
                </a:solidFill>
                <a:cs typeface="Arial"/>
                <a:sym typeface="Wingdings" panose="05000000000000000000" pitchFamily="2" charset="2"/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>
            <a:xfrm flipH="1">
              <a:off x="3515381" y="2838188"/>
              <a:ext cx="36888" cy="0"/>
            </a:xfrm>
            <a:prstGeom prst="line">
              <a:avLst/>
            </a:prstGeom>
            <a:noFill/>
            <a:ln w="19050" cap="flat" cmpd="sng" algn="ctr">
              <a:solidFill>
                <a:srgbClr val="70AD47"/>
              </a:solidFill>
              <a:prstDash val="solid"/>
              <a:miter lim="800000"/>
            </a:ln>
            <a:effectLst/>
          </p:spPr>
        </p:cxnSp>
        <p:cxnSp>
          <p:nvCxnSpPr>
            <p:cNvPr id="21" name="Straight Connector 20"/>
            <p:cNvCxnSpPr/>
            <p:nvPr/>
          </p:nvCxnSpPr>
          <p:spPr>
            <a:xfrm flipV="1">
              <a:off x="2899064" y="2684531"/>
              <a:ext cx="0" cy="1182920"/>
            </a:xfrm>
            <a:prstGeom prst="line">
              <a:avLst/>
            </a:prstGeom>
            <a:noFill/>
            <a:ln w="19050" cap="flat" cmpd="sng" algn="ctr">
              <a:solidFill>
                <a:srgbClr val="70AD47"/>
              </a:solidFill>
              <a:prstDash val="solid"/>
              <a:miter lim="800000"/>
            </a:ln>
            <a:effectLst/>
          </p:spPr>
        </p:cxnSp>
        <p:cxnSp>
          <p:nvCxnSpPr>
            <p:cNvPr id="22" name="Straight Connector 21"/>
            <p:cNvCxnSpPr/>
            <p:nvPr/>
          </p:nvCxnSpPr>
          <p:spPr>
            <a:xfrm flipV="1">
              <a:off x="5141079" y="1771429"/>
              <a:ext cx="0" cy="648440"/>
            </a:xfrm>
            <a:prstGeom prst="line">
              <a:avLst/>
            </a:prstGeom>
            <a:noFill/>
            <a:ln w="1905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</p:cxnSp>
        <p:cxnSp>
          <p:nvCxnSpPr>
            <p:cNvPr id="23" name="Straight Connector 22"/>
            <p:cNvCxnSpPr>
              <a:cxnSpLocks/>
            </p:cNvCxnSpPr>
            <p:nvPr/>
          </p:nvCxnSpPr>
          <p:spPr>
            <a:xfrm flipH="1">
              <a:off x="5136823" y="1781993"/>
              <a:ext cx="668957" cy="1167"/>
            </a:xfrm>
            <a:prstGeom prst="line">
              <a:avLst/>
            </a:prstGeom>
            <a:noFill/>
            <a:ln w="1905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</p:cxnSp>
        <p:sp>
          <p:nvSpPr>
            <p:cNvPr id="24" name="TextBox 23"/>
            <p:cNvSpPr txBox="1"/>
            <p:nvPr/>
          </p:nvSpPr>
          <p:spPr>
            <a:xfrm>
              <a:off x="5822840" y="1275171"/>
              <a:ext cx="1936027" cy="821564"/>
            </a:xfrm>
            <a:prstGeom prst="rect">
              <a:avLst/>
            </a:prstGeom>
            <a:noFill/>
            <a:ln>
              <a:solidFill>
                <a:srgbClr val="E7E6E6">
                  <a:lumMod val="50000"/>
                </a:srgbClr>
              </a:solidFill>
            </a:ln>
          </p:spPr>
          <p:txBody>
            <a:bodyPr wrap="square" lIns="68580" tIns="34290" rIns="68580" bIns="34290" rtlCol="0" anchor="t">
              <a:spAutoFit/>
            </a:bodyPr>
            <a:lstStyle/>
            <a:p>
              <a:pPr marL="69849">
                <a:lnSpc>
                  <a:spcPct val="100000"/>
                </a:lnSpc>
                <a:spcBef>
                  <a:spcPts val="180"/>
                </a:spcBef>
              </a:pPr>
              <a:r>
                <a:rPr lang="en-US" sz="1400" dirty="0">
                  <a:solidFill>
                    <a:srgbClr val="7E7E7E"/>
                  </a:solidFill>
                  <a:latin typeface="Carlito"/>
                </a:rPr>
                <a:t>I</a:t>
              </a:r>
              <a:r>
                <a:rPr lang="en-US" sz="1400" spc="-25" dirty="0">
                  <a:solidFill>
                    <a:srgbClr val="7E7E7E"/>
                  </a:solidFill>
                  <a:latin typeface="Carlito"/>
                </a:rPr>
                <a:t> </a:t>
              </a:r>
              <a:r>
                <a:rPr lang="en-US" sz="1400" dirty="0">
                  <a:solidFill>
                    <a:srgbClr val="7E7E7E"/>
                  </a:solidFill>
                  <a:latin typeface="Carlito"/>
                </a:rPr>
                <a:t>would</a:t>
              </a:r>
              <a:r>
                <a:rPr lang="en-US" sz="1400" spc="-20" dirty="0">
                  <a:solidFill>
                    <a:srgbClr val="7E7E7E"/>
                  </a:solidFill>
                  <a:latin typeface="Carlito"/>
                </a:rPr>
                <a:t> </a:t>
              </a:r>
              <a:r>
                <a:rPr lang="en-US" sz="1400" b="1" dirty="0">
                  <a:solidFill>
                    <a:srgbClr val="7E7E7E"/>
                  </a:solidFill>
                  <a:latin typeface="Carlito"/>
                </a:rPr>
                <a:t>LOVE</a:t>
              </a:r>
              <a:r>
                <a:rPr lang="en-US" sz="1400" b="1" spc="-20" dirty="0">
                  <a:solidFill>
                    <a:srgbClr val="7E7E7E"/>
                  </a:solidFill>
                  <a:latin typeface="Carlito"/>
                </a:rPr>
                <a:t> </a:t>
              </a:r>
              <a:r>
                <a:rPr lang="en-US" sz="1400" dirty="0">
                  <a:solidFill>
                    <a:srgbClr val="7E7E7E"/>
                  </a:solidFill>
                  <a:latin typeface="Carlito"/>
                </a:rPr>
                <a:t>it </a:t>
              </a:r>
              <a:r>
                <a:rPr lang="en-US" sz="1400" spc="-25" dirty="0">
                  <a:solidFill>
                    <a:srgbClr val="7E7E7E"/>
                  </a:solidFill>
                  <a:latin typeface="Carlito"/>
                </a:rPr>
                <a:t>if:</a:t>
              </a:r>
            </a:p>
            <a:p>
              <a:pPr marL="69849">
                <a:lnSpc>
                  <a:spcPct val="100000"/>
                </a:lnSpc>
                <a:spcBef>
                  <a:spcPts val="1685"/>
                </a:spcBef>
              </a:pPr>
              <a:r>
                <a:rPr lang="en-US" sz="1400" dirty="0">
                  <a:solidFill>
                    <a:srgbClr val="7E7E7E"/>
                  </a:solidFill>
                  <a:latin typeface="Wingdings"/>
                </a:rPr>
                <a:t></a:t>
              </a:r>
              <a:r>
                <a:rPr lang="en-US" sz="1400" spc="-60" dirty="0">
                  <a:solidFill>
                    <a:srgbClr val="7E7E7E"/>
                  </a:solidFill>
                  <a:latin typeface="Times New Roman"/>
                </a:rPr>
                <a:t> </a:t>
              </a:r>
              <a:r>
                <a:rPr lang="en-US" sz="1400" i="1" spc="-10" dirty="0">
                  <a:latin typeface="Carlito"/>
                </a:rPr>
                <a:t>Automated</a:t>
              </a:r>
              <a:r>
                <a:rPr lang="en-US" sz="1400" i="1" spc="-35" dirty="0">
                  <a:latin typeface="Carlito"/>
                </a:rPr>
                <a:t> </a:t>
              </a:r>
              <a:r>
                <a:rPr lang="en-US" sz="1400" i="1" dirty="0">
                  <a:latin typeface="Carlito"/>
                </a:rPr>
                <a:t>navigation</a:t>
              </a:r>
              <a:r>
                <a:rPr lang="en-US" sz="1400" i="1" spc="5" dirty="0">
                  <a:latin typeface="Carlito"/>
                </a:rPr>
                <a:t> </a:t>
              </a:r>
              <a:r>
                <a:rPr lang="en-US" sz="1400" i="1" dirty="0">
                  <a:latin typeface="Carlito"/>
                </a:rPr>
                <a:t>reduces</a:t>
              </a:r>
              <a:r>
                <a:rPr lang="en-US" sz="1400" i="1" spc="-40" dirty="0">
                  <a:latin typeface="Carlito"/>
                </a:rPr>
                <a:t> </a:t>
              </a:r>
              <a:r>
                <a:rPr lang="en-US" sz="1400" i="1" dirty="0">
                  <a:latin typeface="Carlito"/>
                </a:rPr>
                <a:t>time</a:t>
              </a:r>
              <a:r>
                <a:rPr lang="en-US" sz="1400" i="1" spc="-35" dirty="0">
                  <a:latin typeface="Carlito"/>
                </a:rPr>
                <a:t> </a:t>
              </a:r>
              <a:r>
                <a:rPr lang="en-US" sz="1400" i="1" spc="-10" dirty="0">
                  <a:latin typeface="Carlito"/>
                </a:rPr>
                <a:t>delays.</a:t>
              </a:r>
            </a:p>
            <a:p>
              <a:pPr marL="69849">
                <a:lnSpc>
                  <a:spcPct val="100000"/>
                </a:lnSpc>
              </a:pPr>
              <a:r>
                <a:rPr lang="en-US" sz="1400" dirty="0">
                  <a:latin typeface="Wingdings"/>
                </a:rPr>
                <a:t></a:t>
              </a:r>
              <a:r>
                <a:rPr lang="en-US" sz="1400" spc="-75" dirty="0">
                  <a:latin typeface="Times New Roman"/>
                </a:rPr>
                <a:t> </a:t>
              </a:r>
              <a:r>
                <a:rPr lang="en-US" sz="1400" i="1" dirty="0">
                  <a:latin typeface="Carlito"/>
                </a:rPr>
                <a:t>Face</a:t>
              </a:r>
              <a:r>
                <a:rPr lang="en-US" sz="1400" i="1" spc="-60" dirty="0">
                  <a:latin typeface="Carlito"/>
                </a:rPr>
                <a:t> </a:t>
              </a:r>
              <a:r>
                <a:rPr lang="en-US" sz="1400" i="1" dirty="0">
                  <a:latin typeface="Carlito"/>
                </a:rPr>
                <a:t>recognition</a:t>
              </a:r>
              <a:r>
                <a:rPr lang="en-US" sz="1400" i="1" spc="-55" dirty="0">
                  <a:latin typeface="Carlito"/>
                </a:rPr>
                <a:t> </a:t>
              </a:r>
              <a:r>
                <a:rPr lang="en-US" sz="1400" i="1" dirty="0">
                  <a:latin typeface="Carlito"/>
                </a:rPr>
                <a:t>simplifies</a:t>
              </a:r>
              <a:r>
                <a:rPr lang="en-US" sz="1400" i="1" spc="-35" dirty="0">
                  <a:latin typeface="Carlito"/>
                </a:rPr>
                <a:t> </a:t>
              </a:r>
              <a:r>
                <a:rPr lang="en-US" sz="1400" i="1" dirty="0">
                  <a:latin typeface="Carlito"/>
                </a:rPr>
                <a:t>attendance</a:t>
              </a:r>
              <a:r>
                <a:rPr lang="en-US" sz="1400" i="1" spc="-15" dirty="0">
                  <a:latin typeface="Carlito"/>
                </a:rPr>
                <a:t> </a:t>
              </a:r>
              <a:r>
                <a:rPr lang="en-US" sz="1400" i="1" spc="-10" dirty="0">
                  <a:latin typeface="Carlito"/>
                </a:rPr>
                <a:t>management</a:t>
              </a:r>
            </a:p>
            <a:p>
              <a:pPr marL="69849">
                <a:lnSpc>
                  <a:spcPct val="100000"/>
                </a:lnSpc>
              </a:pPr>
              <a:r>
                <a:rPr lang="en-US" sz="1400" spc="-10" dirty="0">
                  <a:latin typeface="Wingdings"/>
                </a:rPr>
                <a:t></a:t>
              </a:r>
              <a:r>
                <a:rPr lang="en-US" sz="1400" i="1" spc="-10" dirty="0">
                  <a:latin typeface="Carlito"/>
                </a:rPr>
                <a:t>Real-</a:t>
              </a:r>
              <a:r>
                <a:rPr lang="en-US" sz="1400" i="1" dirty="0">
                  <a:latin typeface="Carlito"/>
                </a:rPr>
                <a:t>time</a:t>
              </a:r>
              <a:r>
                <a:rPr lang="en-US" sz="1400" i="1" spc="-55" dirty="0">
                  <a:latin typeface="Carlito"/>
                </a:rPr>
                <a:t> </a:t>
              </a:r>
              <a:r>
                <a:rPr lang="en-US" sz="1400" i="1" dirty="0">
                  <a:latin typeface="Carlito"/>
                </a:rPr>
                <a:t>guidance</a:t>
              </a:r>
              <a:r>
                <a:rPr lang="en-US" sz="1400" i="1" spc="-15" dirty="0">
                  <a:latin typeface="Carlito"/>
                </a:rPr>
                <a:t> </a:t>
              </a:r>
              <a:r>
                <a:rPr lang="en-US" sz="1400" i="1" dirty="0">
                  <a:latin typeface="Carlito"/>
                </a:rPr>
                <a:t>enhances</a:t>
              </a:r>
              <a:r>
                <a:rPr lang="en-US" sz="1400" i="1" spc="-40" dirty="0">
                  <a:latin typeface="Carlito"/>
                </a:rPr>
                <a:t> </a:t>
              </a:r>
              <a:r>
                <a:rPr lang="en-US" sz="1400" i="1" dirty="0">
                  <a:latin typeface="Carlito"/>
                </a:rPr>
                <a:t>customer</a:t>
              </a:r>
              <a:r>
                <a:rPr lang="en-US" sz="1400" i="1" spc="-60" dirty="0">
                  <a:latin typeface="Carlito"/>
                </a:rPr>
                <a:t> </a:t>
              </a:r>
              <a:r>
                <a:rPr lang="en-US" sz="1400" i="1" spc="-10" dirty="0">
                  <a:latin typeface="Carlito"/>
                </a:rPr>
                <a:t>experience.</a:t>
              </a:r>
            </a:p>
          </p:txBody>
        </p:sp>
        <p:cxnSp>
          <p:nvCxnSpPr>
            <p:cNvPr id="25" name="Straight Connector 24"/>
            <p:cNvCxnSpPr/>
            <p:nvPr/>
          </p:nvCxnSpPr>
          <p:spPr>
            <a:xfrm>
              <a:off x="5824125" y="2947312"/>
              <a:ext cx="151861" cy="2850"/>
            </a:xfrm>
            <a:prstGeom prst="line">
              <a:avLst/>
            </a:prstGeom>
            <a:noFill/>
            <a:ln w="6350" cap="flat" cmpd="sng" algn="ctr">
              <a:solidFill>
                <a:srgbClr val="ED7D31"/>
              </a:solidFill>
              <a:prstDash val="solid"/>
              <a:miter lim="800000"/>
            </a:ln>
            <a:effectLst/>
          </p:spPr>
        </p:cxnSp>
        <p:cxnSp>
          <p:nvCxnSpPr>
            <p:cNvPr id="26" name="Straight Connector 25"/>
            <p:cNvCxnSpPr/>
            <p:nvPr/>
          </p:nvCxnSpPr>
          <p:spPr>
            <a:xfrm flipH="1" flipV="1">
              <a:off x="5963697" y="2419869"/>
              <a:ext cx="8108" cy="1082870"/>
            </a:xfrm>
            <a:prstGeom prst="line">
              <a:avLst/>
            </a:prstGeom>
            <a:noFill/>
            <a:ln w="6350" cap="flat" cmpd="sng" algn="ctr">
              <a:solidFill>
                <a:srgbClr val="ED7D31"/>
              </a:solidFill>
              <a:prstDash val="solid"/>
              <a:miter lim="800000"/>
            </a:ln>
            <a:effectLst/>
          </p:spPr>
        </p:cxnSp>
        <p:cxnSp>
          <p:nvCxnSpPr>
            <p:cNvPr id="27" name="Straight Connector 26"/>
            <p:cNvCxnSpPr/>
            <p:nvPr/>
          </p:nvCxnSpPr>
          <p:spPr>
            <a:xfrm flipV="1">
              <a:off x="5136822" y="3644573"/>
              <a:ext cx="1" cy="385252"/>
            </a:xfrm>
            <a:prstGeom prst="line">
              <a:avLst/>
            </a:prstGeom>
            <a:noFill/>
            <a:ln w="1905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</p:cxnSp>
        <p:cxnSp>
          <p:nvCxnSpPr>
            <p:cNvPr id="28" name="Straight Connector 27"/>
            <p:cNvCxnSpPr>
              <a:cxnSpLocks/>
            </p:cNvCxnSpPr>
            <p:nvPr/>
          </p:nvCxnSpPr>
          <p:spPr>
            <a:xfrm flipH="1" flipV="1">
              <a:off x="5136823" y="4029825"/>
              <a:ext cx="536268" cy="32"/>
            </a:xfrm>
            <a:prstGeom prst="line">
              <a:avLst/>
            </a:prstGeom>
            <a:noFill/>
            <a:ln w="1905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</p:cxnSp>
        <p:sp>
          <p:nvSpPr>
            <p:cNvPr id="29" name="TextBox 28"/>
            <p:cNvSpPr txBox="1"/>
            <p:nvPr/>
          </p:nvSpPr>
          <p:spPr>
            <a:xfrm>
              <a:off x="5673091" y="3648983"/>
              <a:ext cx="2068716" cy="709532"/>
            </a:xfrm>
            <a:prstGeom prst="rect">
              <a:avLst/>
            </a:prstGeom>
            <a:noFill/>
            <a:ln>
              <a:solidFill>
                <a:srgbClr val="E7E6E6">
                  <a:lumMod val="50000"/>
                </a:srgbClr>
              </a:solidFill>
            </a:ln>
          </p:spPr>
          <p:txBody>
            <a:bodyPr wrap="square" lIns="68580" tIns="34290" rIns="68580" bIns="34290" rtlCol="0" anchor="t">
              <a:spAutoFit/>
            </a:bodyPr>
            <a:lstStyle/>
            <a:p>
              <a:pPr marL="69849">
                <a:lnSpc>
                  <a:spcPct val="100000"/>
                </a:lnSpc>
                <a:spcBef>
                  <a:spcPts val="180"/>
                </a:spcBef>
              </a:pPr>
              <a:r>
                <a:rPr lang="en-US" sz="1400" dirty="0">
                  <a:solidFill>
                    <a:srgbClr val="7E7E7E"/>
                  </a:solidFill>
                  <a:latin typeface="Carlito"/>
                </a:rPr>
                <a:t>I</a:t>
              </a:r>
              <a:r>
                <a:rPr lang="en-US" sz="1400" spc="-30" dirty="0">
                  <a:solidFill>
                    <a:srgbClr val="7E7E7E"/>
                  </a:solidFill>
                  <a:latin typeface="Carlito"/>
                </a:rPr>
                <a:t> </a:t>
              </a:r>
              <a:r>
                <a:rPr lang="en-US" sz="1400" dirty="0">
                  <a:solidFill>
                    <a:srgbClr val="7E7E7E"/>
                  </a:solidFill>
                  <a:latin typeface="Carlito"/>
                </a:rPr>
                <a:t>would</a:t>
              </a:r>
              <a:r>
                <a:rPr lang="en-US" sz="1400" spc="-20" dirty="0">
                  <a:solidFill>
                    <a:srgbClr val="7E7E7E"/>
                  </a:solidFill>
                  <a:latin typeface="Carlito"/>
                </a:rPr>
                <a:t> </a:t>
              </a:r>
              <a:r>
                <a:rPr lang="en-US" sz="1400" b="1" dirty="0">
                  <a:solidFill>
                    <a:srgbClr val="7E7E7E"/>
                  </a:solidFill>
                  <a:latin typeface="Carlito"/>
                </a:rPr>
                <a:t>HATE</a:t>
              </a:r>
              <a:r>
                <a:rPr lang="en-US" sz="1400" b="1" spc="-30" dirty="0">
                  <a:solidFill>
                    <a:srgbClr val="7E7E7E"/>
                  </a:solidFill>
                  <a:latin typeface="Carlito"/>
                </a:rPr>
                <a:t> </a:t>
              </a:r>
              <a:r>
                <a:rPr lang="en-US" sz="1400" dirty="0">
                  <a:solidFill>
                    <a:srgbClr val="7E7E7E"/>
                  </a:solidFill>
                  <a:latin typeface="Carlito"/>
                </a:rPr>
                <a:t>it</a:t>
              </a:r>
              <a:r>
                <a:rPr lang="en-US" sz="1400" spc="-10" dirty="0">
                  <a:solidFill>
                    <a:srgbClr val="7E7E7E"/>
                  </a:solidFill>
                  <a:latin typeface="Carlito"/>
                </a:rPr>
                <a:t> </a:t>
              </a:r>
              <a:r>
                <a:rPr lang="en-US" sz="1400" spc="-25" dirty="0">
                  <a:solidFill>
                    <a:srgbClr val="7E7E7E"/>
                  </a:solidFill>
                  <a:latin typeface="Carlito"/>
                </a:rPr>
                <a:t>if:</a:t>
              </a:r>
            </a:p>
            <a:p>
              <a:pPr marL="69849">
                <a:lnSpc>
                  <a:spcPct val="100000"/>
                </a:lnSpc>
                <a:spcBef>
                  <a:spcPts val="1680"/>
                </a:spcBef>
              </a:pPr>
              <a:r>
                <a:rPr lang="en-US" sz="1400" dirty="0">
                  <a:latin typeface="Wingdings"/>
                </a:rPr>
                <a:t></a:t>
              </a:r>
              <a:r>
                <a:rPr lang="en-US" sz="1400" i="1" dirty="0">
                  <a:latin typeface="Carlito"/>
                </a:rPr>
                <a:t>Manual</a:t>
              </a:r>
              <a:r>
                <a:rPr lang="en-US" sz="1400" i="1" spc="-25" dirty="0">
                  <a:latin typeface="Carlito"/>
                </a:rPr>
                <a:t> </a:t>
              </a:r>
              <a:r>
                <a:rPr lang="en-US" sz="1400" i="1" dirty="0">
                  <a:latin typeface="Carlito"/>
                </a:rPr>
                <a:t>logging</a:t>
              </a:r>
              <a:r>
                <a:rPr lang="en-US" sz="1400" i="1" spc="-35" dirty="0">
                  <a:latin typeface="Carlito"/>
                </a:rPr>
                <a:t> </a:t>
              </a:r>
              <a:r>
                <a:rPr lang="en-US" sz="1400" i="1" dirty="0">
                  <a:latin typeface="Carlito"/>
                </a:rPr>
                <a:t>is</a:t>
              </a:r>
              <a:r>
                <a:rPr lang="en-US" sz="1400" i="1" spc="-40" dirty="0">
                  <a:latin typeface="Carlito"/>
                </a:rPr>
                <a:t> </a:t>
              </a:r>
              <a:r>
                <a:rPr lang="en-US" sz="1400" i="1" dirty="0">
                  <a:latin typeface="Carlito"/>
                </a:rPr>
                <a:t>prone</a:t>
              </a:r>
              <a:r>
                <a:rPr lang="en-US" sz="1400" i="1" spc="-50" dirty="0">
                  <a:latin typeface="Carlito"/>
                </a:rPr>
                <a:t> </a:t>
              </a:r>
              <a:r>
                <a:rPr lang="en-US" sz="1400" i="1" dirty="0">
                  <a:latin typeface="Carlito"/>
                </a:rPr>
                <a:t>to</a:t>
              </a:r>
              <a:r>
                <a:rPr lang="en-US" sz="1400" i="1" spc="-45" dirty="0">
                  <a:latin typeface="Carlito"/>
                </a:rPr>
                <a:t> </a:t>
              </a:r>
              <a:r>
                <a:rPr lang="en-US" sz="1400" i="1" spc="-10" dirty="0">
                  <a:latin typeface="Carlito"/>
                </a:rPr>
                <a:t>errors.</a:t>
              </a:r>
            </a:p>
            <a:p>
              <a:pPr marL="198120" marR="487680" indent="-128270">
                <a:lnSpc>
                  <a:spcPct val="100000"/>
                </a:lnSpc>
              </a:pPr>
              <a:r>
                <a:rPr lang="en-US" sz="1400" spc="-10" dirty="0">
                  <a:latin typeface="Wingdings"/>
                </a:rPr>
                <a:t></a:t>
              </a:r>
              <a:r>
                <a:rPr lang="en-US" sz="1400" i="1" spc="-10" dirty="0">
                  <a:latin typeface="Carlito"/>
                </a:rPr>
                <a:t>Visitors</a:t>
              </a:r>
              <a:r>
                <a:rPr lang="en-US" sz="1400" i="1" spc="-35" dirty="0">
                  <a:latin typeface="Carlito"/>
                </a:rPr>
                <a:t> </a:t>
              </a:r>
              <a:r>
                <a:rPr lang="en-US" sz="1400" i="1" dirty="0">
                  <a:latin typeface="Carlito"/>
                </a:rPr>
                <a:t>and</a:t>
              </a:r>
              <a:r>
                <a:rPr lang="en-US" sz="1400" i="1" spc="-30" dirty="0">
                  <a:latin typeface="Carlito"/>
                </a:rPr>
                <a:t> </a:t>
              </a:r>
              <a:r>
                <a:rPr lang="en-US" sz="1400" i="1" dirty="0">
                  <a:latin typeface="Carlito"/>
                </a:rPr>
                <a:t>patients</a:t>
              </a:r>
              <a:r>
                <a:rPr lang="en-US" sz="1400" i="1" spc="-5" dirty="0">
                  <a:latin typeface="Carlito"/>
                </a:rPr>
                <a:t> </a:t>
              </a:r>
              <a:r>
                <a:rPr lang="en-US" sz="1400" i="1" dirty="0">
                  <a:latin typeface="Carlito"/>
                </a:rPr>
                <a:t>find</a:t>
              </a:r>
              <a:r>
                <a:rPr lang="en-US" sz="1400" i="1" spc="-40" dirty="0">
                  <a:latin typeface="Carlito"/>
                </a:rPr>
                <a:t> </a:t>
              </a:r>
              <a:r>
                <a:rPr lang="en-US" sz="1400" i="1" dirty="0">
                  <a:latin typeface="Carlito"/>
                </a:rPr>
                <a:t>it</a:t>
              </a:r>
              <a:r>
                <a:rPr lang="en-US" sz="1400" i="1" spc="-25" dirty="0">
                  <a:latin typeface="Carlito"/>
                </a:rPr>
                <a:t> </a:t>
              </a:r>
              <a:r>
                <a:rPr lang="en-US" sz="1400" i="1" dirty="0">
                  <a:latin typeface="Carlito"/>
                </a:rPr>
                <a:t>difficult</a:t>
              </a:r>
              <a:r>
                <a:rPr lang="en-US" sz="1400" i="1" spc="-25" dirty="0">
                  <a:latin typeface="Carlito"/>
                </a:rPr>
                <a:t> </a:t>
              </a:r>
              <a:r>
                <a:rPr lang="en-US" sz="1400" i="1" dirty="0">
                  <a:latin typeface="Carlito"/>
                </a:rPr>
                <a:t>to</a:t>
              </a:r>
              <a:r>
                <a:rPr lang="en-US" sz="1400" i="1" spc="-30" dirty="0">
                  <a:latin typeface="Carlito"/>
                </a:rPr>
                <a:t> </a:t>
              </a:r>
              <a:r>
                <a:rPr lang="en-US" sz="1400" i="1" dirty="0">
                  <a:latin typeface="Carlito"/>
                </a:rPr>
                <a:t>navigate</a:t>
              </a:r>
              <a:r>
                <a:rPr lang="en-US" sz="1400" i="1" spc="-25" dirty="0">
                  <a:latin typeface="Carlito"/>
                </a:rPr>
                <a:t> </a:t>
              </a:r>
              <a:r>
                <a:rPr lang="en-US" sz="1400" i="1" spc="-10" dirty="0">
                  <a:latin typeface="Carlito"/>
                </a:rPr>
                <a:t>large institutions.</a:t>
              </a:r>
            </a:p>
            <a:p>
              <a:pPr marL="69849">
                <a:lnSpc>
                  <a:spcPct val="100000"/>
                </a:lnSpc>
                <a:spcBef>
                  <a:spcPts val="5"/>
                </a:spcBef>
              </a:pPr>
              <a:r>
                <a:rPr lang="en-US" sz="1400" dirty="0">
                  <a:latin typeface="Wingdings"/>
                </a:rPr>
                <a:t></a:t>
              </a:r>
              <a:r>
                <a:rPr lang="en-US" sz="1400" i="1" dirty="0">
                  <a:latin typeface="Carlito"/>
                </a:rPr>
                <a:t>Lack</a:t>
              </a:r>
              <a:r>
                <a:rPr lang="en-US" sz="1400" i="1" spc="-40" dirty="0">
                  <a:latin typeface="Carlito"/>
                </a:rPr>
                <a:t> </a:t>
              </a:r>
              <a:r>
                <a:rPr lang="en-US" sz="1400" i="1" dirty="0">
                  <a:latin typeface="Carlito"/>
                </a:rPr>
                <a:t>of</a:t>
              </a:r>
              <a:r>
                <a:rPr lang="en-US" sz="1400" i="1" spc="-40" dirty="0">
                  <a:latin typeface="Carlito"/>
                </a:rPr>
                <a:t> </a:t>
              </a:r>
              <a:r>
                <a:rPr lang="en-US" sz="1400" i="1" spc="-10" dirty="0">
                  <a:latin typeface="Carlito"/>
                </a:rPr>
                <a:t>real-</a:t>
              </a:r>
              <a:r>
                <a:rPr lang="en-US" sz="1400" i="1" dirty="0">
                  <a:latin typeface="Carlito"/>
                </a:rPr>
                <a:t>time</a:t>
              </a:r>
              <a:r>
                <a:rPr lang="en-US" sz="1400" i="1" spc="-45" dirty="0">
                  <a:latin typeface="Carlito"/>
                </a:rPr>
                <a:t> </a:t>
              </a:r>
              <a:r>
                <a:rPr lang="en-US" sz="1400" i="1" dirty="0">
                  <a:latin typeface="Carlito"/>
                </a:rPr>
                <a:t>assistance</a:t>
              </a:r>
              <a:r>
                <a:rPr lang="en-US" sz="1400" i="1" spc="-30" dirty="0">
                  <a:latin typeface="Carlito"/>
                </a:rPr>
                <a:t> </a:t>
              </a:r>
              <a:r>
                <a:rPr lang="en-US" sz="1400" i="1" dirty="0">
                  <a:latin typeface="Carlito"/>
                </a:rPr>
                <a:t>impacts</a:t>
              </a:r>
              <a:r>
                <a:rPr lang="en-US" sz="1400" i="1" spc="-20" dirty="0">
                  <a:latin typeface="Carlito"/>
                </a:rPr>
                <a:t> </a:t>
              </a:r>
              <a:r>
                <a:rPr lang="en-US" sz="1400" i="1" dirty="0">
                  <a:latin typeface="Carlito"/>
                </a:rPr>
                <a:t>quality</a:t>
              </a:r>
              <a:r>
                <a:rPr lang="en-US" sz="1400" i="1" spc="-20" dirty="0">
                  <a:latin typeface="Carlito"/>
                </a:rPr>
                <a:t> </a:t>
              </a:r>
              <a:r>
                <a:rPr lang="en-US" sz="1400" i="1" dirty="0">
                  <a:latin typeface="Carlito"/>
                </a:rPr>
                <a:t>of</a:t>
              </a:r>
              <a:r>
                <a:rPr lang="en-US" sz="1400" i="1" spc="-40" dirty="0">
                  <a:latin typeface="Carlito"/>
                </a:rPr>
                <a:t> </a:t>
              </a:r>
              <a:r>
                <a:rPr lang="en-US" sz="1400" i="1" spc="-10" dirty="0">
                  <a:latin typeface="Carlito"/>
                </a:rPr>
                <a:t>care.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022507" y="2422023"/>
              <a:ext cx="1719300" cy="932261"/>
            </a:xfrm>
            <a:prstGeom prst="rect">
              <a:avLst/>
            </a:prstGeom>
            <a:noFill/>
            <a:ln>
              <a:solidFill>
                <a:srgbClr val="E7E6E6">
                  <a:lumMod val="50000"/>
                </a:srgbClr>
              </a:solidFill>
            </a:ln>
          </p:spPr>
          <p:txBody>
            <a:bodyPr wrap="square" lIns="68580" tIns="34290" rIns="68580" bIns="34290" rtlCol="0" anchor="t">
              <a:spAutoFit/>
            </a:bodyPr>
            <a:lstStyle/>
            <a:p>
              <a:pPr defTabSz="685771">
                <a:defRPr/>
              </a:pPr>
              <a:r>
                <a:rPr lang="en-US" sz="1400" kern="0" dirty="0">
                  <a:solidFill>
                    <a:prstClr val="white">
                      <a:lumMod val="50000"/>
                    </a:prstClr>
                  </a:solidFill>
                  <a:cs typeface="Arial"/>
                  <a:sym typeface="Arial"/>
                </a:rPr>
                <a:t>I would </a:t>
              </a:r>
              <a:r>
                <a:rPr lang="en-US" sz="1400" b="1" kern="0" dirty="0">
                  <a:solidFill>
                    <a:prstClr val="white">
                      <a:lumMod val="50000"/>
                    </a:prstClr>
                  </a:solidFill>
                  <a:cs typeface="Arial"/>
                  <a:sym typeface="Arial"/>
                </a:rPr>
                <a:t>WANT</a:t>
              </a:r>
              <a:r>
                <a:rPr lang="en-US" sz="1400" kern="0" dirty="0">
                  <a:solidFill>
                    <a:prstClr val="white">
                      <a:lumMod val="50000"/>
                    </a:prstClr>
                  </a:solidFill>
                  <a:cs typeface="Arial"/>
                  <a:sym typeface="Arial"/>
                </a:rPr>
                <a:t>: </a:t>
              </a:r>
            </a:p>
            <a:p>
              <a:pPr defTabSz="685771">
                <a:defRPr/>
              </a:pPr>
              <a:endParaRPr lang="en-US" sz="1400" kern="0" dirty="0">
                <a:solidFill>
                  <a:prstClr val="white">
                    <a:lumMod val="50000"/>
                  </a:prstClr>
                </a:solidFill>
                <a:cs typeface="Arial"/>
                <a:sym typeface="Arial"/>
              </a:endParaRPr>
            </a:p>
            <a:p>
              <a:pPr marL="128110" indent="-128110" defTabSz="685771">
                <a:buFont typeface="Wingdings" panose="05000000000000000000" pitchFamily="2" charset="2"/>
                <a:buChar char="à"/>
                <a:defRPr/>
              </a:pPr>
              <a:r>
                <a:rPr lang="pt-BR" sz="1400" i="1" kern="0" dirty="0">
                  <a:solidFill>
                    <a:prstClr val="black"/>
                  </a:solidFill>
                  <a:cs typeface="Arial"/>
                  <a:sym typeface="Arial"/>
                </a:rPr>
                <a:t>What do the clients do (actions) when facing the problem?</a:t>
              </a:r>
              <a:endParaRPr lang="en-US" sz="1400" kern="0" dirty="0">
                <a:solidFill>
                  <a:prstClr val="white">
                    <a:lumMod val="50000"/>
                  </a:prstClr>
                </a:solidFill>
                <a:cs typeface="Calibri" panose="020F0502020204030204"/>
                <a:sym typeface="Arial"/>
              </a:endParaRPr>
            </a:p>
            <a:p>
              <a:pPr marL="128110" indent="-128110" defTabSz="685771">
                <a:buFont typeface="Wingdings" panose="05000000000000000000" pitchFamily="2" charset="2"/>
                <a:buChar char="à"/>
                <a:defRPr/>
              </a:pPr>
              <a:endParaRPr lang="en-US" sz="1400" kern="0" dirty="0">
                <a:solidFill>
                  <a:prstClr val="white">
                    <a:lumMod val="50000"/>
                  </a:prstClr>
                </a:solidFill>
                <a:cs typeface="Calibri" panose="020F0502020204030204"/>
                <a:sym typeface="Arial"/>
              </a:endParaRPr>
            </a:p>
            <a:p>
              <a:pPr defTabSz="685771">
                <a:defRPr/>
              </a:pPr>
              <a:r>
                <a:rPr lang="pt-BR" sz="1400" i="1" kern="0" dirty="0">
                  <a:solidFill>
                    <a:srgbClr val="000000"/>
                  </a:solidFill>
                  <a:cs typeface="Calibri"/>
                  <a:sym typeface="Arial"/>
                </a:rPr>
                <a:t>This refers to the feeling/action of customers before he gets in contact with your solution.</a:t>
              </a:r>
            </a:p>
            <a:p>
              <a:pPr defTabSz="685771">
                <a:defRPr/>
              </a:pPr>
              <a:endParaRPr lang="pt-BR" sz="1400" i="1" kern="0" dirty="0">
                <a:solidFill>
                  <a:srgbClr val="000000"/>
                </a:solidFill>
                <a:cs typeface="Calibri"/>
                <a:sym typeface="Arial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50612" y="2659569"/>
              <a:ext cx="1900417" cy="1280359"/>
            </a:xfrm>
            <a:prstGeom prst="rect">
              <a:avLst/>
            </a:prstGeom>
            <a:noFill/>
            <a:ln>
              <a:solidFill>
                <a:srgbClr val="E7E6E6">
                  <a:lumMod val="50000"/>
                </a:srgbClr>
              </a:solidFill>
            </a:ln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pt-BR" sz="1400" b="1" i="1" kern="0" dirty="0">
                  <a:solidFill>
                    <a:srgbClr val="FF0000"/>
                  </a:solidFill>
                  <a:cs typeface="Arial"/>
                  <a:sym typeface="Arial"/>
                </a:rPr>
                <a:t>What is the product or service that you are offering?</a:t>
              </a:r>
              <a:br>
                <a:rPr lang="en-US" sz="1400" b="1" i="1" kern="0" dirty="0">
                  <a:solidFill>
                    <a:srgbClr val="FF0000"/>
                  </a:solidFill>
                  <a:cs typeface="Arial"/>
                  <a:sym typeface="Arial"/>
                </a:rPr>
              </a:br>
              <a:br>
                <a:rPr lang="en-US" sz="1400" b="1" i="1" kern="0" dirty="0">
                  <a:solidFill>
                    <a:srgbClr val="FF0000"/>
                  </a:solidFill>
                  <a:cs typeface="Arial"/>
                  <a:sym typeface="Arial"/>
                </a:rPr>
              </a:br>
              <a:br>
                <a:rPr lang="en-US" sz="1400" b="1" i="1" kern="0" dirty="0">
                  <a:solidFill>
                    <a:srgbClr val="FF0000"/>
                  </a:solidFill>
                  <a:cs typeface="Arial"/>
                  <a:sym typeface="Arial"/>
                </a:rPr>
              </a:br>
              <a:r>
                <a:rPr lang="en-US" sz="1400" spc="-20" dirty="0">
                  <a:latin typeface="Carlito"/>
                </a:rPr>
                <a:t>FARS, </a:t>
              </a:r>
              <a:r>
                <a:rPr lang="en-US" sz="1400" spc="-50" dirty="0">
                  <a:latin typeface="Carlito"/>
                </a:rPr>
                <a:t>a </a:t>
              </a:r>
              <a:r>
                <a:rPr lang="en-US" sz="1400" spc="-10" dirty="0">
                  <a:latin typeface="Carlito"/>
                </a:rPr>
                <a:t>fully automated robotic system </a:t>
              </a:r>
              <a:r>
                <a:rPr lang="en-US" sz="1400" spc="-20" dirty="0">
                  <a:latin typeface="Carlito"/>
                </a:rPr>
                <a:t>that </a:t>
              </a:r>
              <a:r>
                <a:rPr lang="en-US" sz="1400" dirty="0">
                  <a:latin typeface="Carlito"/>
                </a:rPr>
                <a:t>enhances</a:t>
              </a:r>
              <a:r>
                <a:rPr lang="en-US" sz="1400" spc="330" dirty="0">
                  <a:latin typeface="Carlito"/>
                </a:rPr>
                <a:t> </a:t>
              </a:r>
              <a:r>
                <a:rPr lang="en-US" sz="1400" dirty="0">
                  <a:latin typeface="Carlito"/>
                </a:rPr>
                <a:t>efficiency</a:t>
              </a:r>
              <a:r>
                <a:rPr lang="en-US" sz="1400" spc="330" dirty="0">
                  <a:latin typeface="Carlito"/>
                </a:rPr>
                <a:t> </a:t>
              </a:r>
              <a:r>
                <a:rPr lang="en-US" sz="1400" dirty="0">
                  <a:latin typeface="Carlito"/>
                </a:rPr>
                <a:t>in</a:t>
              </a:r>
              <a:r>
                <a:rPr lang="en-US" sz="1400" spc="320" dirty="0">
                  <a:latin typeface="Carlito"/>
                </a:rPr>
                <a:t> </a:t>
              </a:r>
              <a:r>
                <a:rPr lang="en-US" sz="1400" dirty="0">
                  <a:latin typeface="Carlito"/>
                </a:rPr>
                <a:t>public</a:t>
              </a:r>
              <a:r>
                <a:rPr lang="en-US" sz="1400" spc="325" dirty="0">
                  <a:latin typeface="Carlito"/>
                </a:rPr>
                <a:t> </a:t>
              </a:r>
              <a:r>
                <a:rPr lang="en-US" sz="1400" dirty="0">
                  <a:latin typeface="Carlito"/>
                </a:rPr>
                <a:t>spaces</a:t>
              </a:r>
              <a:r>
                <a:rPr lang="en-US" sz="1400" spc="325" dirty="0">
                  <a:latin typeface="Carlito"/>
                </a:rPr>
                <a:t> </a:t>
              </a:r>
              <a:r>
                <a:rPr lang="en-US" sz="1400" dirty="0">
                  <a:latin typeface="Carlito"/>
                </a:rPr>
                <a:t>by</a:t>
              </a:r>
              <a:r>
                <a:rPr lang="en-US" sz="1400" spc="335" dirty="0">
                  <a:latin typeface="Carlito"/>
                </a:rPr>
                <a:t> </a:t>
              </a:r>
              <a:r>
                <a:rPr lang="en-US" sz="1400" spc="-10" dirty="0">
                  <a:latin typeface="Carlito"/>
                </a:rPr>
                <a:t>providing</a:t>
              </a:r>
            </a:p>
            <a:p>
              <a:pPr>
                <a:defRPr/>
              </a:pPr>
              <a:endParaRPr lang="en-US" sz="1400" spc="-10" dirty="0">
                <a:latin typeface="Carlito"/>
              </a:endParaRPr>
            </a:p>
            <a:p>
              <a:pPr>
                <a:defRPr/>
              </a:pPr>
              <a:r>
                <a:rPr lang="en-US" sz="1400" spc="-10" dirty="0">
                  <a:latin typeface="Carlito"/>
                </a:rPr>
                <a:t>real-</a:t>
              </a:r>
              <a:r>
                <a:rPr lang="en-US" sz="1400" spc="-20" dirty="0">
                  <a:latin typeface="Carlito"/>
                </a:rPr>
                <a:t>time </a:t>
              </a:r>
              <a:r>
                <a:rPr lang="en-US" sz="1400" spc="-10" dirty="0">
                  <a:latin typeface="Carlito"/>
                </a:rPr>
                <a:t>assistance </a:t>
              </a:r>
              <a:r>
                <a:rPr lang="en-US" sz="1400" spc="-20" dirty="0">
                  <a:latin typeface="Carlito"/>
                </a:rPr>
                <a:t>face </a:t>
              </a:r>
              <a:r>
                <a:rPr lang="en-US" sz="1400" spc="-10" dirty="0">
                  <a:latin typeface="Carlito"/>
                </a:rPr>
                <a:t>recognition-based</a:t>
              </a:r>
            </a:p>
            <a:p>
              <a:pPr>
                <a:defRPr/>
              </a:pPr>
              <a:endParaRPr lang="en-US" sz="1400" spc="-10" dirty="0">
                <a:latin typeface="Carlito"/>
              </a:endParaRPr>
            </a:p>
            <a:p>
              <a:pPr>
                <a:defRPr/>
              </a:pPr>
              <a:r>
                <a:rPr lang="en-US" sz="1400" dirty="0">
                  <a:latin typeface="Carlito"/>
                </a:rPr>
                <a:t>attendance</a:t>
              </a:r>
              <a:r>
                <a:rPr lang="en-US" sz="1400" spc="-15" dirty="0">
                  <a:latin typeface="Carlito"/>
                </a:rPr>
                <a:t> </a:t>
              </a:r>
              <a:r>
                <a:rPr lang="en-US" sz="1400" dirty="0">
                  <a:latin typeface="Carlito"/>
                </a:rPr>
                <a:t>logging,</a:t>
              </a:r>
              <a:r>
                <a:rPr lang="en-US" sz="1400" spc="-45" dirty="0">
                  <a:latin typeface="Carlito"/>
                </a:rPr>
                <a:t> </a:t>
              </a:r>
              <a:r>
                <a:rPr lang="en-US" sz="1400" dirty="0">
                  <a:latin typeface="Carlito"/>
                </a:rPr>
                <a:t>and</a:t>
              </a:r>
              <a:r>
                <a:rPr lang="en-US" sz="1400" spc="-50" dirty="0">
                  <a:latin typeface="Carlito"/>
                </a:rPr>
                <a:t> </a:t>
              </a:r>
              <a:r>
                <a:rPr lang="en-US" sz="1400" spc="-10" dirty="0">
                  <a:latin typeface="Carlito"/>
                </a:rPr>
                <a:t>navigation</a:t>
              </a:r>
              <a:r>
                <a:rPr lang="en-US" sz="1400" spc="-30" dirty="0">
                  <a:latin typeface="Carlito"/>
                </a:rPr>
                <a:t> </a:t>
              </a:r>
              <a:r>
                <a:rPr lang="en-US" sz="1400" spc="-10" dirty="0">
                  <a:latin typeface="Carlito"/>
                </a:rPr>
                <a:t>support.</a:t>
              </a:r>
            </a:p>
            <a:p>
              <a:pPr algn="just" defTabSz="685771">
                <a:defRPr/>
              </a:pPr>
              <a:endParaRPr lang="en-IN" sz="1400" kern="0" dirty="0">
                <a:solidFill>
                  <a:prstClr val="white">
                    <a:lumMod val="50000"/>
                  </a:prstClr>
                </a:solidFill>
                <a:cs typeface="Arial"/>
                <a:sym typeface="Arial"/>
              </a:endParaRPr>
            </a:p>
          </p:txBody>
        </p:sp>
        <p:cxnSp>
          <p:nvCxnSpPr>
            <p:cNvPr id="32" name="Straight Connector 31"/>
            <p:cNvCxnSpPr>
              <a:cxnSpLocks/>
            </p:cNvCxnSpPr>
            <p:nvPr/>
          </p:nvCxnSpPr>
          <p:spPr>
            <a:xfrm flipH="1">
              <a:off x="2899064" y="3134279"/>
              <a:ext cx="92750" cy="0"/>
            </a:xfrm>
            <a:prstGeom prst="line">
              <a:avLst/>
            </a:prstGeom>
            <a:noFill/>
            <a:ln w="19050" cap="flat" cmpd="sng" algn="ctr">
              <a:solidFill>
                <a:srgbClr val="70AD47"/>
              </a:solidFill>
              <a:prstDash val="solid"/>
              <a:miter lim="800000"/>
            </a:ln>
            <a:effectLst/>
          </p:spPr>
        </p:cxnSp>
      </p:grpSp>
      <p:sp>
        <p:nvSpPr>
          <p:cNvPr id="51" name="Rectangle 50"/>
          <p:cNvSpPr/>
          <p:nvPr/>
        </p:nvSpPr>
        <p:spPr>
          <a:xfrm>
            <a:off x="7795856" y="4856877"/>
            <a:ext cx="1714342" cy="369330"/>
          </a:xfrm>
          <a:prstGeom prst="rect">
            <a:avLst/>
          </a:prstGeom>
        </p:spPr>
        <p:txBody>
          <a:bodyPr wrap="square" lIns="91439" tIns="45719" rIns="91439" bIns="45719">
            <a:spAutoFit/>
          </a:bodyPr>
          <a:lstStyle/>
          <a:p>
            <a:pPr algn="ctr"/>
            <a:r>
              <a:rPr lang="en-US" dirty="0"/>
              <a:t>FIT</a:t>
            </a:r>
          </a:p>
        </p:txBody>
      </p:sp>
      <p:sp>
        <p:nvSpPr>
          <p:cNvPr id="52" name="Rectangle 1"/>
          <p:cNvSpPr/>
          <p:nvPr/>
        </p:nvSpPr>
        <p:spPr>
          <a:xfrm>
            <a:off x="6286488" y="1477265"/>
            <a:ext cx="248784" cy="369330"/>
          </a:xfrm>
          <a:prstGeom prst="rect">
            <a:avLst/>
          </a:prstGeom>
        </p:spPr>
        <p:txBody>
          <a:bodyPr wrap="none" lIns="91439" tIns="45719" rIns="91439" bIns="45719">
            <a:spAutoFit/>
          </a:bodyPr>
          <a:lstStyle/>
          <a:p>
            <a:r>
              <a:rPr lang="en-US" dirty="0">
                <a:solidFill>
                  <a:srgbClr val="292929"/>
                </a:solidFill>
                <a:latin typeface="charter"/>
              </a:rPr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airam 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6700"/>
            <a:ext cx="2626360" cy="838200"/>
          </a:xfrm>
          <a:prstGeom prst="rect">
            <a:avLst/>
          </a:prstGeom>
        </p:spPr>
      </p:pic>
      <p:pic>
        <p:nvPicPr>
          <p:cNvPr id="9" name="Picture 8" descr="Sairam innovation 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9603" y="266700"/>
            <a:ext cx="2132350" cy="838200"/>
          </a:xfrm>
          <a:prstGeom prst="rect">
            <a:avLst/>
          </a:prstGeom>
        </p:spPr>
      </p:pic>
      <p:pic>
        <p:nvPicPr>
          <p:cNvPr id="10" name="Picture 9" descr="Chairman sir 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8800" y="9182102"/>
            <a:ext cx="876300" cy="8867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124203" y="2"/>
            <a:ext cx="11351678" cy="1254189"/>
          </a:xfrm>
          <a:prstGeom prst="rect">
            <a:avLst/>
          </a:prstGeom>
          <a:noFill/>
        </p:spPr>
        <p:txBody>
          <a:bodyPr wrap="square" lIns="137160" tIns="68580" rIns="137160" bIns="68580" rtlCol="0" anchor="t">
            <a:spAutoFit/>
          </a:bodyPr>
          <a:lstStyle/>
          <a:p>
            <a:pPr algn="ctr">
              <a:lnSpc>
                <a:spcPts val="8746"/>
              </a:lnSpc>
              <a:spcBef>
                <a:spcPct val="0"/>
              </a:spcBef>
            </a:pPr>
            <a:r>
              <a:rPr lang="en-US" sz="5400" b="1" dirty="0"/>
              <a:t>Solution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524000" y="2552702"/>
            <a:ext cx="8305799" cy="525779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137160" tIns="68580" rIns="137160" bIns="6858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7160">
              <a:lnSpc>
                <a:spcPts val="2375"/>
              </a:lnSpc>
            </a:pPr>
            <a:r>
              <a:rPr lang="en-US" sz="2400" b="1" dirty="0">
                <a:latin typeface="Carlito"/>
              </a:rPr>
              <a:t>Describe</a:t>
            </a:r>
            <a:r>
              <a:rPr lang="en-US" sz="2400" b="1" spc="-70" dirty="0">
                <a:latin typeface="Carlito"/>
              </a:rPr>
              <a:t> </a:t>
            </a:r>
            <a:r>
              <a:rPr lang="en-US" sz="2400" b="1" dirty="0">
                <a:latin typeface="Carlito"/>
              </a:rPr>
              <a:t>your</a:t>
            </a:r>
            <a:r>
              <a:rPr lang="en-US" sz="2400" b="1" spc="-75" dirty="0">
                <a:latin typeface="Carlito"/>
              </a:rPr>
              <a:t> </a:t>
            </a:r>
            <a:r>
              <a:rPr lang="en-US" sz="2400" b="1" spc="-10" dirty="0">
                <a:latin typeface="Carlito"/>
              </a:rPr>
              <a:t>Solution:</a:t>
            </a:r>
          </a:p>
          <a:p>
            <a:pPr marL="137160" marR="247650">
              <a:lnSpc>
                <a:spcPct val="70000"/>
              </a:lnSpc>
              <a:spcBef>
                <a:spcPts val="994"/>
              </a:spcBef>
            </a:pPr>
            <a:r>
              <a:rPr lang="en-US" sz="2200" dirty="0">
                <a:latin typeface="Carlito"/>
              </a:rPr>
              <a:t>We</a:t>
            </a:r>
            <a:r>
              <a:rPr lang="en-US" sz="2200" spc="-60" dirty="0">
                <a:latin typeface="Carlito"/>
              </a:rPr>
              <a:t> </a:t>
            </a:r>
            <a:r>
              <a:rPr lang="en-US" sz="2200" dirty="0">
                <a:latin typeface="Carlito"/>
              </a:rPr>
              <a:t>offer:</a:t>
            </a:r>
            <a:r>
              <a:rPr lang="en-US" sz="2200" spc="-60" dirty="0">
                <a:latin typeface="Carlito"/>
              </a:rPr>
              <a:t> </a:t>
            </a:r>
            <a:r>
              <a:rPr lang="en-US" sz="2200" spc="-20" dirty="0">
                <a:latin typeface="Carlito"/>
              </a:rPr>
              <a:t>FARS,</a:t>
            </a:r>
            <a:r>
              <a:rPr lang="en-US" sz="2200" spc="-60" dirty="0">
                <a:latin typeface="Carlito"/>
              </a:rPr>
              <a:t> </a:t>
            </a:r>
            <a:r>
              <a:rPr lang="en-US" sz="2200" dirty="0">
                <a:latin typeface="Carlito"/>
              </a:rPr>
              <a:t>a</a:t>
            </a:r>
            <a:r>
              <a:rPr lang="en-US" sz="2200" spc="-75" dirty="0">
                <a:latin typeface="Carlito"/>
              </a:rPr>
              <a:t> </a:t>
            </a:r>
            <a:r>
              <a:rPr lang="en-US" sz="2200" dirty="0">
                <a:latin typeface="Carlito"/>
              </a:rPr>
              <a:t>fully</a:t>
            </a:r>
            <a:r>
              <a:rPr lang="en-US" sz="2200" spc="-80" dirty="0">
                <a:latin typeface="Carlito"/>
              </a:rPr>
              <a:t> </a:t>
            </a:r>
            <a:r>
              <a:rPr lang="en-US" sz="2200" spc="-10" dirty="0">
                <a:latin typeface="Carlito"/>
              </a:rPr>
              <a:t>automated</a:t>
            </a:r>
            <a:r>
              <a:rPr lang="en-US" sz="2200" spc="-55" dirty="0">
                <a:latin typeface="Carlito"/>
              </a:rPr>
              <a:t> </a:t>
            </a:r>
            <a:r>
              <a:rPr lang="en-US" sz="2200" dirty="0">
                <a:latin typeface="Carlito"/>
              </a:rPr>
              <a:t>robotic</a:t>
            </a:r>
            <a:r>
              <a:rPr lang="en-US" sz="2200" spc="-80" dirty="0">
                <a:latin typeface="Carlito"/>
              </a:rPr>
              <a:t> </a:t>
            </a:r>
            <a:r>
              <a:rPr lang="en-US" sz="2200" spc="-10" dirty="0">
                <a:latin typeface="Carlito"/>
              </a:rPr>
              <a:t>system</a:t>
            </a:r>
            <a:r>
              <a:rPr lang="en-US" sz="2200" spc="-65" dirty="0">
                <a:latin typeface="Carlito"/>
              </a:rPr>
              <a:t> </a:t>
            </a:r>
            <a:r>
              <a:rPr lang="en-US" sz="2200" spc="-20" dirty="0">
                <a:latin typeface="Carlito"/>
              </a:rPr>
              <a:t>that </a:t>
            </a:r>
            <a:r>
              <a:rPr lang="en-US" sz="2200" dirty="0">
                <a:latin typeface="Carlito"/>
              </a:rPr>
              <a:t>enhances</a:t>
            </a:r>
            <a:r>
              <a:rPr lang="en-US" sz="2200" spc="-30" dirty="0">
                <a:latin typeface="Carlito"/>
              </a:rPr>
              <a:t> </a:t>
            </a:r>
            <a:r>
              <a:rPr lang="en-US" sz="2200" dirty="0">
                <a:latin typeface="Carlito"/>
              </a:rPr>
              <a:t>efficiency</a:t>
            </a:r>
            <a:r>
              <a:rPr lang="en-US" sz="2200" spc="-5" dirty="0">
                <a:latin typeface="Carlito"/>
              </a:rPr>
              <a:t> </a:t>
            </a:r>
            <a:r>
              <a:rPr lang="en-US" sz="2200" dirty="0">
                <a:latin typeface="Carlito"/>
              </a:rPr>
              <a:t>in</a:t>
            </a:r>
            <a:r>
              <a:rPr lang="en-US" sz="2200" spc="-35" dirty="0">
                <a:latin typeface="Carlito"/>
              </a:rPr>
              <a:t> </a:t>
            </a:r>
            <a:r>
              <a:rPr lang="en-US" sz="2200" dirty="0">
                <a:latin typeface="Carlito"/>
              </a:rPr>
              <a:t>public</a:t>
            </a:r>
            <a:r>
              <a:rPr lang="en-US" sz="2200" spc="-55" dirty="0">
                <a:latin typeface="Carlito"/>
              </a:rPr>
              <a:t> </a:t>
            </a:r>
            <a:r>
              <a:rPr lang="en-US" sz="2200" dirty="0">
                <a:latin typeface="Carlito"/>
              </a:rPr>
              <a:t>spaces</a:t>
            </a:r>
            <a:r>
              <a:rPr lang="en-US" sz="2200" spc="-35" dirty="0">
                <a:latin typeface="Carlito"/>
              </a:rPr>
              <a:t> </a:t>
            </a:r>
            <a:r>
              <a:rPr lang="en-US" sz="2200" dirty="0">
                <a:latin typeface="Carlito"/>
              </a:rPr>
              <a:t>by</a:t>
            </a:r>
            <a:r>
              <a:rPr lang="en-US" sz="2200" spc="-35" dirty="0">
                <a:latin typeface="Carlito"/>
              </a:rPr>
              <a:t> </a:t>
            </a:r>
            <a:r>
              <a:rPr lang="en-US" sz="2200" dirty="0">
                <a:latin typeface="Carlito"/>
              </a:rPr>
              <a:t>providing</a:t>
            </a:r>
            <a:r>
              <a:rPr lang="en-US" sz="2200" spc="-55" dirty="0">
                <a:latin typeface="Carlito"/>
              </a:rPr>
              <a:t> </a:t>
            </a:r>
            <a:r>
              <a:rPr lang="en-US" sz="2200" spc="-20" dirty="0">
                <a:latin typeface="Carlito"/>
              </a:rPr>
              <a:t>real-time </a:t>
            </a:r>
            <a:r>
              <a:rPr lang="en-US" sz="2200" spc="-10" dirty="0">
                <a:latin typeface="Carlito"/>
              </a:rPr>
              <a:t>assistance,</a:t>
            </a:r>
            <a:r>
              <a:rPr lang="en-US" sz="2200" spc="-60" dirty="0">
                <a:latin typeface="Carlito"/>
              </a:rPr>
              <a:t> </a:t>
            </a:r>
            <a:r>
              <a:rPr lang="en-US" sz="2200" dirty="0">
                <a:latin typeface="Carlito"/>
              </a:rPr>
              <a:t>face</a:t>
            </a:r>
            <a:r>
              <a:rPr lang="en-US" sz="2200" spc="-55" dirty="0">
                <a:latin typeface="Carlito"/>
              </a:rPr>
              <a:t> </a:t>
            </a:r>
            <a:r>
              <a:rPr lang="en-US" sz="2200" spc="-10" dirty="0">
                <a:latin typeface="Carlito"/>
              </a:rPr>
              <a:t>recognition-</a:t>
            </a:r>
            <a:r>
              <a:rPr lang="en-US" sz="2200" dirty="0">
                <a:latin typeface="Carlito"/>
              </a:rPr>
              <a:t>based</a:t>
            </a:r>
            <a:r>
              <a:rPr lang="en-US" sz="2200" spc="-60" dirty="0">
                <a:latin typeface="Carlito"/>
              </a:rPr>
              <a:t> </a:t>
            </a:r>
            <a:r>
              <a:rPr lang="en-US" sz="2200" dirty="0">
                <a:latin typeface="Carlito"/>
              </a:rPr>
              <a:t>attendance</a:t>
            </a:r>
            <a:r>
              <a:rPr lang="en-US" sz="2200" spc="-40" dirty="0">
                <a:latin typeface="Carlito"/>
              </a:rPr>
              <a:t> </a:t>
            </a:r>
            <a:r>
              <a:rPr lang="en-US" sz="2200" dirty="0">
                <a:latin typeface="Carlito"/>
              </a:rPr>
              <a:t>logging,</a:t>
            </a:r>
            <a:r>
              <a:rPr lang="en-US" sz="2200" spc="-50" dirty="0">
                <a:latin typeface="Carlito"/>
              </a:rPr>
              <a:t> </a:t>
            </a:r>
            <a:r>
              <a:rPr lang="en-US" sz="2200" spc="-25" dirty="0">
                <a:latin typeface="Carlito"/>
              </a:rPr>
              <a:t>and </a:t>
            </a:r>
            <a:r>
              <a:rPr lang="en-US" sz="2200" dirty="0">
                <a:latin typeface="Carlito"/>
              </a:rPr>
              <a:t>navigation</a:t>
            </a:r>
            <a:r>
              <a:rPr lang="en-US" sz="2200" spc="-125" dirty="0">
                <a:latin typeface="Carlito"/>
              </a:rPr>
              <a:t> </a:t>
            </a:r>
            <a:r>
              <a:rPr lang="en-US" sz="2200" spc="-10" dirty="0">
                <a:latin typeface="Carlito"/>
              </a:rPr>
              <a:t>support.</a:t>
            </a:r>
          </a:p>
          <a:p>
            <a:pPr marL="137160">
              <a:lnSpc>
                <a:spcPct val="100000"/>
              </a:lnSpc>
              <a:spcBef>
                <a:spcPts val="204"/>
              </a:spcBef>
            </a:pPr>
            <a:r>
              <a:rPr lang="en-US" sz="2400" dirty="0">
                <a:latin typeface="Carlito"/>
              </a:rPr>
              <a:t>The</a:t>
            </a:r>
            <a:r>
              <a:rPr lang="en-US" sz="2400" spc="-45" dirty="0">
                <a:latin typeface="Carlito"/>
              </a:rPr>
              <a:t> </a:t>
            </a:r>
            <a:r>
              <a:rPr lang="en-US" sz="2400" dirty="0">
                <a:latin typeface="Carlito"/>
              </a:rPr>
              <a:t>details</a:t>
            </a:r>
            <a:r>
              <a:rPr lang="en-US" sz="2400" spc="-55" dirty="0">
                <a:latin typeface="Carlito"/>
              </a:rPr>
              <a:t> </a:t>
            </a:r>
            <a:r>
              <a:rPr lang="en-US" sz="2400" dirty="0">
                <a:latin typeface="Carlito"/>
              </a:rPr>
              <a:t>of</a:t>
            </a:r>
            <a:r>
              <a:rPr lang="en-US" sz="2400" spc="-50" dirty="0">
                <a:latin typeface="Carlito"/>
              </a:rPr>
              <a:t> </a:t>
            </a:r>
            <a:r>
              <a:rPr lang="en-US" sz="2400" dirty="0">
                <a:latin typeface="Carlito"/>
              </a:rPr>
              <a:t>our</a:t>
            </a:r>
            <a:r>
              <a:rPr lang="en-US" sz="2400" spc="-60" dirty="0">
                <a:latin typeface="Carlito"/>
              </a:rPr>
              <a:t> </a:t>
            </a:r>
            <a:r>
              <a:rPr lang="en-US" sz="2400" spc="-10" dirty="0">
                <a:latin typeface="Carlito"/>
              </a:rPr>
              <a:t>offering</a:t>
            </a:r>
            <a:r>
              <a:rPr lang="en-US" sz="2400" spc="-60" dirty="0">
                <a:latin typeface="Carlito"/>
              </a:rPr>
              <a:t> </a:t>
            </a:r>
            <a:r>
              <a:rPr lang="en-US" sz="2400" dirty="0">
                <a:latin typeface="Carlito"/>
              </a:rPr>
              <a:t>consist</a:t>
            </a:r>
            <a:r>
              <a:rPr lang="en-US" sz="2400" spc="-60" dirty="0">
                <a:latin typeface="Carlito"/>
              </a:rPr>
              <a:t> </a:t>
            </a:r>
            <a:r>
              <a:rPr lang="en-US" sz="2400" spc="-25" dirty="0">
                <a:latin typeface="Carlito"/>
              </a:rPr>
              <a:t>of:</a:t>
            </a:r>
          </a:p>
          <a:p>
            <a:pPr marL="652145" marR="564515" indent="-515620">
              <a:lnSpc>
                <a:spcPct val="70000"/>
              </a:lnSpc>
              <a:spcBef>
                <a:spcPts val="1009"/>
              </a:spcBef>
              <a:buAutoNum type="arabicPeriod"/>
            </a:pPr>
            <a:r>
              <a:rPr lang="en-US" sz="2400" spc="-10" dirty="0">
                <a:latin typeface="Carlito"/>
              </a:rPr>
              <a:t>Automated</a:t>
            </a:r>
            <a:r>
              <a:rPr lang="en-US" sz="2400" spc="-45" dirty="0">
                <a:latin typeface="Carlito"/>
              </a:rPr>
              <a:t> </a:t>
            </a:r>
            <a:r>
              <a:rPr lang="en-US" sz="2400" spc="-10" dirty="0">
                <a:latin typeface="Carlito"/>
              </a:rPr>
              <a:t>Navigation:</a:t>
            </a:r>
            <a:r>
              <a:rPr lang="en-US" sz="2400" spc="-80" dirty="0">
                <a:latin typeface="Carlito"/>
              </a:rPr>
              <a:t> </a:t>
            </a:r>
            <a:r>
              <a:rPr lang="en-US" sz="2400" dirty="0">
                <a:latin typeface="Carlito"/>
              </a:rPr>
              <a:t>Guides</a:t>
            </a:r>
            <a:r>
              <a:rPr lang="en-US" sz="2400" spc="-45" dirty="0">
                <a:latin typeface="Carlito"/>
              </a:rPr>
              <a:t> </a:t>
            </a:r>
            <a:r>
              <a:rPr lang="en-US" sz="2400" dirty="0">
                <a:latin typeface="Carlito"/>
              </a:rPr>
              <a:t>users</a:t>
            </a:r>
            <a:r>
              <a:rPr lang="en-US" sz="2400" spc="-65" dirty="0">
                <a:latin typeface="Carlito"/>
              </a:rPr>
              <a:t> </a:t>
            </a:r>
            <a:r>
              <a:rPr lang="en-US" sz="2400" dirty="0">
                <a:latin typeface="Carlito"/>
              </a:rPr>
              <a:t>through</a:t>
            </a:r>
            <a:r>
              <a:rPr lang="en-US" sz="2400" spc="-75" dirty="0">
                <a:latin typeface="Carlito"/>
              </a:rPr>
              <a:t> </a:t>
            </a:r>
            <a:r>
              <a:rPr lang="en-US" sz="2400" spc="-10" dirty="0">
                <a:latin typeface="Carlito"/>
              </a:rPr>
              <a:t>large </a:t>
            </a:r>
            <a:r>
              <a:rPr lang="en-US" sz="2400" dirty="0">
                <a:latin typeface="Carlito"/>
              </a:rPr>
              <a:t>public</a:t>
            </a:r>
            <a:r>
              <a:rPr lang="en-US" sz="2400" spc="-50" dirty="0">
                <a:latin typeface="Carlito"/>
              </a:rPr>
              <a:t> </a:t>
            </a:r>
            <a:r>
              <a:rPr lang="en-US" sz="2400" dirty="0">
                <a:latin typeface="Carlito"/>
              </a:rPr>
              <a:t>spaces,</a:t>
            </a:r>
            <a:r>
              <a:rPr lang="en-US" sz="2400" spc="-35" dirty="0">
                <a:latin typeface="Carlito"/>
              </a:rPr>
              <a:t> </a:t>
            </a:r>
            <a:r>
              <a:rPr lang="en-US" sz="2400" dirty="0">
                <a:latin typeface="Carlito"/>
              </a:rPr>
              <a:t>ensuring</a:t>
            </a:r>
            <a:r>
              <a:rPr lang="en-US" sz="2400" spc="-40" dirty="0">
                <a:latin typeface="Carlito"/>
              </a:rPr>
              <a:t> </a:t>
            </a:r>
            <a:r>
              <a:rPr lang="en-US" sz="2400" dirty="0">
                <a:latin typeface="Carlito"/>
              </a:rPr>
              <a:t>they</a:t>
            </a:r>
            <a:r>
              <a:rPr lang="en-US" sz="2400" spc="-20" dirty="0">
                <a:latin typeface="Carlito"/>
              </a:rPr>
              <a:t> </a:t>
            </a:r>
            <a:r>
              <a:rPr lang="en-US" sz="2400" dirty="0">
                <a:latin typeface="Carlito"/>
              </a:rPr>
              <a:t>reach</a:t>
            </a:r>
            <a:r>
              <a:rPr lang="en-US" sz="2400" spc="-45" dirty="0">
                <a:latin typeface="Carlito"/>
              </a:rPr>
              <a:t> </a:t>
            </a:r>
            <a:r>
              <a:rPr lang="en-US" sz="2400" dirty="0">
                <a:latin typeface="Carlito"/>
              </a:rPr>
              <a:t>their</a:t>
            </a:r>
            <a:r>
              <a:rPr lang="en-US" sz="2400" spc="-30" dirty="0">
                <a:latin typeface="Carlito"/>
              </a:rPr>
              <a:t> </a:t>
            </a:r>
            <a:r>
              <a:rPr lang="en-US" sz="2400" spc="-10" dirty="0">
                <a:latin typeface="Carlito"/>
              </a:rPr>
              <a:t>destination efficiently.	</a:t>
            </a:r>
            <a:br>
              <a:rPr lang="en-US" sz="2400" spc="-10" dirty="0">
                <a:latin typeface="Carlito"/>
              </a:rPr>
            </a:br>
            <a:endParaRPr lang="en-US" sz="2400" spc="-10" dirty="0">
              <a:latin typeface="Carlito"/>
            </a:endParaRPr>
          </a:p>
          <a:p>
            <a:pPr marL="652145" marR="504825" indent="-515620">
              <a:lnSpc>
                <a:spcPct val="70000"/>
              </a:lnSpc>
              <a:spcBef>
                <a:spcPts val="994"/>
              </a:spcBef>
              <a:buAutoNum type="arabicPeriod"/>
            </a:pPr>
            <a:r>
              <a:rPr lang="en-US" sz="2400" spc="-10" dirty="0">
                <a:latin typeface="Carlito"/>
              </a:rPr>
              <a:t>Attendance</a:t>
            </a:r>
            <a:r>
              <a:rPr lang="en-US" sz="2400" spc="-50" dirty="0">
                <a:latin typeface="Carlito"/>
              </a:rPr>
              <a:t> </a:t>
            </a:r>
            <a:r>
              <a:rPr lang="en-US" sz="2400" dirty="0">
                <a:latin typeface="Carlito"/>
              </a:rPr>
              <a:t>Logging:</a:t>
            </a:r>
            <a:r>
              <a:rPr lang="en-US" sz="2400" spc="-65" dirty="0">
                <a:latin typeface="Carlito"/>
              </a:rPr>
              <a:t> </a:t>
            </a:r>
            <a:r>
              <a:rPr lang="en-US" sz="2400" dirty="0">
                <a:latin typeface="Carlito"/>
              </a:rPr>
              <a:t>Uses</a:t>
            </a:r>
            <a:r>
              <a:rPr lang="en-US" sz="2400" spc="-55" dirty="0">
                <a:latin typeface="Carlito"/>
              </a:rPr>
              <a:t> </a:t>
            </a:r>
            <a:r>
              <a:rPr lang="en-US" sz="2400" dirty="0">
                <a:latin typeface="Carlito"/>
              </a:rPr>
              <a:t>face</a:t>
            </a:r>
            <a:r>
              <a:rPr lang="en-US" sz="2400" spc="-55" dirty="0">
                <a:latin typeface="Carlito"/>
              </a:rPr>
              <a:t> </a:t>
            </a:r>
            <a:r>
              <a:rPr lang="en-US" sz="2400" dirty="0">
                <a:latin typeface="Carlito"/>
              </a:rPr>
              <a:t>recognition</a:t>
            </a:r>
            <a:r>
              <a:rPr lang="en-US" sz="2400" spc="-70" dirty="0">
                <a:latin typeface="Carlito"/>
              </a:rPr>
              <a:t> </a:t>
            </a:r>
            <a:r>
              <a:rPr lang="en-US" sz="2400" spc="-25" dirty="0">
                <a:latin typeface="Carlito"/>
              </a:rPr>
              <a:t>to </a:t>
            </a:r>
            <a:r>
              <a:rPr lang="en-US" sz="2400" dirty="0">
                <a:latin typeface="Carlito"/>
              </a:rPr>
              <a:t>automatically</a:t>
            </a:r>
            <a:r>
              <a:rPr lang="en-US" sz="2400" spc="-60" dirty="0">
                <a:latin typeface="Carlito"/>
              </a:rPr>
              <a:t> </a:t>
            </a:r>
            <a:r>
              <a:rPr lang="en-US" sz="2400" dirty="0">
                <a:latin typeface="Carlito"/>
              </a:rPr>
              <a:t>log</a:t>
            </a:r>
            <a:r>
              <a:rPr lang="en-US" sz="2400" spc="-65" dirty="0">
                <a:latin typeface="Carlito"/>
              </a:rPr>
              <a:t> </a:t>
            </a:r>
            <a:r>
              <a:rPr lang="en-US" sz="2400" dirty="0">
                <a:latin typeface="Carlito"/>
              </a:rPr>
              <a:t>attendance</a:t>
            </a:r>
            <a:r>
              <a:rPr lang="en-US" sz="2400" spc="-55" dirty="0">
                <a:latin typeface="Carlito"/>
              </a:rPr>
              <a:t> </a:t>
            </a:r>
            <a:r>
              <a:rPr lang="en-US" sz="2400" dirty="0">
                <a:latin typeface="Carlito"/>
              </a:rPr>
              <a:t>in</a:t>
            </a:r>
            <a:r>
              <a:rPr lang="en-US" sz="2400" spc="-65" dirty="0">
                <a:latin typeface="Carlito"/>
              </a:rPr>
              <a:t> </a:t>
            </a:r>
            <a:r>
              <a:rPr lang="en-US" sz="2400" dirty="0">
                <a:latin typeface="Carlito"/>
              </a:rPr>
              <a:t>schools,</a:t>
            </a:r>
            <a:r>
              <a:rPr lang="en-US" sz="2400" spc="-65" dirty="0">
                <a:latin typeface="Carlito"/>
              </a:rPr>
              <a:t> </a:t>
            </a:r>
            <a:r>
              <a:rPr lang="en-US" sz="2400" spc="-10" dirty="0">
                <a:latin typeface="Carlito"/>
              </a:rPr>
              <a:t>businesses, </a:t>
            </a:r>
            <a:r>
              <a:rPr lang="en-US" sz="2400" dirty="0">
                <a:latin typeface="Carlito"/>
              </a:rPr>
              <a:t>and</a:t>
            </a:r>
            <a:r>
              <a:rPr lang="en-US" sz="2400" spc="-15" dirty="0">
                <a:latin typeface="Carlito"/>
              </a:rPr>
              <a:t> </a:t>
            </a:r>
            <a:r>
              <a:rPr lang="en-US" sz="2400" spc="-10" dirty="0">
                <a:latin typeface="Carlito"/>
              </a:rPr>
              <a:t>hospitals.</a:t>
            </a:r>
            <a:br>
              <a:rPr lang="en-US" sz="2400" spc="-10" dirty="0">
                <a:latin typeface="Carlito"/>
              </a:rPr>
            </a:br>
            <a:endParaRPr lang="en-US" sz="2400" spc="-10" dirty="0">
              <a:latin typeface="Carlito"/>
            </a:endParaRPr>
          </a:p>
          <a:p>
            <a:pPr marL="652145" marR="939164" indent="-515620" algn="just">
              <a:lnSpc>
                <a:spcPct val="70000"/>
              </a:lnSpc>
              <a:spcBef>
                <a:spcPts val="995"/>
              </a:spcBef>
              <a:buAutoNum type="arabicPeriod"/>
            </a:pPr>
            <a:r>
              <a:rPr lang="en-US" sz="2400" dirty="0">
                <a:latin typeface="Carlito"/>
              </a:rPr>
              <a:t>Assistance</a:t>
            </a:r>
            <a:r>
              <a:rPr lang="en-US" sz="2400" spc="-50" dirty="0">
                <a:latin typeface="Carlito"/>
              </a:rPr>
              <a:t> </a:t>
            </a:r>
            <a:r>
              <a:rPr lang="en-US" sz="2400" dirty="0">
                <a:latin typeface="Carlito"/>
              </a:rPr>
              <a:t>for</a:t>
            </a:r>
            <a:r>
              <a:rPr lang="en-US" sz="2400" spc="-25" dirty="0">
                <a:latin typeface="Carlito"/>
              </a:rPr>
              <a:t> </a:t>
            </a:r>
            <a:r>
              <a:rPr lang="en-US" sz="2400" dirty="0">
                <a:latin typeface="Carlito"/>
              </a:rPr>
              <a:t>the</a:t>
            </a:r>
            <a:r>
              <a:rPr lang="en-US" sz="2400" spc="-30" dirty="0">
                <a:latin typeface="Carlito"/>
              </a:rPr>
              <a:t> </a:t>
            </a:r>
            <a:r>
              <a:rPr lang="en-US" sz="2400" dirty="0">
                <a:latin typeface="Carlito"/>
              </a:rPr>
              <a:t>Elderly</a:t>
            </a:r>
            <a:r>
              <a:rPr lang="en-US" sz="2400" spc="-35" dirty="0">
                <a:latin typeface="Carlito"/>
              </a:rPr>
              <a:t> </a:t>
            </a:r>
            <a:r>
              <a:rPr lang="en-US" sz="2400" dirty="0">
                <a:latin typeface="Carlito"/>
              </a:rPr>
              <a:t>and</a:t>
            </a:r>
            <a:r>
              <a:rPr lang="en-US" sz="2400" spc="-60" dirty="0">
                <a:latin typeface="Carlito"/>
              </a:rPr>
              <a:t> </a:t>
            </a:r>
            <a:r>
              <a:rPr lang="en-US" sz="2400" spc="-25" dirty="0">
                <a:latin typeface="Carlito"/>
              </a:rPr>
              <a:t>Differently-</a:t>
            </a:r>
            <a:r>
              <a:rPr lang="en-US" sz="2400" spc="-10" dirty="0">
                <a:latin typeface="Carlito"/>
              </a:rPr>
              <a:t>Abled: Provides</a:t>
            </a:r>
            <a:r>
              <a:rPr lang="en-US" sz="2400" spc="-35" dirty="0">
                <a:latin typeface="Carlito"/>
              </a:rPr>
              <a:t> </a:t>
            </a:r>
            <a:r>
              <a:rPr lang="en-US" sz="2400" dirty="0">
                <a:latin typeface="Carlito"/>
              </a:rPr>
              <a:t>special</a:t>
            </a:r>
            <a:r>
              <a:rPr lang="en-US" sz="2400" spc="-10" dirty="0">
                <a:latin typeface="Carlito"/>
              </a:rPr>
              <a:t> </a:t>
            </a:r>
            <a:r>
              <a:rPr lang="en-US" sz="2400" dirty="0">
                <a:latin typeface="Carlito"/>
              </a:rPr>
              <a:t>support</a:t>
            </a:r>
            <a:r>
              <a:rPr lang="en-US" sz="2400" spc="-15" dirty="0">
                <a:latin typeface="Carlito"/>
              </a:rPr>
              <a:t> </a:t>
            </a:r>
            <a:r>
              <a:rPr lang="en-US" sz="2400" dirty="0">
                <a:latin typeface="Carlito"/>
              </a:rPr>
              <a:t>and</a:t>
            </a:r>
            <a:r>
              <a:rPr lang="en-US" sz="2400" spc="-15" dirty="0">
                <a:latin typeface="Carlito"/>
              </a:rPr>
              <a:t> </a:t>
            </a:r>
            <a:r>
              <a:rPr lang="en-US" sz="2400" dirty="0">
                <a:latin typeface="Carlito"/>
              </a:rPr>
              <a:t>guidance,</a:t>
            </a:r>
            <a:r>
              <a:rPr lang="en-US" sz="2400" spc="-10" dirty="0">
                <a:latin typeface="Carlito"/>
              </a:rPr>
              <a:t> ensuring </a:t>
            </a:r>
            <a:r>
              <a:rPr lang="en-US" sz="2400" dirty="0">
                <a:latin typeface="Carlito"/>
              </a:rPr>
              <a:t>accessibility</a:t>
            </a:r>
            <a:r>
              <a:rPr lang="en-US" sz="2400" spc="-35" dirty="0">
                <a:latin typeface="Carlito"/>
              </a:rPr>
              <a:t> </a:t>
            </a:r>
            <a:r>
              <a:rPr lang="en-US" sz="2400" dirty="0">
                <a:latin typeface="Carlito"/>
              </a:rPr>
              <a:t>and</a:t>
            </a:r>
            <a:r>
              <a:rPr lang="en-US" sz="2400" spc="-35" dirty="0">
                <a:latin typeface="Carlito"/>
              </a:rPr>
              <a:t> </a:t>
            </a:r>
            <a:r>
              <a:rPr lang="en-US" sz="2400" dirty="0">
                <a:latin typeface="Carlito"/>
              </a:rPr>
              <a:t>ease</a:t>
            </a:r>
            <a:r>
              <a:rPr lang="en-US" sz="2400" spc="-35" dirty="0">
                <a:latin typeface="Carlito"/>
              </a:rPr>
              <a:t> </a:t>
            </a:r>
            <a:r>
              <a:rPr lang="en-US" sz="2400" dirty="0">
                <a:latin typeface="Carlito"/>
              </a:rPr>
              <a:t>of</a:t>
            </a:r>
            <a:r>
              <a:rPr lang="en-US" sz="2400" spc="-25" dirty="0">
                <a:latin typeface="Carlito"/>
              </a:rPr>
              <a:t> </a:t>
            </a:r>
            <a:r>
              <a:rPr lang="en-US" sz="2400" spc="-10" dirty="0">
                <a:latin typeface="Carlito"/>
              </a:rPr>
              <a:t>movement.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63200" y="2814658"/>
            <a:ext cx="5867400" cy="465768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lIns="91439" tIns="45719" rIns="91439" bIns="45719">
            <a:spAutoFit/>
          </a:bodyPr>
          <a:lstStyle/>
          <a:p>
            <a:pPr marL="92075">
              <a:lnSpc>
                <a:spcPct val="100000"/>
              </a:lnSpc>
              <a:spcBef>
                <a:spcPts val="180"/>
              </a:spcBef>
            </a:pPr>
            <a:r>
              <a:rPr lang="en-US" sz="2400" b="1" dirty="0">
                <a:latin typeface="Carlito"/>
              </a:rPr>
              <a:t>List</a:t>
            </a:r>
            <a:r>
              <a:rPr lang="en-US" sz="2400" b="1" spc="-65" dirty="0">
                <a:latin typeface="Carlito"/>
              </a:rPr>
              <a:t> </a:t>
            </a:r>
            <a:r>
              <a:rPr lang="en-US" sz="2400" b="1" dirty="0">
                <a:latin typeface="Carlito"/>
              </a:rPr>
              <a:t>the</a:t>
            </a:r>
            <a:r>
              <a:rPr lang="en-US" sz="2400" b="1" spc="-70" dirty="0">
                <a:latin typeface="Carlito"/>
              </a:rPr>
              <a:t> </a:t>
            </a:r>
            <a:r>
              <a:rPr lang="en-US" sz="2400" b="1" dirty="0">
                <a:latin typeface="Carlito"/>
              </a:rPr>
              <a:t>Benefits</a:t>
            </a:r>
            <a:r>
              <a:rPr lang="en-US" sz="2400" b="1" spc="-50" dirty="0">
                <a:latin typeface="Carlito"/>
              </a:rPr>
              <a:t> </a:t>
            </a:r>
            <a:r>
              <a:rPr lang="en-US" sz="2400" b="1" dirty="0">
                <a:latin typeface="Carlito"/>
              </a:rPr>
              <a:t>of</a:t>
            </a:r>
            <a:r>
              <a:rPr lang="en-US" sz="2400" b="1" spc="-80" dirty="0">
                <a:latin typeface="Carlito"/>
              </a:rPr>
              <a:t> </a:t>
            </a:r>
            <a:r>
              <a:rPr lang="en-US" sz="2400" b="1" spc="-45" dirty="0">
                <a:latin typeface="Carlito"/>
              </a:rPr>
              <a:t>Your</a:t>
            </a:r>
            <a:r>
              <a:rPr lang="en-US" sz="2400" b="1" spc="-65" dirty="0">
                <a:latin typeface="Carlito"/>
              </a:rPr>
              <a:t> </a:t>
            </a:r>
            <a:r>
              <a:rPr lang="en-US" sz="2400" b="1" spc="-10" dirty="0">
                <a:latin typeface="Carlito"/>
              </a:rPr>
              <a:t>solutions</a:t>
            </a:r>
          </a:p>
          <a:p>
            <a:pPr marL="92075" marR="1104900" indent="355600">
              <a:lnSpc>
                <a:spcPct val="100000"/>
              </a:lnSpc>
              <a:buAutoNum type="arabicPeriod"/>
            </a:pPr>
            <a:r>
              <a:rPr lang="en-US" sz="2400" b="1" spc="-10" dirty="0">
                <a:latin typeface="Carlito"/>
              </a:rPr>
              <a:t>Improved</a:t>
            </a:r>
            <a:r>
              <a:rPr lang="en-US" sz="2400" b="1" spc="-75" dirty="0">
                <a:latin typeface="Carlito"/>
              </a:rPr>
              <a:t> </a:t>
            </a:r>
            <a:r>
              <a:rPr lang="en-US" sz="2400" b="1" spc="-10" dirty="0">
                <a:latin typeface="Carlito"/>
              </a:rPr>
              <a:t>Efficiency:</a:t>
            </a:r>
            <a:r>
              <a:rPr lang="en-US" sz="2400" b="1" spc="-80" dirty="0">
                <a:latin typeface="Carlito"/>
              </a:rPr>
              <a:t> </a:t>
            </a:r>
            <a:r>
              <a:rPr lang="en-US" sz="2400" b="1" spc="-10" dirty="0">
                <a:latin typeface="Carlito"/>
              </a:rPr>
              <a:t>Reduces </a:t>
            </a:r>
            <a:r>
              <a:rPr lang="en-US" sz="2400" b="1" dirty="0">
                <a:latin typeface="Carlito"/>
              </a:rPr>
              <a:t>human</a:t>
            </a:r>
            <a:r>
              <a:rPr lang="en-US" sz="2400" b="1" spc="-90" dirty="0">
                <a:latin typeface="Carlito"/>
              </a:rPr>
              <a:t> </a:t>
            </a:r>
            <a:r>
              <a:rPr lang="en-US" sz="2400" b="1" dirty="0">
                <a:latin typeface="Carlito"/>
              </a:rPr>
              <a:t>error</a:t>
            </a:r>
            <a:r>
              <a:rPr lang="en-US" sz="2400" b="1" spc="-65" dirty="0">
                <a:latin typeface="Carlito"/>
              </a:rPr>
              <a:t> </a:t>
            </a:r>
            <a:r>
              <a:rPr lang="en-US" sz="2400" b="1" dirty="0">
                <a:latin typeface="Carlito"/>
              </a:rPr>
              <a:t>and</a:t>
            </a:r>
            <a:r>
              <a:rPr lang="en-US" sz="2400" b="1" spc="-80" dirty="0">
                <a:latin typeface="Carlito"/>
              </a:rPr>
              <a:t> </a:t>
            </a:r>
            <a:r>
              <a:rPr lang="en-US" sz="2400" b="1" dirty="0">
                <a:latin typeface="Carlito"/>
              </a:rPr>
              <a:t>saves</a:t>
            </a:r>
            <a:r>
              <a:rPr lang="en-US" sz="2400" b="1" spc="-80" dirty="0">
                <a:latin typeface="Carlito"/>
              </a:rPr>
              <a:t> </a:t>
            </a:r>
            <a:r>
              <a:rPr lang="en-US" sz="2400" b="1" dirty="0">
                <a:latin typeface="Carlito"/>
              </a:rPr>
              <a:t>time</a:t>
            </a:r>
            <a:r>
              <a:rPr lang="en-US" sz="2400" b="1" spc="-75" dirty="0">
                <a:latin typeface="Carlito"/>
              </a:rPr>
              <a:t> </a:t>
            </a:r>
            <a:r>
              <a:rPr lang="en-US" sz="2400" b="1" spc="-25" dirty="0">
                <a:latin typeface="Carlito"/>
              </a:rPr>
              <a:t>in </a:t>
            </a:r>
            <a:r>
              <a:rPr lang="en-US" sz="2400" b="1" spc="-10" dirty="0">
                <a:latin typeface="Carlito"/>
              </a:rPr>
              <a:t>operations.</a:t>
            </a:r>
          </a:p>
          <a:p>
            <a:pPr marL="92075" marR="555625" indent="356234">
              <a:lnSpc>
                <a:spcPct val="100000"/>
              </a:lnSpc>
              <a:spcBef>
                <a:spcPts val="3360"/>
              </a:spcBef>
              <a:buAutoNum type="arabicPeriod"/>
            </a:pPr>
            <a:r>
              <a:rPr lang="en-US" sz="2400" b="1" dirty="0">
                <a:latin typeface="Carlito"/>
              </a:rPr>
              <a:t>Scalable</a:t>
            </a:r>
            <a:r>
              <a:rPr lang="en-US" sz="2400" b="1" spc="-85" dirty="0">
                <a:latin typeface="Carlito"/>
              </a:rPr>
              <a:t> </a:t>
            </a:r>
            <a:r>
              <a:rPr lang="en-US" sz="2400" b="1" dirty="0">
                <a:latin typeface="Carlito"/>
              </a:rPr>
              <a:t>Design:</a:t>
            </a:r>
            <a:r>
              <a:rPr lang="en-US" sz="2400" b="1" spc="-95" dirty="0">
                <a:latin typeface="Carlito"/>
              </a:rPr>
              <a:t> </a:t>
            </a:r>
            <a:r>
              <a:rPr lang="en-US" sz="2400" b="1" dirty="0">
                <a:latin typeface="Carlito"/>
              </a:rPr>
              <a:t>Easily</a:t>
            </a:r>
            <a:r>
              <a:rPr lang="en-US" sz="2400" b="1" spc="-105" dirty="0">
                <a:latin typeface="Carlito"/>
              </a:rPr>
              <a:t> </a:t>
            </a:r>
            <a:r>
              <a:rPr lang="en-US" sz="2400" b="1" spc="-10" dirty="0">
                <a:latin typeface="Carlito"/>
              </a:rPr>
              <a:t>adaptable </a:t>
            </a:r>
            <a:r>
              <a:rPr lang="en-US" sz="2400" b="1" dirty="0">
                <a:latin typeface="Carlito"/>
              </a:rPr>
              <a:t>across</a:t>
            </a:r>
            <a:r>
              <a:rPr lang="en-US" sz="2400" b="1" spc="-110" dirty="0">
                <a:latin typeface="Carlito"/>
              </a:rPr>
              <a:t> </a:t>
            </a:r>
            <a:r>
              <a:rPr lang="en-US" sz="2400" b="1" dirty="0">
                <a:latin typeface="Carlito"/>
              </a:rPr>
              <a:t>various</a:t>
            </a:r>
            <a:r>
              <a:rPr lang="en-US" sz="2400" b="1" spc="-120" dirty="0">
                <a:latin typeface="Carlito"/>
              </a:rPr>
              <a:t> </a:t>
            </a:r>
            <a:r>
              <a:rPr lang="en-US" sz="2400" b="1" dirty="0">
                <a:latin typeface="Carlito"/>
              </a:rPr>
              <a:t>sectors,</a:t>
            </a:r>
            <a:r>
              <a:rPr lang="en-US" sz="2400" b="1" spc="-110" dirty="0">
                <a:latin typeface="Carlito"/>
              </a:rPr>
              <a:t> </a:t>
            </a:r>
            <a:r>
              <a:rPr lang="en-US" sz="2400" b="1" spc="-20" dirty="0">
                <a:latin typeface="Carlito"/>
              </a:rPr>
              <a:t>from </a:t>
            </a:r>
            <a:r>
              <a:rPr lang="en-US" sz="2400" b="1" dirty="0">
                <a:latin typeface="Carlito"/>
              </a:rPr>
              <a:t>healthcare</a:t>
            </a:r>
            <a:r>
              <a:rPr lang="en-US" sz="2400" b="1" spc="-80" dirty="0">
                <a:latin typeface="Carlito"/>
              </a:rPr>
              <a:t> </a:t>
            </a:r>
            <a:r>
              <a:rPr lang="en-US" sz="2400" b="1" dirty="0">
                <a:latin typeface="Carlito"/>
              </a:rPr>
              <a:t>to</a:t>
            </a:r>
            <a:r>
              <a:rPr lang="en-US" sz="2400" b="1" spc="-110" dirty="0">
                <a:latin typeface="Carlito"/>
              </a:rPr>
              <a:t> </a:t>
            </a:r>
            <a:r>
              <a:rPr lang="en-US" sz="2400" b="1" spc="-10" dirty="0">
                <a:latin typeface="Carlito"/>
              </a:rPr>
              <a:t>retail.</a:t>
            </a:r>
          </a:p>
          <a:p>
            <a:pPr marL="92075" marR="171450" indent="356234">
              <a:lnSpc>
                <a:spcPct val="100000"/>
              </a:lnSpc>
              <a:spcBef>
                <a:spcPts val="3364"/>
              </a:spcBef>
              <a:buAutoNum type="arabicPeriod"/>
            </a:pPr>
            <a:r>
              <a:rPr lang="en-US" sz="2400" b="1" spc="-25" dirty="0">
                <a:latin typeface="Carlito"/>
              </a:rPr>
              <a:t>User-</a:t>
            </a:r>
            <a:r>
              <a:rPr lang="en-US" sz="2400" b="1" dirty="0">
                <a:latin typeface="Carlito"/>
              </a:rPr>
              <a:t>Centric</a:t>
            </a:r>
            <a:r>
              <a:rPr lang="en-US" sz="2400" b="1" spc="-45" dirty="0">
                <a:latin typeface="Carlito"/>
              </a:rPr>
              <a:t> </a:t>
            </a:r>
            <a:r>
              <a:rPr lang="en-US" sz="2400" b="1" dirty="0">
                <a:latin typeface="Carlito"/>
              </a:rPr>
              <a:t>Design:</a:t>
            </a:r>
            <a:r>
              <a:rPr lang="en-US" sz="2400" b="1" spc="-95" dirty="0">
                <a:latin typeface="Carlito"/>
              </a:rPr>
              <a:t> </a:t>
            </a:r>
            <a:r>
              <a:rPr lang="en-US" sz="2400" b="1" spc="-10" dirty="0">
                <a:latin typeface="Carlito"/>
              </a:rPr>
              <a:t>Prioritizes </a:t>
            </a:r>
            <a:r>
              <a:rPr lang="en-US" sz="2400" b="1" spc="-20" dirty="0">
                <a:latin typeface="Carlito"/>
              </a:rPr>
              <a:t>accessibility,</a:t>
            </a:r>
            <a:r>
              <a:rPr lang="en-US" sz="2400" b="1" spc="-35" dirty="0">
                <a:latin typeface="Carlito"/>
              </a:rPr>
              <a:t> </a:t>
            </a:r>
            <a:r>
              <a:rPr lang="en-US" sz="2400" b="1" dirty="0">
                <a:latin typeface="Carlito"/>
              </a:rPr>
              <a:t>making</a:t>
            </a:r>
            <a:r>
              <a:rPr lang="en-US" sz="2400" b="1" spc="-55" dirty="0">
                <a:latin typeface="Carlito"/>
              </a:rPr>
              <a:t> </a:t>
            </a:r>
            <a:r>
              <a:rPr lang="en-US" sz="2400" b="1" dirty="0">
                <a:latin typeface="Carlito"/>
              </a:rPr>
              <a:t>it</a:t>
            </a:r>
            <a:r>
              <a:rPr lang="en-US" sz="2400" b="1" spc="-55" dirty="0">
                <a:latin typeface="Carlito"/>
              </a:rPr>
              <a:t> </a:t>
            </a:r>
            <a:r>
              <a:rPr lang="en-US" sz="2400" b="1" dirty="0">
                <a:latin typeface="Carlito"/>
              </a:rPr>
              <a:t>a</a:t>
            </a:r>
            <a:r>
              <a:rPr lang="en-US" sz="2400" b="1" spc="-50" dirty="0">
                <a:latin typeface="Carlito"/>
              </a:rPr>
              <a:t> </a:t>
            </a:r>
            <a:r>
              <a:rPr lang="en-US" sz="2400" b="1" dirty="0">
                <a:latin typeface="Carlito"/>
              </a:rPr>
              <a:t>perfect</a:t>
            </a:r>
            <a:r>
              <a:rPr lang="en-US" sz="2400" b="1" spc="-35" dirty="0">
                <a:latin typeface="Carlito"/>
              </a:rPr>
              <a:t> </a:t>
            </a:r>
            <a:r>
              <a:rPr lang="en-US" sz="2400" b="1" dirty="0">
                <a:latin typeface="Carlito"/>
              </a:rPr>
              <a:t>fit</a:t>
            </a:r>
            <a:r>
              <a:rPr lang="en-US" sz="2400" b="1" spc="-70" dirty="0">
                <a:latin typeface="Carlito"/>
              </a:rPr>
              <a:t> </a:t>
            </a:r>
            <a:r>
              <a:rPr lang="en-US" sz="2400" b="1" spc="-25" dirty="0">
                <a:latin typeface="Carlito"/>
              </a:rPr>
              <a:t>for </a:t>
            </a:r>
            <a:r>
              <a:rPr lang="en-US" sz="2400" b="1" dirty="0">
                <a:latin typeface="Carlito"/>
              </a:rPr>
              <a:t>hospitals</a:t>
            </a:r>
            <a:r>
              <a:rPr lang="en-US" sz="2400" b="1" spc="-75" dirty="0">
                <a:latin typeface="Carlito"/>
              </a:rPr>
              <a:t> </a:t>
            </a:r>
            <a:r>
              <a:rPr lang="en-US" sz="2400" b="1" dirty="0">
                <a:latin typeface="Carlito"/>
              </a:rPr>
              <a:t>and</a:t>
            </a:r>
            <a:r>
              <a:rPr lang="en-US" sz="2400" b="1" spc="-75" dirty="0">
                <a:latin typeface="Carlito"/>
              </a:rPr>
              <a:t> </a:t>
            </a:r>
            <a:r>
              <a:rPr lang="en-US" sz="2400" b="1" dirty="0">
                <a:latin typeface="Carlito"/>
              </a:rPr>
              <a:t>care</a:t>
            </a:r>
            <a:r>
              <a:rPr lang="en-US" sz="2400" b="1" spc="-60" dirty="0">
                <a:latin typeface="Carlito"/>
              </a:rPr>
              <a:t> </a:t>
            </a:r>
            <a:r>
              <a:rPr lang="en-US" sz="2400" b="1" spc="-10" dirty="0">
                <a:latin typeface="Carlito"/>
              </a:rPr>
              <a:t>facilities.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airam 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6700"/>
            <a:ext cx="2626360" cy="838200"/>
          </a:xfrm>
          <a:prstGeom prst="rect">
            <a:avLst/>
          </a:prstGeom>
        </p:spPr>
      </p:pic>
      <p:pic>
        <p:nvPicPr>
          <p:cNvPr id="9" name="Picture 8" descr="Sairam innovation 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9603" y="266700"/>
            <a:ext cx="2132350" cy="838200"/>
          </a:xfrm>
          <a:prstGeom prst="rect">
            <a:avLst/>
          </a:prstGeom>
        </p:spPr>
      </p:pic>
      <p:pic>
        <p:nvPicPr>
          <p:cNvPr id="10" name="Picture 9" descr="Chairman sir 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8800" y="9182102"/>
            <a:ext cx="876300" cy="886733"/>
          </a:xfrm>
          <a:prstGeom prst="rect">
            <a:avLst/>
          </a:prstGeom>
        </p:spPr>
      </p:pic>
      <p:sp>
        <p:nvSpPr>
          <p:cNvPr id="6" name="TextBox 15"/>
          <p:cNvSpPr txBox="1"/>
          <p:nvPr/>
        </p:nvSpPr>
        <p:spPr>
          <a:xfrm>
            <a:off x="2895600" y="2"/>
            <a:ext cx="12338484" cy="1115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746"/>
              </a:lnSpc>
            </a:pPr>
            <a:r>
              <a:rPr lang="en-US" sz="5400" b="1" dirty="0"/>
              <a:t>Competition Analysis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457428"/>
              </p:ext>
            </p:extLst>
          </p:nvPr>
        </p:nvGraphicFramePr>
        <p:xfrm>
          <a:off x="1905000" y="1943100"/>
          <a:ext cx="14111520" cy="69265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351920">
                  <a:extLst>
                    <a:ext uri="{9D8B030D-6E8A-4147-A177-3AD203B41FA5}">
                      <a16:colId xmlns:a16="http://schemas.microsoft.com/office/drawing/2014/main" val="666748423"/>
                    </a:ext>
                  </a:extLst>
                </a:gridCol>
                <a:gridCol w="2351920">
                  <a:extLst>
                    <a:ext uri="{9D8B030D-6E8A-4147-A177-3AD203B41FA5}">
                      <a16:colId xmlns:a16="http://schemas.microsoft.com/office/drawing/2014/main" val="837611741"/>
                    </a:ext>
                  </a:extLst>
                </a:gridCol>
                <a:gridCol w="2351920">
                  <a:extLst>
                    <a:ext uri="{9D8B030D-6E8A-4147-A177-3AD203B41FA5}">
                      <a16:colId xmlns:a16="http://schemas.microsoft.com/office/drawing/2014/main" val="2522811997"/>
                    </a:ext>
                  </a:extLst>
                </a:gridCol>
                <a:gridCol w="2351920">
                  <a:extLst>
                    <a:ext uri="{9D8B030D-6E8A-4147-A177-3AD203B41FA5}">
                      <a16:colId xmlns:a16="http://schemas.microsoft.com/office/drawing/2014/main" val="2808365038"/>
                    </a:ext>
                  </a:extLst>
                </a:gridCol>
                <a:gridCol w="2351920">
                  <a:extLst>
                    <a:ext uri="{9D8B030D-6E8A-4147-A177-3AD203B41FA5}">
                      <a16:colId xmlns:a16="http://schemas.microsoft.com/office/drawing/2014/main" val="842314674"/>
                    </a:ext>
                  </a:extLst>
                </a:gridCol>
                <a:gridCol w="2351920">
                  <a:extLst>
                    <a:ext uri="{9D8B030D-6E8A-4147-A177-3AD203B41FA5}">
                      <a16:colId xmlns:a16="http://schemas.microsoft.com/office/drawing/2014/main" val="3630476225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Benefits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Competitor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Competitor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Competitor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Competitor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Your Venture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83057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sz="3200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406893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sz="3200" dirty="0"/>
                        <a:t>Price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2088801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sz="3200" dirty="0"/>
                        <a:t>Branding channels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700578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sz="3200" dirty="0"/>
                        <a:t>Packaging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795634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r>
                        <a:rPr lang="en-US" sz="3200" dirty="0"/>
                        <a:t>Market reviews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76348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sz="3200" dirty="0"/>
                        <a:t>UVP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4513914"/>
                  </a:ext>
                </a:extLst>
              </a:tr>
              <a:tr h="1531620">
                <a:tc>
                  <a:txBody>
                    <a:bodyPr/>
                    <a:lstStyle/>
                    <a:p>
                      <a:r>
                        <a:rPr lang="en-US" sz="3200" dirty="0"/>
                        <a:t>Add more as required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6816247"/>
                  </a:ext>
                </a:extLst>
              </a:tr>
            </a:tbl>
          </a:graphicData>
        </a:graphic>
      </p:graphicFrame>
      <p:pic>
        <p:nvPicPr>
          <p:cNvPr id="14" name="Graphic 27" descr="Target with solid fill">
            <a:extLst>
              <a:ext uri="{FF2B5EF4-FFF2-40B4-BE49-F238E27FC236}">
                <a16:creationId xmlns:a16="http://schemas.microsoft.com/office/drawing/2014/main" id="{0A6ECB55-4CA0-4244-AFAF-47071920EBDB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7429500"/>
            <a:ext cx="655576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airam 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6700"/>
            <a:ext cx="2626360" cy="838200"/>
          </a:xfrm>
          <a:prstGeom prst="rect">
            <a:avLst/>
          </a:prstGeom>
        </p:spPr>
      </p:pic>
      <p:pic>
        <p:nvPicPr>
          <p:cNvPr id="9" name="Picture 8" descr="Sairam innovation 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9603" y="266700"/>
            <a:ext cx="2132350" cy="838200"/>
          </a:xfrm>
          <a:prstGeom prst="rect">
            <a:avLst/>
          </a:prstGeom>
        </p:spPr>
      </p:pic>
      <p:pic>
        <p:nvPicPr>
          <p:cNvPr id="10" name="Picture 9" descr="Chairman sir 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8800" y="9182102"/>
            <a:ext cx="876300" cy="886733"/>
          </a:xfrm>
          <a:prstGeom prst="rect">
            <a:avLst/>
          </a:prstGeom>
        </p:spPr>
      </p:pic>
      <p:sp>
        <p:nvSpPr>
          <p:cNvPr id="6" name="TextBox 15"/>
          <p:cNvSpPr txBox="1"/>
          <p:nvPr/>
        </p:nvSpPr>
        <p:spPr>
          <a:xfrm>
            <a:off x="3200400" y="190502"/>
            <a:ext cx="12338484" cy="1115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746"/>
              </a:lnSpc>
            </a:pPr>
            <a:r>
              <a:rPr lang="en-US" sz="6100" b="1" dirty="0"/>
              <a:t>Lean Canvas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871DA2D-B3CE-4F68-958C-EFD80A045093}"/>
              </a:ext>
            </a:extLst>
          </p:cNvPr>
          <p:cNvGrpSpPr/>
          <p:nvPr/>
        </p:nvGrpSpPr>
        <p:grpSpPr>
          <a:xfrm>
            <a:off x="914400" y="1484599"/>
            <a:ext cx="14016374" cy="8184232"/>
            <a:chOff x="1057033" y="955475"/>
            <a:chExt cx="9344249" cy="5456154"/>
          </a:xfrm>
          <a:noFill/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42DE8B1-BA37-482F-A9F6-BEF943895596}"/>
                </a:ext>
              </a:extLst>
            </p:cNvPr>
            <p:cNvSpPr/>
            <p:nvPr/>
          </p:nvSpPr>
          <p:spPr>
            <a:xfrm>
              <a:off x="1057033" y="956344"/>
              <a:ext cx="1870333" cy="406161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7160" tIns="68580" rIns="137160" bIns="68580" rtlCol="0" anchor="ctr"/>
            <a:lstStyle/>
            <a:p>
              <a:r>
                <a:rPr lang="en-GB" b="1" dirty="0">
                  <a:solidFill>
                    <a:schemeClr val="tx1"/>
                  </a:solidFill>
                </a:rPr>
                <a:t>PROBLEM</a:t>
              </a:r>
            </a:p>
            <a:p>
              <a:endParaRPr lang="en-GB" dirty="0">
                <a:solidFill>
                  <a:schemeClr val="tx1"/>
                </a:solidFill>
              </a:endParaRPr>
            </a:p>
            <a:p>
              <a:endParaRPr lang="en-GB" dirty="0">
                <a:solidFill>
                  <a:schemeClr val="tx1"/>
                </a:solidFill>
              </a:endParaRPr>
            </a:p>
            <a:p>
              <a:endParaRPr lang="en-GB" dirty="0">
                <a:solidFill>
                  <a:schemeClr val="tx1"/>
                </a:solidFill>
              </a:endParaRPr>
            </a:p>
            <a:p>
              <a:endParaRPr lang="en-GB" dirty="0">
                <a:solidFill>
                  <a:schemeClr val="tx1"/>
                </a:solidFill>
              </a:endParaRPr>
            </a:p>
            <a:p>
              <a:endParaRPr lang="en-GB" dirty="0">
                <a:solidFill>
                  <a:schemeClr val="tx1"/>
                </a:solidFill>
              </a:endParaRPr>
            </a:p>
            <a:p>
              <a:endParaRPr lang="en-GB" dirty="0">
                <a:solidFill>
                  <a:schemeClr val="tx1"/>
                </a:solidFill>
              </a:endParaRPr>
            </a:p>
            <a:p>
              <a:r>
                <a:rPr lang="en-GB" b="1" dirty="0">
                  <a:solidFill>
                    <a:schemeClr val="tx1"/>
                  </a:solidFill>
                </a:rPr>
                <a:t>EXISTING ALTERNATIVES</a:t>
              </a:r>
            </a:p>
            <a:p>
              <a:r>
                <a:rPr lang="en-GB" dirty="0">
                  <a:solidFill>
                    <a:schemeClr val="tx1"/>
                  </a:solidFill>
                </a:rPr>
                <a:t>……………………………………………………………………………………………………………………………………………………………………………………………………………………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A61AF53-C124-49C7-9FFB-00E90C7BD86C}"/>
                </a:ext>
              </a:extLst>
            </p:cNvPr>
            <p:cNvSpPr/>
            <p:nvPr/>
          </p:nvSpPr>
          <p:spPr>
            <a:xfrm>
              <a:off x="3032477" y="2637347"/>
              <a:ext cx="1608198" cy="236883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</a:rPr>
                <a:t>KEY METRICS</a:t>
              </a:r>
            </a:p>
            <a:p>
              <a:pPr marL="257173" indent="-257173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?</a:t>
              </a:r>
            </a:p>
            <a:p>
              <a:pPr marL="257173" indent="-257173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?</a:t>
              </a:r>
            </a:p>
            <a:p>
              <a:pPr marL="257173" indent="-257173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?</a:t>
              </a:r>
            </a:p>
            <a:p>
              <a:pPr marL="257173" indent="-257173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?</a:t>
              </a:r>
            </a:p>
            <a:p>
              <a:pPr marL="257173" indent="-257173">
                <a:buFont typeface="Arial" panose="020B0604020202020204" pitchFamily="34" charset="0"/>
                <a:buChar char="•"/>
              </a:pPr>
              <a:endParaRPr lang="en-US" dirty="0">
                <a:solidFill>
                  <a:schemeClr val="tx1"/>
                </a:solidFill>
              </a:endParaRPr>
            </a:p>
            <a:p>
              <a:pPr marL="257173" indent="-257173">
                <a:buFont typeface="Arial" panose="020B0604020202020204" pitchFamily="34" charset="0"/>
                <a:buChar char="•"/>
              </a:pPr>
              <a:endParaRPr lang="en-US" dirty="0">
                <a:solidFill>
                  <a:schemeClr val="tx1"/>
                </a:solidFill>
              </a:endParaRPr>
            </a:p>
            <a:p>
              <a:pPr marL="257173" indent="-257173">
                <a:buFont typeface="Arial" panose="020B0604020202020204" pitchFamily="34" charset="0"/>
                <a:buChar char="•"/>
              </a:pPr>
              <a:endParaRPr lang="en-US" dirty="0">
                <a:solidFill>
                  <a:schemeClr val="tx1"/>
                </a:solidFill>
              </a:endParaRPr>
            </a:p>
            <a:p>
              <a:endParaRPr lang="en-US" dirty="0">
                <a:solidFill>
                  <a:schemeClr val="tx1"/>
                </a:solidFill>
              </a:endParaRPr>
            </a:p>
            <a:p>
              <a:pPr marL="257173" indent="-257173">
                <a:buFont typeface="Arial" panose="020B0604020202020204" pitchFamily="34" charset="0"/>
                <a:buChar char="•"/>
              </a:pPr>
              <a:endParaRPr lang="en-US" dirty="0">
                <a:solidFill>
                  <a:schemeClr val="tx1"/>
                </a:solidFill>
              </a:endParaRPr>
            </a:p>
            <a:p>
              <a:pPr marL="257173" indent="-257173">
                <a:buFont typeface="Arial" panose="020B0604020202020204" pitchFamily="34" charset="0"/>
                <a:buChar char="•"/>
              </a:pPr>
              <a:endParaRPr lang="en-US" dirty="0">
                <a:solidFill>
                  <a:schemeClr val="tx1"/>
                </a:solidFill>
              </a:endParaRPr>
            </a:p>
            <a:p>
              <a:endParaRPr lang="en-ZA" b="1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C3C327D-2A6A-43E6-8F62-9A1FFF479CDC}"/>
                </a:ext>
              </a:extLst>
            </p:cNvPr>
            <p:cNvSpPr/>
            <p:nvPr/>
          </p:nvSpPr>
          <p:spPr>
            <a:xfrm>
              <a:off x="3036352" y="956345"/>
              <a:ext cx="1608198" cy="161068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>
                  <a:solidFill>
                    <a:schemeClr val="tx1"/>
                  </a:solidFill>
                </a:rPr>
                <a:t>SOLUTION</a:t>
              </a:r>
            </a:p>
            <a:p>
              <a:r>
                <a:rPr lang="en-US">
                  <a:solidFill>
                    <a:schemeClr val="tx1"/>
                  </a:solidFill>
                </a:rPr>
                <a:t>……………………………………………………………………………………………………………………………………………………………………………</a:t>
              </a:r>
            </a:p>
            <a:p>
              <a:endParaRPr lang="en-US">
                <a:solidFill>
                  <a:schemeClr val="tx1"/>
                </a:solidFill>
              </a:endParaRPr>
            </a:p>
            <a:p>
              <a:endParaRPr lang="en-ZA">
                <a:solidFill>
                  <a:schemeClr val="tx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B374BDD-612A-4745-8EB3-8C7D069E8146}"/>
                </a:ext>
              </a:extLst>
            </p:cNvPr>
            <p:cNvSpPr/>
            <p:nvPr/>
          </p:nvSpPr>
          <p:spPr>
            <a:xfrm>
              <a:off x="4752681" y="956344"/>
              <a:ext cx="1835913" cy="406161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>
                  <a:solidFill>
                    <a:schemeClr val="tx1"/>
                  </a:solidFill>
                </a:rPr>
                <a:t>UNIQUE VALUE PROPOSITION</a:t>
              </a:r>
            </a:p>
            <a:p>
              <a:r>
                <a:rPr lang="en-US">
                  <a:solidFill>
                    <a:schemeClr val="tx1"/>
                  </a:solidFill>
                </a:rPr>
                <a:t>………………………………………………………………………………………………………………………………………………………………………………………………………</a:t>
              </a:r>
            </a:p>
            <a:p>
              <a:endParaRPr lang="en-US">
                <a:solidFill>
                  <a:schemeClr val="tx1"/>
                </a:solidFill>
              </a:endParaRPr>
            </a:p>
            <a:p>
              <a:endParaRPr lang="en-US">
                <a:solidFill>
                  <a:schemeClr val="tx1"/>
                </a:solidFill>
              </a:endParaRPr>
            </a:p>
            <a:p>
              <a:r>
                <a:rPr lang="en-US" b="1">
                  <a:solidFill>
                    <a:schemeClr val="tx1"/>
                  </a:solidFill>
                </a:rPr>
                <a:t>HIGH-LEVEL CONCEPT</a:t>
              </a:r>
            </a:p>
            <a:p>
              <a:r>
                <a:rPr lang="en-US" b="1">
                  <a:solidFill>
                    <a:schemeClr val="tx1"/>
                  </a:solidFill>
                </a:rPr>
                <a:t>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</a:t>
              </a:r>
            </a:p>
            <a:p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BA62365-66A4-404F-8375-01904FBE1169}"/>
                </a:ext>
              </a:extLst>
            </p:cNvPr>
            <p:cNvSpPr/>
            <p:nvPr/>
          </p:nvSpPr>
          <p:spPr>
            <a:xfrm>
              <a:off x="6689796" y="956344"/>
              <a:ext cx="1657072" cy="161068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</a:rPr>
                <a:t>UNFAIR ADVANTAGE</a:t>
              </a:r>
            </a:p>
            <a:p>
              <a:pPr marL="257173" indent="-257173">
                <a:buFont typeface="Arial" panose="020B0604020202020204" pitchFamily="34" charset="0"/>
                <a:buChar char="•"/>
              </a:pPr>
              <a:r>
                <a:rPr lang="en-ZA" dirty="0">
                  <a:solidFill>
                    <a:schemeClr val="tx1"/>
                  </a:solidFill>
                </a:rPr>
                <a:t>?</a:t>
              </a:r>
            </a:p>
            <a:p>
              <a:pPr marL="257173" indent="-257173">
                <a:buFont typeface="Arial" panose="020B0604020202020204" pitchFamily="34" charset="0"/>
                <a:buChar char="•"/>
              </a:pPr>
              <a:r>
                <a:rPr lang="en-ZA" dirty="0">
                  <a:solidFill>
                    <a:schemeClr val="tx1"/>
                  </a:solidFill>
                </a:rPr>
                <a:t>?</a:t>
              </a:r>
            </a:p>
            <a:p>
              <a:pPr marL="257173" indent="-257173">
                <a:buFont typeface="Arial" panose="020B0604020202020204" pitchFamily="34" charset="0"/>
                <a:buChar char="•"/>
              </a:pPr>
              <a:r>
                <a:rPr lang="en-ZA" dirty="0">
                  <a:solidFill>
                    <a:schemeClr val="tx1"/>
                  </a:solidFill>
                </a:rPr>
                <a:t>?</a:t>
              </a:r>
            </a:p>
            <a:p>
              <a:pPr marL="257173" indent="-257173">
                <a:buFont typeface="Arial" panose="020B0604020202020204" pitchFamily="34" charset="0"/>
                <a:buChar char="•"/>
              </a:pPr>
              <a:r>
                <a:rPr lang="en-ZA" dirty="0">
                  <a:solidFill>
                    <a:schemeClr val="tx1"/>
                  </a:solidFill>
                </a:rPr>
                <a:t>?</a:t>
              </a:r>
            </a:p>
            <a:p>
              <a:pPr marL="257173" indent="-257173">
                <a:buFont typeface="Arial" panose="020B0604020202020204" pitchFamily="34" charset="0"/>
                <a:buChar char="•"/>
              </a:pPr>
              <a:r>
                <a:rPr lang="en-ZA" dirty="0">
                  <a:solidFill>
                    <a:schemeClr val="tx1"/>
                  </a:solidFill>
                </a:rPr>
                <a:t>?</a:t>
              </a:r>
            </a:p>
            <a:p>
              <a:endParaRPr lang="en-ZA" dirty="0">
                <a:solidFill>
                  <a:schemeClr val="tx1"/>
                </a:solidFill>
              </a:endParaRPr>
            </a:p>
            <a:p>
              <a:endParaRPr lang="en-ZA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7BC84B1-956D-42A5-8672-FCFD7B07D99A}"/>
                </a:ext>
              </a:extLst>
            </p:cNvPr>
            <p:cNvSpPr/>
            <p:nvPr/>
          </p:nvSpPr>
          <p:spPr>
            <a:xfrm>
              <a:off x="6686843" y="2644352"/>
              <a:ext cx="1657072" cy="23736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</a:rPr>
                <a:t>CHANNELS</a:t>
              </a:r>
            </a:p>
            <a:p>
              <a:pPr marL="257173" indent="-257173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?</a:t>
              </a:r>
            </a:p>
            <a:p>
              <a:pPr marL="257173" indent="-257173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?</a:t>
              </a:r>
            </a:p>
            <a:p>
              <a:pPr marL="257173" indent="-257173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?</a:t>
              </a:r>
            </a:p>
            <a:p>
              <a:pPr marL="257173" indent="-257173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?</a:t>
              </a:r>
            </a:p>
            <a:p>
              <a:pPr marL="257173" indent="-257173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</a:rPr>
                <a:t>?</a:t>
              </a:r>
            </a:p>
            <a:p>
              <a:pPr marL="257173" indent="-257173">
                <a:buFont typeface="Arial" panose="020B0604020202020204" pitchFamily="34" charset="0"/>
                <a:buChar char="•"/>
              </a:pPr>
              <a:endParaRPr lang="en-US" dirty="0">
                <a:solidFill>
                  <a:schemeClr val="tx1"/>
                </a:solidFill>
              </a:endParaRPr>
            </a:p>
            <a:p>
              <a:pPr marL="257173" indent="-257173">
                <a:buFont typeface="Arial" panose="020B0604020202020204" pitchFamily="34" charset="0"/>
                <a:buChar char="•"/>
              </a:pPr>
              <a:endParaRPr lang="en-US" dirty="0">
                <a:solidFill>
                  <a:schemeClr val="tx1"/>
                </a:solidFill>
              </a:endParaRPr>
            </a:p>
            <a:p>
              <a:pPr marL="257173" indent="-257173">
                <a:buFont typeface="Arial" panose="020B0604020202020204" pitchFamily="34" charset="0"/>
                <a:buChar char="•"/>
              </a:pPr>
              <a:endParaRPr lang="en-US" dirty="0">
                <a:solidFill>
                  <a:schemeClr val="tx1"/>
                </a:solidFill>
              </a:endParaRPr>
            </a:p>
            <a:p>
              <a:pPr marL="257173" indent="-257173">
                <a:buFont typeface="Arial" panose="020B0604020202020204" pitchFamily="34" charset="0"/>
                <a:buChar char="•"/>
              </a:pPr>
              <a:endParaRPr lang="en-US" dirty="0">
                <a:solidFill>
                  <a:schemeClr val="tx1"/>
                </a:solidFill>
              </a:endParaRPr>
            </a:p>
            <a:p>
              <a:endParaRPr lang="en-US" dirty="0">
                <a:solidFill>
                  <a:schemeClr val="tx1"/>
                </a:solidFill>
              </a:endParaRPr>
            </a:p>
            <a:p>
              <a:endParaRPr lang="en-ZA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AC9E9F4-9BD4-4F01-9A69-4B416DF6CD3A}"/>
                </a:ext>
              </a:extLst>
            </p:cNvPr>
            <p:cNvSpPr/>
            <p:nvPr/>
          </p:nvSpPr>
          <p:spPr>
            <a:xfrm>
              <a:off x="5781668" y="5124246"/>
              <a:ext cx="4576890" cy="128738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</a:rPr>
                <a:t>REVENUE STREAMS</a:t>
              </a:r>
            </a:p>
            <a:p>
              <a:r>
                <a:rPr lang="en-US" sz="1800" dirty="0">
                  <a:solidFill>
                    <a:schemeClr val="tx1"/>
                  </a:solidFill>
                </a:rPr>
                <a:t>Product sales, subscription services, partnerships, grants, customization services.</a:t>
              </a:r>
              <a:endPara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09C3843-A5E1-4267-892B-5C21CFF1D0BF}"/>
                </a:ext>
              </a:extLst>
            </p:cNvPr>
            <p:cNvSpPr/>
            <p:nvPr/>
          </p:nvSpPr>
          <p:spPr>
            <a:xfrm>
              <a:off x="8343915" y="955475"/>
              <a:ext cx="2057367" cy="404983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80000">
                <a:spcBef>
                  <a:spcPts val="25"/>
                </a:spcBef>
                <a:spcAft>
                  <a:spcPts val="50"/>
                </a:spcAft>
              </a:pPr>
              <a:endParaRPr lang="en-US" sz="1600" b="1" dirty="0">
                <a:solidFill>
                  <a:schemeClr val="tx1"/>
                </a:solidFill>
              </a:endParaRPr>
            </a:p>
            <a:p>
              <a:pPr marL="180000">
                <a:spcBef>
                  <a:spcPts val="25"/>
                </a:spcBef>
                <a:spcAft>
                  <a:spcPts val="50"/>
                </a:spcAft>
              </a:pPr>
              <a:r>
                <a:rPr lang="en-US" sz="1600" b="1" dirty="0">
                  <a:solidFill>
                    <a:schemeClr val="tx1"/>
                  </a:solidFill>
                </a:rPr>
                <a:t>CUSTOMER SEGMENTS</a:t>
              </a:r>
            </a:p>
            <a:p>
              <a:pPr marL="180000">
                <a:spcBef>
                  <a:spcPts val="25"/>
                </a:spcBef>
                <a:spcAft>
                  <a:spcPts val="50"/>
                </a:spcAft>
              </a:pPr>
              <a:r>
                <a:rPr lang="en-US" sz="1600" b="1" dirty="0">
                  <a:solidFill>
                    <a:schemeClr val="tx1"/>
                  </a:solidFill>
                </a:rPr>
                <a:t>Visually Impaired Individuals:</a:t>
              </a:r>
              <a:r>
                <a:rPr lang="en-US" sz="1600" dirty="0">
                  <a:solidFill>
                    <a:schemeClr val="tx1"/>
                  </a:solidFill>
                </a:rPr>
                <a:t> Primary target users who will benefit from navigation and object recognition features.</a:t>
              </a:r>
            </a:p>
            <a:p>
              <a:pPr marL="180000">
                <a:spcBef>
                  <a:spcPts val="25"/>
                </a:spcBef>
                <a:spcAft>
                  <a:spcPts val="50"/>
                </a:spcAft>
              </a:pPr>
              <a:r>
                <a:rPr lang="en-US" sz="1600" b="1" dirty="0">
                  <a:solidFill>
                    <a:schemeClr val="tx1"/>
                  </a:solidFill>
                </a:rPr>
                <a:t>NGOs:</a:t>
              </a:r>
              <a:r>
                <a:rPr lang="en-US" sz="1600" dirty="0">
                  <a:solidFill>
                    <a:schemeClr val="tx1"/>
                  </a:solidFill>
                </a:rPr>
                <a:t> Organizations working with differently-abled communities.</a:t>
              </a:r>
            </a:p>
            <a:p>
              <a:pPr marL="180000">
                <a:spcBef>
                  <a:spcPts val="25"/>
                </a:spcBef>
                <a:spcAft>
                  <a:spcPts val="50"/>
                </a:spcAft>
              </a:pPr>
              <a:r>
                <a:rPr lang="en-US" sz="1600" b="1" dirty="0">
                  <a:solidFill>
                    <a:schemeClr val="tx1"/>
                  </a:solidFill>
                </a:rPr>
                <a:t>Government Agencies:</a:t>
              </a:r>
              <a:r>
                <a:rPr lang="en-US" sz="1600" dirty="0">
                  <a:solidFill>
                    <a:schemeClr val="tx1"/>
                  </a:solidFill>
                </a:rPr>
                <a:t> Programs focused on enhancing accessibility and independence for differently-abled individuals.</a:t>
              </a:r>
            </a:p>
            <a:p>
              <a:pPr marL="180000">
                <a:spcBef>
                  <a:spcPts val="25"/>
                </a:spcBef>
                <a:spcAft>
                  <a:spcPts val="50"/>
                </a:spcAft>
              </a:pPr>
              <a:r>
                <a:rPr lang="en-US" sz="1600" b="1" dirty="0">
                  <a:solidFill>
                    <a:schemeClr val="tx1"/>
                  </a:solidFill>
                </a:rPr>
                <a:t>Educational Institutions:</a:t>
              </a:r>
              <a:r>
                <a:rPr lang="en-US" sz="1600" dirty="0">
                  <a:solidFill>
                    <a:schemeClr val="tx1"/>
                  </a:solidFill>
                </a:rPr>
                <a:t> Schools and universities looking to provide inclusive education tools.</a:t>
              </a:r>
            </a:p>
            <a:p>
              <a:r>
                <a:rPr lang="en-US" b="1" dirty="0">
                  <a:solidFill>
                    <a:schemeClr val="tx1"/>
                  </a:solidFill>
                </a:rPr>
                <a:t>EARLY ADOPTERS </a:t>
              </a:r>
            </a:p>
            <a:p>
              <a:r>
                <a:rPr lang="en-US" b="1" dirty="0">
                  <a:solidFill>
                    <a:schemeClr val="tx1"/>
                  </a:solidFill>
                </a:rPr>
                <a:t>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433AFEF-AAB0-4118-9790-7694BAC47BCE}"/>
                </a:ext>
              </a:extLst>
            </p:cNvPr>
            <p:cNvSpPr/>
            <p:nvPr/>
          </p:nvSpPr>
          <p:spPr>
            <a:xfrm>
              <a:off x="1057033" y="5132637"/>
              <a:ext cx="4599726" cy="127899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b="1" dirty="0">
                  <a:solidFill>
                    <a:schemeClr val="tx1"/>
                  </a:solidFill>
                </a:rPr>
                <a:t>COST STRUCTURE</a:t>
              </a:r>
            </a:p>
            <a:p>
              <a:r>
                <a:rPr lang="en-IN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Production cost roughly estimated : $199.30 = ₹16,698.52</a:t>
              </a:r>
            </a:p>
            <a:p>
              <a:pPr marL="257173" indent="-257173">
                <a:buFont typeface="Arial" panose="020B0604020202020204" pitchFamily="34" charset="0"/>
                <a:buChar char="•"/>
              </a:pPr>
              <a:endParaRPr lang="en-ZA" dirty="0">
                <a:solidFill>
                  <a:schemeClr val="tx1"/>
                </a:solidFill>
              </a:endParaRPr>
            </a:p>
            <a:p>
              <a:endParaRPr lang="en-ZA" dirty="0">
                <a:solidFill>
                  <a:schemeClr val="tx1"/>
                </a:solidFill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15011403" y="6667504"/>
            <a:ext cx="3033182" cy="1231721"/>
          </a:xfrm>
          <a:prstGeom prst="rect">
            <a:avLst/>
          </a:prstGeom>
          <a:solidFill>
            <a:srgbClr val="FFC000"/>
          </a:solidFill>
        </p:spPr>
        <p:txBody>
          <a:bodyPr wrap="square" lIns="91439" tIns="45719" rIns="91439" bIns="45719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	This canvas explains how the venture makes money (attracts, serves and keeps customers) </a:t>
            </a:r>
            <a:endParaRPr lang="en-US" dirty="0"/>
          </a:p>
        </p:txBody>
      </p:sp>
      <p:pic>
        <p:nvPicPr>
          <p:cNvPr id="23" name="Graphic 27" descr="Target with solid fill">
            <a:extLst>
              <a:ext uri="{FF2B5EF4-FFF2-40B4-BE49-F238E27FC236}">
                <a16:creationId xmlns:a16="http://schemas.microsoft.com/office/drawing/2014/main" id="{0A6ECB55-4CA0-4244-AFAF-47071920EBDB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00" y="6667502"/>
            <a:ext cx="655576" cy="36073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4935203" y="1485902"/>
            <a:ext cx="3202826" cy="4708979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lIns="91439" tIns="45719" rIns="91439" bIns="45719" rtlCol="0">
            <a:spAutoFit/>
          </a:bodyPr>
          <a:lstStyle/>
          <a:p>
            <a:r>
              <a:rPr lang="en-IN" b="1" dirty="0"/>
              <a:t>Business Model </a:t>
            </a:r>
            <a:r>
              <a:rPr lang="en-IN" sz="1200" dirty="0"/>
              <a:t>(Explain with a process diagram)</a:t>
            </a:r>
          </a:p>
          <a:p>
            <a:endParaRPr lang="en-IN" dirty="0">
              <a:solidFill>
                <a:srgbClr val="002060"/>
              </a:solidFill>
            </a:endParaRPr>
          </a:p>
          <a:p>
            <a:endParaRPr lang="en-IN" dirty="0">
              <a:solidFill>
                <a:srgbClr val="002060"/>
              </a:solidFill>
            </a:endParaRPr>
          </a:p>
          <a:p>
            <a:endParaRPr lang="en-IN" dirty="0">
              <a:solidFill>
                <a:srgbClr val="002060"/>
              </a:solidFill>
            </a:endParaRPr>
          </a:p>
          <a:p>
            <a:endParaRPr lang="en-IN" dirty="0">
              <a:solidFill>
                <a:srgbClr val="002060"/>
              </a:solidFill>
            </a:endParaRPr>
          </a:p>
          <a:p>
            <a:endParaRPr lang="en-IN" dirty="0">
              <a:solidFill>
                <a:srgbClr val="002060"/>
              </a:solidFill>
            </a:endParaRPr>
          </a:p>
          <a:p>
            <a:endParaRPr lang="en-IN" dirty="0">
              <a:solidFill>
                <a:srgbClr val="002060"/>
              </a:solidFill>
            </a:endParaRPr>
          </a:p>
          <a:p>
            <a:endParaRPr lang="en-IN" dirty="0">
              <a:solidFill>
                <a:srgbClr val="002060"/>
              </a:solidFill>
            </a:endParaRPr>
          </a:p>
          <a:p>
            <a:endParaRPr lang="en-IN" dirty="0">
              <a:solidFill>
                <a:srgbClr val="002060"/>
              </a:solidFill>
            </a:endParaRPr>
          </a:p>
          <a:p>
            <a:endParaRPr lang="en-IN" dirty="0">
              <a:solidFill>
                <a:srgbClr val="002060"/>
              </a:solidFill>
            </a:endParaRPr>
          </a:p>
          <a:p>
            <a:endParaRPr lang="en-IN" dirty="0">
              <a:solidFill>
                <a:srgbClr val="002060"/>
              </a:solidFill>
            </a:endParaRPr>
          </a:p>
          <a:p>
            <a:endParaRPr lang="en-IN" dirty="0">
              <a:solidFill>
                <a:srgbClr val="002060"/>
              </a:solidFill>
            </a:endParaRPr>
          </a:p>
          <a:p>
            <a:endParaRPr lang="en-IN" dirty="0">
              <a:solidFill>
                <a:srgbClr val="002060"/>
              </a:solidFill>
            </a:endParaRPr>
          </a:p>
          <a:p>
            <a:endParaRPr lang="en-IN" dirty="0">
              <a:solidFill>
                <a:srgbClr val="002060"/>
              </a:solidFill>
            </a:endParaRPr>
          </a:p>
          <a:p>
            <a:endParaRPr lang="en-IN" dirty="0">
              <a:solidFill>
                <a:srgbClr val="002060"/>
              </a:solidFill>
            </a:endParaRPr>
          </a:p>
          <a:p>
            <a:endParaRPr lang="en-IN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airam 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6700"/>
            <a:ext cx="2626360" cy="838200"/>
          </a:xfrm>
          <a:prstGeom prst="rect">
            <a:avLst/>
          </a:prstGeom>
        </p:spPr>
      </p:pic>
      <p:pic>
        <p:nvPicPr>
          <p:cNvPr id="9" name="Picture 8" descr="Sairam innovation 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9603" y="266700"/>
            <a:ext cx="2132350" cy="838200"/>
          </a:xfrm>
          <a:prstGeom prst="rect">
            <a:avLst/>
          </a:prstGeom>
        </p:spPr>
      </p:pic>
      <p:pic>
        <p:nvPicPr>
          <p:cNvPr id="10" name="Picture 9" descr="Chairman sir 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8800" y="9182102"/>
            <a:ext cx="876300" cy="886733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3048000" y="342902"/>
            <a:ext cx="12420600" cy="652463"/>
          </a:xfrm>
          <a:prstGeom prst="rect">
            <a:avLst/>
          </a:prstGeom>
        </p:spPr>
        <p:txBody>
          <a:bodyPr lIns="91439" tIns="45719" rIns="91439" bIns="45719">
            <a:normAutofit fontScale="90000" lnSpcReduction="20000"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4500" b="1" dirty="0">
                <a:latin typeface="+mj-lt"/>
                <a:ea typeface="+mj-ea"/>
                <a:cs typeface="+mj-cs"/>
              </a:rPr>
              <a:t>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22281"/>
            <a:ext cx="13182600" cy="5139867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marL="457193" indent="-457193">
              <a:buFont typeface="Arial" panose="020B0604020202020204" pitchFamily="34" charset="0"/>
              <a:buChar char="•"/>
            </a:pPr>
            <a:r>
              <a:rPr lang="en-US" sz="2700" b="1" dirty="0"/>
              <a:t>Provide Full product/service description</a:t>
            </a:r>
            <a:endParaRPr lang="en-IN" sz="2700" b="1" dirty="0">
              <a:solidFill>
                <a:prstClr val="black"/>
              </a:solidFill>
              <a:latin typeface="Calibri" panose="020F0502020204030204"/>
            </a:endParaRPr>
          </a:p>
          <a:p>
            <a:pPr marL="457193" indent="-457193">
              <a:buFont typeface="Arial" panose="020B0604020202020204" pitchFamily="34" charset="0"/>
              <a:buChar char="•"/>
            </a:pPr>
            <a:r>
              <a:rPr lang="en-IN" sz="2700" b="1" dirty="0">
                <a:solidFill>
                  <a:prstClr val="black"/>
                </a:solidFill>
                <a:latin typeface="Calibri" panose="020F0502020204030204"/>
              </a:rPr>
              <a:t>Insert a picture of the prototype</a:t>
            </a:r>
          </a:p>
          <a:p>
            <a:pPr marL="457193" indent="-457193">
              <a:buFont typeface="Arial" panose="020B0604020202020204" pitchFamily="34" charset="0"/>
              <a:buChar char="•"/>
            </a:pPr>
            <a:r>
              <a:rPr lang="en-IN" sz="2700" b="1" dirty="0">
                <a:solidFill>
                  <a:prstClr val="black"/>
                </a:solidFill>
                <a:latin typeface="Calibri" panose="020F0502020204030204"/>
              </a:rPr>
              <a:t>Provide video link of the working prototype, if any</a:t>
            </a:r>
          </a:p>
          <a:p>
            <a:pPr marL="457193" indent="-457193">
              <a:buFont typeface="Arial" panose="020B0604020202020204" pitchFamily="34" charset="0"/>
              <a:buChar char="•"/>
            </a:pPr>
            <a:r>
              <a:rPr lang="en-IN" sz="2700" b="1" dirty="0">
                <a:solidFill>
                  <a:prstClr val="black"/>
                </a:solidFill>
                <a:latin typeface="Calibri" panose="020F0502020204030204"/>
              </a:rPr>
              <a:t>Share screenshots of website ( Landing page, testimony etc.,).</a:t>
            </a:r>
            <a:r>
              <a:rPr lang="en-US" sz="2900" dirty="0"/>
              <a:t> If the venture is in any online business, it must definitely showcase a functional website</a:t>
            </a:r>
            <a:r>
              <a:rPr lang="en-US" sz="2900" b="1" dirty="0"/>
              <a:t>.</a:t>
            </a:r>
            <a:endParaRPr lang="en-IN" sz="2700" b="1" dirty="0">
              <a:solidFill>
                <a:prstClr val="black"/>
              </a:solidFill>
              <a:latin typeface="Calibri" panose="020F0502020204030204"/>
            </a:endParaRPr>
          </a:p>
          <a:p>
            <a:pPr marL="457193" indent="-457193">
              <a:buFont typeface="Arial" panose="020B0604020202020204" pitchFamily="34" charset="0"/>
              <a:buChar char="•"/>
            </a:pPr>
            <a:r>
              <a:rPr lang="en-IN" sz="2700" b="1" dirty="0">
                <a:solidFill>
                  <a:prstClr val="black"/>
                </a:solidFill>
              </a:rPr>
              <a:t>Share website link (</a:t>
            </a:r>
            <a:r>
              <a:rPr lang="en-US" sz="2300" dirty="0"/>
              <a:t>If the venture is in any online business, it must definitely showcase a functional website</a:t>
            </a:r>
            <a:r>
              <a:rPr lang="en-US" sz="2300" b="1" dirty="0"/>
              <a:t>.</a:t>
            </a:r>
            <a:r>
              <a:rPr lang="en-IN" sz="2300" b="1" dirty="0">
                <a:solidFill>
                  <a:prstClr val="black"/>
                </a:solidFill>
              </a:rPr>
              <a:t>)</a:t>
            </a:r>
            <a:endParaRPr lang="en-IN" sz="2700" b="1" dirty="0">
              <a:solidFill>
                <a:prstClr val="black"/>
              </a:solidFill>
            </a:endParaRPr>
          </a:p>
          <a:p>
            <a:pPr marL="457193" indent="-457193">
              <a:buFont typeface="Arial" panose="020B0604020202020204" pitchFamily="34" charset="0"/>
              <a:buChar char="•"/>
            </a:pPr>
            <a:r>
              <a:rPr lang="en-IN" sz="2700" b="1" dirty="0">
                <a:solidFill>
                  <a:prstClr val="black"/>
                </a:solidFill>
              </a:rPr>
              <a:t>Share App link</a:t>
            </a:r>
          </a:p>
          <a:p>
            <a:pPr marL="457193" indent="-457193">
              <a:buFont typeface="Arial" panose="020B0604020202020204" pitchFamily="34" charset="0"/>
              <a:buChar char="•"/>
            </a:pPr>
            <a:r>
              <a:rPr lang="en-US" sz="2900" b="1" dirty="0"/>
              <a:t>Description of how the product will work and steps the customer will follow</a:t>
            </a:r>
          </a:p>
          <a:p>
            <a:pPr marL="457193" indent="-457193">
              <a:buFont typeface="Arial" panose="020B0604020202020204" pitchFamily="34" charset="0"/>
              <a:buChar char="•"/>
            </a:pPr>
            <a:r>
              <a:rPr lang="en-US" sz="2900" b="1" dirty="0"/>
              <a:t>Any other information</a:t>
            </a:r>
          </a:p>
          <a:p>
            <a:pPr marL="457193" indent="-457193">
              <a:buFont typeface="Arial" panose="020B0604020202020204" pitchFamily="34" charset="0"/>
              <a:buChar char="•"/>
            </a:pPr>
            <a:endParaRPr lang="en-IN" sz="2700" b="1" dirty="0">
              <a:solidFill>
                <a:prstClr val="black"/>
              </a:solidFill>
            </a:endParaRPr>
          </a:p>
          <a:p>
            <a:pPr marL="457193" indent="-457193">
              <a:buFont typeface="Arial" panose="020B0604020202020204" pitchFamily="34" charset="0"/>
              <a:buChar char="•"/>
            </a:pPr>
            <a:endParaRPr lang="en-IN" sz="27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562600" y="7353302"/>
            <a:ext cx="6477000" cy="1154160"/>
          </a:xfrm>
          <a:prstGeom prst="rect">
            <a:avLst/>
          </a:prstGeom>
          <a:solidFill>
            <a:srgbClr val="FFC000"/>
          </a:solidFill>
        </p:spPr>
        <p:txBody>
          <a:bodyPr wrap="square" lIns="91439" tIns="45719" rIns="91439" bIns="45719">
            <a:spAutoFit/>
          </a:bodyPr>
          <a:lstStyle/>
          <a:p>
            <a:pPr algn="just"/>
            <a:r>
              <a:rPr lang="en-US" sz="2300" dirty="0"/>
              <a:t>	</a:t>
            </a:r>
          </a:p>
          <a:p>
            <a:pPr algn="just"/>
            <a:r>
              <a:rPr lang="en-US" sz="2300" dirty="0"/>
              <a:t>	The slide helps to see your vision in action with a clear demonstration</a:t>
            </a:r>
            <a:endParaRPr lang="en-US" sz="2300" b="1" dirty="0">
              <a:latin typeface="+mj-lt"/>
            </a:endParaRPr>
          </a:p>
        </p:txBody>
      </p:sp>
      <p:pic>
        <p:nvPicPr>
          <p:cNvPr id="14" name="Graphic 27" descr="Target with solid fill">
            <a:extLst>
              <a:ext uri="{FF2B5EF4-FFF2-40B4-BE49-F238E27FC236}">
                <a16:creationId xmlns:a16="http://schemas.microsoft.com/office/drawing/2014/main" id="{0A6ECB55-4CA0-4244-AFAF-47071920EBDB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7581900"/>
            <a:ext cx="655576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airam 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6700"/>
            <a:ext cx="2626360" cy="838200"/>
          </a:xfrm>
          <a:prstGeom prst="rect">
            <a:avLst/>
          </a:prstGeom>
        </p:spPr>
      </p:pic>
      <p:pic>
        <p:nvPicPr>
          <p:cNvPr id="9" name="Picture 8" descr="Sairam innovation 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9603" y="266700"/>
            <a:ext cx="2132350" cy="838200"/>
          </a:xfrm>
          <a:prstGeom prst="rect">
            <a:avLst/>
          </a:prstGeom>
        </p:spPr>
      </p:pic>
      <p:pic>
        <p:nvPicPr>
          <p:cNvPr id="10" name="Picture 9" descr="Chairman sir 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8800" y="9182102"/>
            <a:ext cx="876300" cy="886733"/>
          </a:xfrm>
          <a:prstGeom prst="rect">
            <a:avLst/>
          </a:prstGeom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id="{3CAEC04B-1429-4612-89DB-5CA4F4B031FD}"/>
              </a:ext>
            </a:extLst>
          </p:cNvPr>
          <p:cNvSpPr txBox="1">
            <a:spLocks/>
          </p:cNvSpPr>
          <p:nvPr/>
        </p:nvSpPr>
        <p:spPr>
          <a:xfrm>
            <a:off x="2819400" y="190502"/>
            <a:ext cx="12954000" cy="1266401"/>
          </a:xfrm>
          <a:prstGeom prst="rect">
            <a:avLst/>
          </a:prstGeom>
        </p:spPr>
        <p:txBody>
          <a:bodyPr vert="horz" lIns="137160" tIns="68580" rIns="137160" bIns="6858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8746"/>
              </a:lnSpc>
            </a:pPr>
            <a:r>
              <a:rPr lang="en-GB" sz="3000" b="1" dirty="0">
                <a:solidFill>
                  <a:prstClr val="black"/>
                </a:solidFill>
                <a:latin typeface="Raleway"/>
              </a:rPr>
              <a:t>  </a:t>
            </a:r>
            <a:r>
              <a:rPr lang="en-GB" sz="6100" dirty="0">
                <a:latin typeface="Antonio Bold"/>
                <a:ea typeface="+mn-ea"/>
                <a:cs typeface="+mn-cs"/>
              </a:rPr>
              <a:t>MVP Validation</a:t>
            </a:r>
            <a:endParaRPr lang="en-US" sz="6100" dirty="0">
              <a:latin typeface="Antonio Bold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D08DA0-06DC-8B4E-BD66-A9F65085D413}"/>
              </a:ext>
            </a:extLst>
          </p:cNvPr>
          <p:cNvSpPr/>
          <p:nvPr/>
        </p:nvSpPr>
        <p:spPr>
          <a:xfrm>
            <a:off x="475578" y="1546164"/>
            <a:ext cx="16709136" cy="82941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algn="ctr"/>
            <a:endParaRPr lang="en-GB" sz="1600" dirty="0">
              <a:latin typeface="Barlow" panose="000008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7A66D7F-E190-4448-B607-C21D56C9EC0E}"/>
              </a:ext>
            </a:extLst>
          </p:cNvPr>
          <p:cNvCxnSpPr>
            <a:cxnSpLocks/>
          </p:cNvCxnSpPr>
          <p:nvPr/>
        </p:nvCxnSpPr>
        <p:spPr>
          <a:xfrm flipH="1" flipV="1">
            <a:off x="9448800" y="1790702"/>
            <a:ext cx="0" cy="79584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671FBED-F807-C244-997A-A62DD004EDFB}"/>
              </a:ext>
            </a:extLst>
          </p:cNvPr>
          <p:cNvSpPr txBox="1"/>
          <p:nvPr/>
        </p:nvSpPr>
        <p:spPr>
          <a:xfrm>
            <a:off x="652491" y="2577444"/>
            <a:ext cx="3299254" cy="338552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r>
              <a:rPr lang="en-GB" sz="1600" b="1" dirty="0">
                <a:latin typeface="Barlow" panose="00000800000000000000" pitchFamily="2" charset="0"/>
              </a:rPr>
              <a:t>Test Details: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A05CF0-7156-F54C-B0C2-FBC0374002EC}"/>
              </a:ext>
            </a:extLst>
          </p:cNvPr>
          <p:cNvSpPr txBox="1"/>
          <p:nvPr/>
        </p:nvSpPr>
        <p:spPr>
          <a:xfrm>
            <a:off x="730789" y="4945629"/>
            <a:ext cx="3299254" cy="338552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r>
              <a:rPr lang="en-GB" sz="1600" b="1" dirty="0">
                <a:latin typeface="Barlow" panose="00000800000000000000" pitchFamily="2" charset="0"/>
              </a:rPr>
              <a:t>Results of Test: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E58E65-6693-2848-B580-E0CC47E8C136}"/>
              </a:ext>
            </a:extLst>
          </p:cNvPr>
          <p:cNvSpPr txBox="1"/>
          <p:nvPr/>
        </p:nvSpPr>
        <p:spPr>
          <a:xfrm>
            <a:off x="9993729" y="2292336"/>
            <a:ext cx="3299254" cy="338552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r>
              <a:rPr lang="en-GB" sz="1600" b="1" dirty="0">
                <a:latin typeface="Barlow" panose="00000800000000000000" pitchFamily="2" charset="0"/>
              </a:rPr>
              <a:t>Conclusion: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30E071-9B96-1446-8F6F-64CD7A481BC2}"/>
              </a:ext>
            </a:extLst>
          </p:cNvPr>
          <p:cNvSpPr txBox="1"/>
          <p:nvPr/>
        </p:nvSpPr>
        <p:spPr>
          <a:xfrm>
            <a:off x="9858267" y="5076840"/>
            <a:ext cx="3299254" cy="338552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r>
              <a:rPr lang="en-GB" sz="1600" b="1" dirty="0">
                <a:latin typeface="Barlow" panose="00000800000000000000" pitchFamily="2" charset="0"/>
              </a:rPr>
              <a:t>Realizations / Insights: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2B3B00-73BC-054E-9F8B-8D188EEB2FB0}"/>
              </a:ext>
            </a:extLst>
          </p:cNvPr>
          <p:cNvSpPr txBox="1"/>
          <p:nvPr/>
        </p:nvSpPr>
        <p:spPr>
          <a:xfrm>
            <a:off x="9827372" y="7220235"/>
            <a:ext cx="4658500" cy="338552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r>
              <a:rPr lang="en-GB" sz="1600" b="1" dirty="0">
                <a:latin typeface="Barlow" panose="00000800000000000000" pitchFamily="2" charset="0"/>
              </a:rPr>
              <a:t>Next Steps: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F8CBB3-C33D-0B4D-8BEA-8C46D5F70F1E}"/>
              </a:ext>
            </a:extLst>
          </p:cNvPr>
          <p:cNvSpPr txBox="1"/>
          <p:nvPr/>
        </p:nvSpPr>
        <p:spPr>
          <a:xfrm>
            <a:off x="739481" y="3279693"/>
            <a:ext cx="3034803" cy="338552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r>
              <a:rPr lang="en-GB" sz="1600" b="1" dirty="0">
                <a:latin typeface="Barlow" panose="00000800000000000000" pitchFamily="2" charset="0"/>
              </a:rPr>
              <a:t>How long will we test this MVP?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4229BF-1A85-6D45-B2B7-855A518F1B89}"/>
              </a:ext>
            </a:extLst>
          </p:cNvPr>
          <p:cNvSpPr txBox="1"/>
          <p:nvPr/>
        </p:nvSpPr>
        <p:spPr>
          <a:xfrm>
            <a:off x="739481" y="4339884"/>
            <a:ext cx="3241591" cy="338552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r>
              <a:rPr lang="en-GB" sz="1600" b="1" dirty="0">
                <a:latin typeface="Barlow" panose="00000800000000000000" pitchFamily="2" charset="0"/>
              </a:rPr>
              <a:t>How will we get to that audience?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EC7D1D-EFBB-2E4F-9EFB-AB531420D6FC}"/>
              </a:ext>
            </a:extLst>
          </p:cNvPr>
          <p:cNvSpPr txBox="1"/>
          <p:nvPr/>
        </p:nvSpPr>
        <p:spPr>
          <a:xfrm>
            <a:off x="739481" y="3875142"/>
            <a:ext cx="5646095" cy="338552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r>
              <a:rPr lang="en-GB" sz="1600" b="1" dirty="0">
                <a:latin typeface="Barlow" panose="00000800000000000000" pitchFamily="2" charset="0"/>
              </a:rPr>
              <a:t>Who is our target audience for the test? How many of them?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B024B3-A3D8-5942-AD22-2BBF7AC46378}"/>
              </a:ext>
            </a:extLst>
          </p:cNvPr>
          <p:cNvSpPr/>
          <p:nvPr/>
        </p:nvSpPr>
        <p:spPr>
          <a:xfrm>
            <a:off x="10165494" y="3077600"/>
            <a:ext cx="212992" cy="20762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algn="ctr"/>
            <a:endParaRPr lang="en-GB" sz="1600" dirty="0">
              <a:latin typeface="Barlow" panose="000008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1EE1C5-A970-0647-A387-B5E639C06D66}"/>
              </a:ext>
            </a:extLst>
          </p:cNvPr>
          <p:cNvSpPr txBox="1"/>
          <p:nvPr/>
        </p:nvSpPr>
        <p:spPr>
          <a:xfrm>
            <a:off x="10412443" y="2673708"/>
            <a:ext cx="1090361" cy="338552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r>
              <a:rPr lang="en-GB" sz="1600" dirty="0">
                <a:latin typeface="Barlow" panose="00000800000000000000" pitchFamily="2" charset="0"/>
              </a:rPr>
              <a:t>Persevere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6F00F6-742E-C24C-92EB-6D9513CB41D0}"/>
              </a:ext>
            </a:extLst>
          </p:cNvPr>
          <p:cNvSpPr txBox="1"/>
          <p:nvPr/>
        </p:nvSpPr>
        <p:spPr>
          <a:xfrm>
            <a:off x="10412443" y="3030522"/>
            <a:ext cx="644726" cy="338552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r>
              <a:rPr lang="en-GB" sz="1600" dirty="0">
                <a:latin typeface="Barlow" panose="00000800000000000000" pitchFamily="2" charset="0"/>
              </a:rPr>
              <a:t>Pivot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063187-BB1B-A444-B619-E14E03BA62DF}"/>
              </a:ext>
            </a:extLst>
          </p:cNvPr>
          <p:cNvSpPr txBox="1"/>
          <p:nvPr/>
        </p:nvSpPr>
        <p:spPr>
          <a:xfrm>
            <a:off x="10388999" y="3390846"/>
            <a:ext cx="1507142" cy="338552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r>
              <a:rPr lang="en-GB" sz="1600" dirty="0">
                <a:latin typeface="Barlow" panose="00000800000000000000" pitchFamily="2" charset="0"/>
              </a:rPr>
              <a:t>Not conclusive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6E6BF1D-5E5B-5243-AA5E-F55C0BC6CB58}"/>
              </a:ext>
            </a:extLst>
          </p:cNvPr>
          <p:cNvSpPr/>
          <p:nvPr/>
        </p:nvSpPr>
        <p:spPr>
          <a:xfrm>
            <a:off x="10170880" y="3439247"/>
            <a:ext cx="212992" cy="20762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algn="ctr"/>
            <a:endParaRPr lang="en-GB" sz="1600" dirty="0">
              <a:latin typeface="Barlow" panose="00000800000000000000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E7E61C-15D7-594A-94D7-75068E7F9D29}"/>
              </a:ext>
            </a:extLst>
          </p:cNvPr>
          <p:cNvSpPr/>
          <p:nvPr/>
        </p:nvSpPr>
        <p:spPr>
          <a:xfrm>
            <a:off x="10169612" y="2711012"/>
            <a:ext cx="212992" cy="20762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algn="ctr"/>
            <a:endParaRPr lang="en-GB" sz="1600" dirty="0">
              <a:latin typeface="Barlow" panose="000008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18EE0E-947B-0F47-A725-AA544F75E946}"/>
              </a:ext>
            </a:extLst>
          </p:cNvPr>
          <p:cNvSpPr txBox="1"/>
          <p:nvPr/>
        </p:nvSpPr>
        <p:spPr>
          <a:xfrm>
            <a:off x="618533" y="1671490"/>
            <a:ext cx="8830265" cy="1077216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r>
              <a:rPr lang="en-GB" sz="1600" b="1" dirty="0">
                <a:latin typeface="Barlow" panose="00000800000000000000" pitchFamily="2" charset="0"/>
              </a:rPr>
              <a:t>What is your MVP</a:t>
            </a:r>
            <a:br>
              <a:rPr lang="en-GB" sz="1600" b="1" dirty="0">
                <a:latin typeface="Barlow" panose="00000800000000000000" pitchFamily="2" charset="0"/>
              </a:rPr>
            </a:br>
            <a:r>
              <a:rPr lang="en-US" sz="1600" dirty="0"/>
              <a:t>A smart robotic system that uses machine learning to track student activities, logging precise entry and exit times. It simulates human-like eye movements to enhance interaction, aiming to improve classroom attendance and activity management.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F1A852-0296-784A-8B55-666EC2213AD5}"/>
              </a:ext>
            </a:extLst>
          </p:cNvPr>
          <p:cNvSpPr txBox="1"/>
          <p:nvPr/>
        </p:nvSpPr>
        <p:spPr>
          <a:xfrm>
            <a:off x="708404" y="5423538"/>
            <a:ext cx="4246673" cy="338552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r>
              <a:rPr lang="en-GB" sz="1600" b="1" dirty="0">
                <a:latin typeface="Barlow" panose="00000800000000000000" pitchFamily="2" charset="0"/>
              </a:rPr>
              <a:t>Did enough customers buy? Why or why not?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9D8FFA-C619-0B4F-92CF-D27367E4FAE7}"/>
              </a:ext>
            </a:extLst>
          </p:cNvPr>
          <p:cNvSpPr txBox="1"/>
          <p:nvPr/>
        </p:nvSpPr>
        <p:spPr>
          <a:xfrm>
            <a:off x="763522" y="6355788"/>
            <a:ext cx="5609226" cy="338552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r>
              <a:rPr lang="en-GB" sz="1600" b="1" dirty="0">
                <a:latin typeface="Barlow" panose="00000800000000000000" pitchFamily="2" charset="0"/>
              </a:rPr>
              <a:t>Did customers pay the price we expected? Why or why not?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EDA9B1-7A7D-DC46-85AD-020525D3F1D1}"/>
              </a:ext>
            </a:extLst>
          </p:cNvPr>
          <p:cNvSpPr txBox="1"/>
          <p:nvPr/>
        </p:nvSpPr>
        <p:spPr>
          <a:xfrm>
            <a:off x="708407" y="7294895"/>
            <a:ext cx="7222042" cy="584773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r>
              <a:rPr lang="en-GB" sz="1600" b="1" dirty="0">
                <a:latin typeface="Barlow" panose="00000800000000000000" pitchFamily="2" charset="0"/>
              </a:rPr>
              <a:t>Did customers come back to our product or show interest in doing so? Why or why not?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6141DC-819C-2A45-B9F6-A119949D60F3}"/>
              </a:ext>
            </a:extLst>
          </p:cNvPr>
          <p:cNvSpPr txBox="1"/>
          <p:nvPr/>
        </p:nvSpPr>
        <p:spPr>
          <a:xfrm>
            <a:off x="652488" y="8865770"/>
            <a:ext cx="6321324" cy="584773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r>
              <a:rPr lang="en-GB" sz="1600" b="1" dirty="0">
                <a:latin typeface="Barlow" panose="00000800000000000000" pitchFamily="2" charset="0"/>
              </a:rPr>
              <a:t>Did customers recommend our product to others or evangelize about it? Why or why not? </a:t>
            </a:r>
          </a:p>
        </p:txBody>
      </p:sp>
      <p:cxnSp>
        <p:nvCxnSpPr>
          <p:cNvPr id="31" name="Straight Connector 30"/>
          <p:cNvCxnSpPr/>
          <p:nvPr/>
        </p:nvCxnSpPr>
        <p:spPr>
          <a:xfrm flipV="1">
            <a:off x="714915" y="4762500"/>
            <a:ext cx="164341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airam 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6700"/>
            <a:ext cx="2626360" cy="838200"/>
          </a:xfrm>
          <a:prstGeom prst="rect">
            <a:avLst/>
          </a:prstGeom>
        </p:spPr>
      </p:pic>
      <p:pic>
        <p:nvPicPr>
          <p:cNvPr id="9" name="Picture 8" descr="Sairam innovation 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9603" y="266700"/>
            <a:ext cx="2132350" cy="838200"/>
          </a:xfrm>
          <a:prstGeom prst="rect">
            <a:avLst/>
          </a:prstGeom>
        </p:spPr>
      </p:pic>
      <p:pic>
        <p:nvPicPr>
          <p:cNvPr id="10" name="Picture 9" descr="Chairman sir 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8800" y="9182102"/>
            <a:ext cx="876300" cy="886733"/>
          </a:xfrm>
          <a:prstGeom prst="rect">
            <a:avLst/>
          </a:prstGeom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id="{81596FE8-134B-42C6-AEA2-AA21D93A48CC}"/>
              </a:ext>
            </a:extLst>
          </p:cNvPr>
          <p:cNvSpPr txBox="1">
            <a:spLocks/>
          </p:cNvSpPr>
          <p:nvPr/>
        </p:nvSpPr>
        <p:spPr>
          <a:xfrm>
            <a:off x="2971800" y="190504"/>
            <a:ext cx="12801600" cy="1266401"/>
          </a:xfrm>
          <a:prstGeom prst="rect">
            <a:avLst/>
          </a:prstGeom>
        </p:spPr>
        <p:txBody>
          <a:bodyPr vert="horz" lIns="137160" tIns="68580" rIns="137160" bIns="6858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000" dirty="0">
                <a:solidFill>
                  <a:prstClr val="black"/>
                </a:solidFill>
                <a:latin typeface="Raleway"/>
              </a:rPr>
              <a:t>  </a:t>
            </a:r>
            <a:r>
              <a:rPr lang="en-GB" sz="6100" dirty="0">
                <a:solidFill>
                  <a:srgbClr val="C00000"/>
                </a:solidFill>
                <a:latin typeface="Antonio Bold"/>
                <a:ea typeface="+mn-ea"/>
                <a:cs typeface="+mn-cs"/>
              </a:rPr>
              <a:t>Sales Plan</a:t>
            </a:r>
            <a:endParaRPr lang="en-US" sz="6100" dirty="0">
              <a:solidFill>
                <a:srgbClr val="C00000"/>
              </a:solidFill>
              <a:latin typeface="Antonio Bold"/>
              <a:ea typeface="+mn-ea"/>
              <a:cs typeface="+mn-cs"/>
            </a:endParaRPr>
          </a:p>
        </p:txBody>
      </p:sp>
      <p:graphicFrame>
        <p:nvGraphicFramePr>
          <p:cNvPr id="7" name="Diagramm 2">
            <a:extLst>
              <a:ext uri="{FF2B5EF4-FFF2-40B4-BE49-F238E27FC236}">
                <a16:creationId xmlns:a16="http://schemas.microsoft.com/office/drawing/2014/main" id="{09669046-E64D-4AF8-AD3D-185A4A11FFD5}"/>
              </a:ext>
            </a:extLst>
          </p:cNvPr>
          <p:cNvGraphicFramePr/>
          <p:nvPr/>
        </p:nvGraphicFramePr>
        <p:xfrm>
          <a:off x="202374" y="2924770"/>
          <a:ext cx="5665028" cy="60479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1" name="Rectangle 10"/>
          <p:cNvSpPr/>
          <p:nvPr/>
        </p:nvSpPr>
        <p:spPr>
          <a:xfrm>
            <a:off x="914400" y="1866900"/>
            <a:ext cx="4022253" cy="507829"/>
          </a:xfrm>
          <a:prstGeom prst="rect">
            <a:avLst/>
          </a:prstGeom>
        </p:spPr>
        <p:txBody>
          <a:bodyPr wrap="none" lIns="91439" tIns="45719" rIns="91439" bIns="45719">
            <a:spAutoFit/>
          </a:bodyPr>
          <a:lstStyle/>
          <a:p>
            <a:r>
              <a:rPr lang="en-GB" sz="2700" b="1" dirty="0">
                <a:solidFill>
                  <a:prstClr val="black"/>
                </a:solidFill>
                <a:latin typeface="Raleway"/>
              </a:rPr>
              <a:t>Customer Sales Funnel</a:t>
            </a:r>
            <a:endParaRPr lang="en-US" sz="2700" b="1" dirty="0">
              <a:solidFill>
                <a:prstClr val="black"/>
              </a:solidFill>
              <a:latin typeface="Raleway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867400" y="2924768"/>
          <a:ext cx="12085636" cy="5884578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2288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7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34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93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472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26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IN" sz="2700" b="1" dirty="0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2</a:t>
                      </a:r>
                      <a:endParaRPr lang="en-IN" sz="2700" b="1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3</a:t>
                      </a:r>
                      <a:endParaRPr lang="en-IN" sz="2700" b="1" dirty="0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4</a:t>
                      </a:r>
                      <a:endParaRPr lang="en-IN" sz="2700" b="1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5</a:t>
                      </a:r>
                      <a:endParaRPr lang="en-IN" sz="2700" b="1" dirty="0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rgbClr val="FF9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0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Target Customer Segment (Type)</a:t>
                      </a:r>
                      <a:endParaRPr lang="en-IN" sz="2700" b="1" dirty="0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Target Customer Segment  (Number)</a:t>
                      </a:r>
                      <a:endParaRPr lang="en-IN" sz="2700" b="1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Channels to be used to attract the target customer segment</a:t>
                      </a:r>
                      <a:endParaRPr lang="en-IN" sz="2700" b="1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Estimated number of leads</a:t>
                      </a:r>
                      <a:endParaRPr lang="en-IN" sz="2700" b="1" dirty="0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Estimated cost to convert these leads to actual customers</a:t>
                      </a:r>
                      <a:endParaRPr lang="en-IN" sz="2700" b="1" dirty="0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rgbClr val="FF9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9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 </a:t>
                      </a:r>
                      <a:endParaRPr lang="en-IN" sz="2700" b="1" dirty="0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 </a:t>
                      </a:r>
                      <a:endParaRPr lang="en-IN" sz="2700" b="1" dirty="0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 </a:t>
                      </a:r>
                      <a:endParaRPr lang="en-IN" sz="2700" b="1" dirty="0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IN" sz="2700" b="1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IN" sz="2700" b="1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9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IN" sz="2700" b="1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IN" sz="2700" b="1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 </a:t>
                      </a:r>
                      <a:endParaRPr lang="en-IN" sz="2700" b="1" dirty="0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 </a:t>
                      </a:r>
                      <a:endParaRPr lang="en-IN" sz="2700" b="1" dirty="0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IN" sz="2700" b="1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9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IN" sz="2700" b="1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IN" sz="2700" b="1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IN" sz="2700" b="1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 </a:t>
                      </a:r>
                      <a:endParaRPr lang="en-IN" sz="2700" b="1" dirty="0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IN" sz="2700" b="1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9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IN" sz="2700" b="1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IN" sz="2700" b="1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IN" sz="2700" b="1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IN" sz="2700" b="1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 </a:t>
                      </a:r>
                      <a:endParaRPr lang="en-IN" sz="2700" b="1" dirty="0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9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IN" sz="2700" b="1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IN" sz="2700" b="1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IN" sz="2700" b="1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IN" sz="2700" b="1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 </a:t>
                      </a:r>
                      <a:endParaRPr lang="en-IN" sz="2700" b="1" dirty="0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9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IN" sz="2700" b="1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IN" sz="2700" b="1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IN" sz="2700" b="1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IN" sz="2700" b="1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 </a:t>
                      </a:r>
                      <a:endParaRPr lang="en-IN" sz="2700" b="1" dirty="0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09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IN" sz="2700" b="1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IN" sz="2700" b="1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 </a:t>
                      </a:r>
                      <a:endParaRPr lang="en-IN" sz="2700" b="1" dirty="0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IN" sz="2700" b="1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 </a:t>
                      </a:r>
                      <a:endParaRPr lang="en-IN" sz="2700" b="1" dirty="0">
                        <a:solidFill>
                          <a:srgbClr val="2D498D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102866" marR="10286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9372603" y="2124366"/>
            <a:ext cx="4560862" cy="507829"/>
          </a:xfrm>
          <a:prstGeom prst="rect">
            <a:avLst/>
          </a:prstGeom>
        </p:spPr>
        <p:txBody>
          <a:bodyPr wrap="none" lIns="91439" tIns="45719" rIns="91439" bIns="45719">
            <a:spAutoFit/>
          </a:bodyPr>
          <a:lstStyle/>
          <a:p>
            <a:r>
              <a:rPr lang="en-GB" sz="2700" b="1" dirty="0">
                <a:solidFill>
                  <a:prstClr val="black"/>
                </a:solidFill>
                <a:latin typeface="Raleway"/>
              </a:rPr>
              <a:t>Customer Acquisition Plan</a:t>
            </a:r>
            <a:endParaRPr lang="en-US" sz="2700" b="1" dirty="0">
              <a:solidFill>
                <a:prstClr val="black"/>
              </a:solidFill>
              <a:latin typeface="Raleway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943601" y="9105902"/>
            <a:ext cx="7365558" cy="784828"/>
          </a:xfrm>
          <a:prstGeom prst="rect">
            <a:avLst/>
          </a:prstGeom>
          <a:solidFill>
            <a:srgbClr val="FFC000"/>
          </a:solidFill>
        </p:spPr>
        <p:txBody>
          <a:bodyPr wrap="square" lIns="91439" tIns="45719" rIns="91439" bIns="45719">
            <a:spAutoFit/>
          </a:bodyPr>
          <a:lstStyle/>
          <a:p>
            <a:r>
              <a:rPr lang="en-GB" sz="27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GB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Ensure that the target market numbers are aligned with market sizing . The sales funnel is for one year </a:t>
            </a:r>
            <a:endParaRPr lang="en-US" b="1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Graphic 27" descr="Target with solid fill">
            <a:extLst>
              <a:ext uri="{FF2B5EF4-FFF2-40B4-BE49-F238E27FC236}">
                <a16:creationId xmlns:a16="http://schemas.microsoft.com/office/drawing/2014/main" id="{0A6ECB55-4CA0-4244-AFAF-47071920EBDB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9105900"/>
            <a:ext cx="655576" cy="50783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airam 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6700"/>
            <a:ext cx="2626360" cy="838200"/>
          </a:xfrm>
          <a:prstGeom prst="rect">
            <a:avLst/>
          </a:prstGeom>
        </p:spPr>
      </p:pic>
      <p:pic>
        <p:nvPicPr>
          <p:cNvPr id="9" name="Picture 8" descr="Sairam innovation 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9603" y="266700"/>
            <a:ext cx="2132350" cy="838200"/>
          </a:xfrm>
          <a:prstGeom prst="rect">
            <a:avLst/>
          </a:prstGeom>
        </p:spPr>
      </p:pic>
      <p:pic>
        <p:nvPicPr>
          <p:cNvPr id="10" name="Picture 9" descr="Chairman sir 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8800" y="9182102"/>
            <a:ext cx="876300" cy="886733"/>
          </a:xfrm>
          <a:prstGeom prst="rect">
            <a:avLst/>
          </a:prstGeom>
        </p:spPr>
      </p:pic>
      <p:sp>
        <p:nvSpPr>
          <p:cNvPr id="7" name="Title 14"/>
          <p:cNvSpPr txBox="1">
            <a:spLocks/>
          </p:cNvSpPr>
          <p:nvPr/>
        </p:nvSpPr>
        <p:spPr>
          <a:xfrm>
            <a:off x="914400" y="478600"/>
            <a:ext cx="15773400" cy="652463"/>
          </a:xfrm>
          <a:prstGeom prst="rect">
            <a:avLst/>
          </a:prstGeom>
          <a:noFill/>
        </p:spPr>
        <p:txBody>
          <a:bodyPr lIns="91439" tIns="45719" rIns="91439" bIns="45719">
            <a:normAutofit fontScale="97500" lnSpcReduction="10000"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900" b="1" dirty="0">
                <a:latin typeface="+mj-lt"/>
                <a:ea typeface="+mj-ea"/>
                <a:cs typeface="+mj-cs"/>
              </a:rPr>
              <a:t>Go-to-Market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71811"/>
            <a:ext cx="16357600" cy="6740305"/>
          </a:xfrm>
          <a:prstGeom prst="rect">
            <a:avLst/>
          </a:prstGeom>
          <a:noFill/>
        </p:spPr>
        <p:txBody>
          <a:bodyPr wrap="square" lIns="91439" tIns="45719" rIns="91439" bIns="45719" rtlCol="0" anchor="t">
            <a:spAutoFit/>
          </a:bodyPr>
          <a:lstStyle/>
          <a:p>
            <a:pPr marL="685789" indent="-685789">
              <a:buFont typeface="Arial" panose="020B0604020202020204" pitchFamily="34" charset="0"/>
              <a:buChar char="•"/>
            </a:pPr>
            <a:r>
              <a:rPr lang="en-US" sz="3600" i="1" dirty="0"/>
              <a:t>Ensure that you have active social media presence on </a:t>
            </a:r>
            <a:r>
              <a:rPr lang="en-US" sz="3600" b="1" i="1" dirty="0"/>
              <a:t>multiple platforms</a:t>
            </a:r>
            <a:r>
              <a:rPr lang="en-US" sz="3600" i="1" dirty="0"/>
              <a:t> – Facebook, LinkedIn, Instagram, Twitter, and others.</a:t>
            </a:r>
            <a:endParaRPr lang="en-US" sz="3600" i="1" dirty="0">
              <a:cs typeface="Calibri"/>
            </a:endParaRPr>
          </a:p>
          <a:p>
            <a:pPr marL="685789" indent="-685789">
              <a:buFont typeface="Arial" panose="020B0604020202020204" pitchFamily="34" charset="0"/>
              <a:buChar char="•"/>
            </a:pPr>
            <a:r>
              <a:rPr lang="en-US" sz="3600" i="1" dirty="0"/>
              <a:t>Show your </a:t>
            </a:r>
            <a:r>
              <a:rPr lang="en-US" sz="3600" b="1" i="1" dirty="0"/>
              <a:t>branding video</a:t>
            </a:r>
            <a:r>
              <a:rPr lang="en-US" sz="3600" i="1" dirty="0"/>
              <a:t>. Ensure that it:</a:t>
            </a:r>
          </a:p>
          <a:p>
            <a:pPr marL="1717013" lvl="1" indent="-685789">
              <a:buFont typeface="Arial" panose="020B0604020202020204" pitchFamily="34" charset="0"/>
              <a:buChar char="•"/>
            </a:pPr>
            <a:r>
              <a:rPr lang="en-US" sz="3600" i="1" dirty="0"/>
              <a:t>Is </a:t>
            </a:r>
            <a:r>
              <a:rPr lang="en-US" sz="3600" b="1" i="1" dirty="0"/>
              <a:t>crisp and engaging</a:t>
            </a:r>
            <a:endParaRPr lang="en-US" sz="3600" b="1" i="1" dirty="0">
              <a:cs typeface="Calibri" panose="020F0502020204030204"/>
            </a:endParaRPr>
          </a:p>
          <a:p>
            <a:pPr marL="1717013" lvl="1" indent="-685789">
              <a:buFont typeface="Arial" panose="020B0604020202020204" pitchFamily="34" charset="0"/>
              <a:buChar char="•"/>
            </a:pPr>
            <a:r>
              <a:rPr lang="en-US" sz="3600" i="1" dirty="0"/>
              <a:t>Clearly explains the brand, the venture, its target customers, and unique value proposition.</a:t>
            </a:r>
            <a:endParaRPr lang="en-US" sz="3600" i="1" dirty="0">
              <a:cs typeface="Calibri" panose="020F0502020204030204"/>
            </a:endParaRPr>
          </a:p>
          <a:p>
            <a:pPr marL="685789" indent="-685789">
              <a:buFont typeface="Arial" panose="020B0604020202020204" pitchFamily="34" charset="0"/>
              <a:buChar char="•"/>
            </a:pPr>
            <a:r>
              <a:rPr lang="en-US" sz="3600" i="1" dirty="0"/>
              <a:t>Show your </a:t>
            </a:r>
            <a:r>
              <a:rPr lang="en-US" sz="3600" b="1" i="1" dirty="0"/>
              <a:t>Positioning Statement</a:t>
            </a:r>
            <a:r>
              <a:rPr lang="en-US" sz="3600" i="1" dirty="0"/>
              <a:t>. Ensure that it </a:t>
            </a:r>
            <a:r>
              <a:rPr lang="en-US" sz="3600" b="1" i="1" dirty="0"/>
              <a:t>clearly states </a:t>
            </a:r>
            <a:r>
              <a:rPr lang="en-US" sz="3600" i="1" dirty="0"/>
              <a:t>what your product is and what value it brings to the customer</a:t>
            </a:r>
          </a:p>
          <a:p>
            <a:pPr marL="685789" indent="-685789">
              <a:buFont typeface="Arial,Sans-Serif" panose="020B0604020202020204" pitchFamily="34" charset="0"/>
              <a:buChar char="•"/>
            </a:pPr>
            <a:r>
              <a:rPr lang="en-US" sz="3600" i="1" dirty="0">
                <a:cs typeface="Calibri" panose="020F0502020204030204"/>
              </a:rPr>
              <a:t>Action plan to reach your sales/customer target for the next one year. </a:t>
            </a:r>
            <a:endParaRPr lang="en-US" sz="3600" dirty="0">
              <a:ea typeface="+mn-lt"/>
              <a:cs typeface="+mn-lt"/>
            </a:endParaRPr>
          </a:p>
          <a:p>
            <a:pPr marL="685789" indent="-685789">
              <a:buFont typeface="Arial,Sans-Serif" panose="020B0604020202020204" pitchFamily="34" charset="0"/>
              <a:buChar char="•"/>
            </a:pPr>
            <a:r>
              <a:rPr lang="en-US" sz="3600" i="1" dirty="0">
                <a:ea typeface="+mn-lt"/>
                <a:cs typeface="+mn-lt"/>
              </a:rPr>
              <a:t>Show your Sales &amp; Distribution model, clearly listing down your channels for both sales and distribution.</a:t>
            </a:r>
            <a:endParaRPr lang="en-US" sz="3600" dirty="0">
              <a:ea typeface="+mn-lt"/>
              <a:cs typeface="+mn-lt"/>
            </a:endParaRPr>
          </a:p>
          <a:p>
            <a:pPr marL="685789" indent="-685789">
              <a:buFont typeface="Arial" panose="020B0604020202020204" pitchFamily="34" charset="0"/>
              <a:buChar char="•"/>
            </a:pPr>
            <a:endParaRPr lang="en-US" sz="3600" i="1" dirty="0">
              <a:cs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20116" y="8298705"/>
            <a:ext cx="15463008" cy="1077216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Note: </a:t>
            </a:r>
            <a:r>
              <a:rPr lang="en-US" sz="3200" dirty="0"/>
              <a:t>You may use any other template of your choice to pitch for your venture as long as you cover all information being sought here.</a:t>
            </a:r>
            <a:endParaRPr lang="en-IN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airam 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6700"/>
            <a:ext cx="2626360" cy="838200"/>
          </a:xfrm>
          <a:prstGeom prst="rect">
            <a:avLst/>
          </a:prstGeom>
        </p:spPr>
      </p:pic>
      <p:pic>
        <p:nvPicPr>
          <p:cNvPr id="9" name="Picture 8" descr="Sairam innovation 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9603" y="266700"/>
            <a:ext cx="2132350" cy="838200"/>
          </a:xfrm>
          <a:prstGeom prst="rect">
            <a:avLst/>
          </a:prstGeom>
        </p:spPr>
      </p:pic>
      <p:pic>
        <p:nvPicPr>
          <p:cNvPr id="10" name="Picture 9" descr="Chairman sir 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8800" y="9182102"/>
            <a:ext cx="876300" cy="88673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DE34494-019C-4AF1-907B-33245967C575}"/>
              </a:ext>
            </a:extLst>
          </p:cNvPr>
          <p:cNvSpPr/>
          <p:nvPr/>
        </p:nvSpPr>
        <p:spPr>
          <a:xfrm>
            <a:off x="16002003" y="1431773"/>
            <a:ext cx="1695222" cy="1288685"/>
          </a:xfrm>
          <a:prstGeom prst="rect">
            <a:avLst/>
          </a:prstGeom>
          <a:noFill/>
          <a:ln>
            <a:solidFill>
              <a:schemeClr val="accent6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algn="ctr"/>
            <a:endParaRPr lang="en-ZA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7D10F2-D825-4F14-8721-CF5105D60893}"/>
              </a:ext>
            </a:extLst>
          </p:cNvPr>
          <p:cNvSpPr txBox="1"/>
          <p:nvPr/>
        </p:nvSpPr>
        <p:spPr>
          <a:xfrm>
            <a:off x="16197769" y="1832592"/>
            <a:ext cx="1422954" cy="623246"/>
          </a:xfrm>
          <a:prstGeom prst="rect">
            <a:avLst/>
          </a:prstGeom>
          <a:noFill/>
        </p:spPr>
        <p:txBody>
          <a:bodyPr wrap="square" lIns="68580" tIns="34289" rIns="68580" bIns="34289" rtlCol="0" anchor="t">
            <a:spAutoFit/>
          </a:bodyPr>
          <a:lstStyle/>
          <a:p>
            <a:pPr algn="ctr"/>
            <a:r>
              <a:rPr lang="en-US" b="1" dirty="0"/>
              <a:t>Place your logo here</a:t>
            </a:r>
            <a:endParaRPr lang="en-ZA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066800" y="1485900"/>
            <a:ext cx="5675840" cy="507829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defTabSz="685789"/>
            <a:r>
              <a:rPr lang="en-US" sz="2700" b="1" dirty="0">
                <a:solidFill>
                  <a:prstClr val="black">
                    <a:lumMod val="85000"/>
                    <a:lumOff val="15000"/>
                  </a:prstClr>
                </a:solidFill>
                <a:latin typeface="Montserrat"/>
              </a:rPr>
              <a:t>Start-up Costs 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3" y="2247900"/>
            <a:ext cx="9628570" cy="71628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1353800" y="7124700"/>
            <a:ext cx="6266920" cy="17543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lIns="91439" tIns="45719" rIns="91439" bIns="45719">
            <a:spAutoFit/>
          </a:bodyPr>
          <a:lstStyle/>
          <a:p>
            <a:r>
              <a:rPr lang="en-US" dirty="0"/>
              <a:t>Explanation: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2971800" y="266702"/>
            <a:ext cx="12725400" cy="784828"/>
          </a:xfrm>
          <a:prstGeom prst="rect">
            <a:avLst/>
          </a:prstGeom>
        </p:spPr>
        <p:txBody>
          <a:bodyPr wrap="square" lIns="91439" tIns="45719" rIns="91439" bIns="45719">
            <a:spAutoFit/>
          </a:bodyPr>
          <a:lstStyle/>
          <a:p>
            <a:pPr algn="ctr"/>
            <a:r>
              <a:rPr lang="en-US" sz="4500" dirty="0">
                <a:solidFill>
                  <a:srgbClr val="C00000"/>
                </a:solidFill>
                <a:latin typeface="Antonio Bold"/>
              </a:rPr>
              <a:t>FINANCIAL PLAN</a:t>
            </a:r>
            <a:endParaRPr lang="en-US" dirty="0">
              <a:solidFill>
                <a:srgbClr val="C00000"/>
              </a:solidFill>
              <a:latin typeface="Antonio 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airam 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6700"/>
            <a:ext cx="2626360" cy="838200"/>
          </a:xfrm>
          <a:prstGeom prst="rect">
            <a:avLst/>
          </a:prstGeom>
        </p:spPr>
      </p:pic>
      <p:pic>
        <p:nvPicPr>
          <p:cNvPr id="9" name="Picture 8" descr="Sairam innovation 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9603" y="266700"/>
            <a:ext cx="2132350" cy="838200"/>
          </a:xfrm>
          <a:prstGeom prst="rect">
            <a:avLst/>
          </a:prstGeom>
        </p:spPr>
      </p:pic>
      <p:pic>
        <p:nvPicPr>
          <p:cNvPr id="10" name="Picture 9" descr="Chairman sir 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8800" y="9182102"/>
            <a:ext cx="876300" cy="8867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71800" y="266704"/>
            <a:ext cx="12801600" cy="646329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algn="ctr" defTabSz="685789"/>
            <a:r>
              <a:rPr lang="en-US" sz="3600" b="1" dirty="0">
                <a:solidFill>
                  <a:prstClr val="black">
                    <a:lumMod val="85000"/>
                    <a:lumOff val="15000"/>
                  </a:prstClr>
                </a:solidFill>
                <a:latin typeface="Montserrat"/>
              </a:rPr>
              <a:t>Forecast P&amp;L 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573720EA-0071-578A-342E-E42E5464A74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52463" y="1228724"/>
            <a:ext cx="15757466" cy="7460849"/>
            <a:chOff x="411" y="774"/>
            <a:chExt cx="9872" cy="4649"/>
          </a:xfrm>
        </p:grpSpPr>
        <p:sp>
          <p:nvSpPr>
            <p:cNvPr id="3" name="AutoShape 3">
              <a:extLst>
                <a:ext uri="{FF2B5EF4-FFF2-40B4-BE49-F238E27FC236}">
                  <a16:creationId xmlns:a16="http://schemas.microsoft.com/office/drawing/2014/main" id="{B42D9BC6-2CCA-F2BB-1990-9E2B7563FC8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11" y="774"/>
              <a:ext cx="9330" cy="45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grpSp>
          <p:nvGrpSpPr>
            <p:cNvPr id="4" name="Group 205">
              <a:extLst>
                <a:ext uri="{FF2B5EF4-FFF2-40B4-BE49-F238E27FC236}">
                  <a16:creationId xmlns:a16="http://schemas.microsoft.com/office/drawing/2014/main" id="{1B056598-158D-FD7E-8384-E2DCBCE345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1" y="774"/>
              <a:ext cx="9872" cy="4098"/>
              <a:chOff x="411" y="774"/>
              <a:chExt cx="9872" cy="4098"/>
            </a:xfrm>
          </p:grpSpPr>
          <p:sp>
            <p:nvSpPr>
              <p:cNvPr id="544" name="Rectangle 5">
                <a:extLst>
                  <a:ext uri="{FF2B5EF4-FFF2-40B4-BE49-F238E27FC236}">
                    <a16:creationId xmlns:a16="http://schemas.microsoft.com/office/drawing/2014/main" id="{01F01893-9F33-E309-BB8C-EDA7110253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" y="774"/>
                <a:ext cx="8840" cy="2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5" name="Rectangle 6">
                <a:extLst>
                  <a:ext uri="{FF2B5EF4-FFF2-40B4-BE49-F238E27FC236}">
                    <a16:creationId xmlns:a16="http://schemas.microsoft.com/office/drawing/2014/main" id="{46F8AF96-73FF-45CA-9784-C72B540742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45" y="774"/>
                <a:ext cx="1038" cy="202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6" name="Rectangle 7">
                <a:extLst>
                  <a:ext uri="{FF2B5EF4-FFF2-40B4-BE49-F238E27FC236}">
                    <a16:creationId xmlns:a16="http://schemas.microsoft.com/office/drawing/2014/main" id="{6035C3D3-40FF-9E5F-C789-06CC3D57E1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" y="968"/>
                <a:ext cx="8840" cy="70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7" name="Rectangle 8">
                <a:extLst>
                  <a:ext uri="{FF2B5EF4-FFF2-40B4-BE49-F238E27FC236}">
                    <a16:creationId xmlns:a16="http://schemas.microsoft.com/office/drawing/2014/main" id="{ED08E880-1DA1-2901-2CC4-0ADCEAACD2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45" y="968"/>
                <a:ext cx="1038" cy="70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8" name="Rectangle 9">
                <a:extLst>
                  <a:ext uri="{FF2B5EF4-FFF2-40B4-BE49-F238E27FC236}">
                    <a16:creationId xmlns:a16="http://schemas.microsoft.com/office/drawing/2014/main" id="{C6BC0C3C-04A2-FC0F-A77E-133CD06F1F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" y="1031"/>
                <a:ext cx="1380" cy="140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9" name="Rectangle 10">
                <a:extLst>
                  <a:ext uri="{FF2B5EF4-FFF2-40B4-BE49-F238E27FC236}">
                    <a16:creationId xmlns:a16="http://schemas.microsoft.com/office/drawing/2014/main" id="{88848B09-7BEE-7D9E-F981-8F189290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4" y="1031"/>
                <a:ext cx="7467" cy="140"/>
              </a:xfrm>
              <a:prstGeom prst="rect">
                <a:avLst/>
              </a:prstGeom>
              <a:solidFill>
                <a:srgbClr val="FF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0" name="Rectangle 11">
                <a:extLst>
                  <a:ext uri="{FF2B5EF4-FFF2-40B4-BE49-F238E27FC236}">
                    <a16:creationId xmlns:a16="http://schemas.microsoft.com/office/drawing/2014/main" id="{5C778A44-C0E9-1F82-7D13-2139F9809E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45" y="1031"/>
                <a:ext cx="1038" cy="140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1" name="Rectangle 12">
                <a:extLst>
                  <a:ext uri="{FF2B5EF4-FFF2-40B4-BE49-F238E27FC236}">
                    <a16:creationId xmlns:a16="http://schemas.microsoft.com/office/drawing/2014/main" id="{68213DEC-DEE2-AD39-B1A9-14898ED7F7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" y="1163"/>
                <a:ext cx="8840" cy="25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2" name="Rectangle 13">
                <a:extLst>
                  <a:ext uri="{FF2B5EF4-FFF2-40B4-BE49-F238E27FC236}">
                    <a16:creationId xmlns:a16="http://schemas.microsoft.com/office/drawing/2014/main" id="{C798A7F8-7533-8078-BBC7-A3AD43A9C3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45" y="1163"/>
                <a:ext cx="1038" cy="256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3" name="Rectangle 14">
                <a:extLst>
                  <a:ext uri="{FF2B5EF4-FFF2-40B4-BE49-F238E27FC236}">
                    <a16:creationId xmlns:a16="http://schemas.microsoft.com/office/drawing/2014/main" id="{DC686742-6CF6-1A8F-73C7-DEBC236699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" y="1412"/>
                <a:ext cx="1380" cy="544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4" name="Rectangle 15">
                <a:extLst>
                  <a:ext uri="{FF2B5EF4-FFF2-40B4-BE49-F238E27FC236}">
                    <a16:creationId xmlns:a16="http://schemas.microsoft.com/office/drawing/2014/main" id="{D859CA49-6A5D-EBCC-F9D8-B2EC64497F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3" y="1409"/>
                <a:ext cx="7003" cy="544"/>
              </a:xfrm>
              <a:prstGeom prst="rect">
                <a:avLst/>
              </a:prstGeom>
              <a:solidFill>
                <a:srgbClr val="F89E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IN" sz="1200" dirty="0"/>
                  <a:t>₹ </a:t>
                </a:r>
                <a:r>
                  <a:rPr lang="en-IN" sz="1300" dirty="0"/>
                  <a:t>51,00,000	₹25,50,000    ₹ 51,00,000   ₹ 25,50,000   </a:t>
                </a:r>
                <a:r>
                  <a:rPr lang="en-IN" sz="1200" dirty="0"/>
                  <a:t>₹ </a:t>
                </a:r>
                <a:r>
                  <a:rPr lang="en-IN" sz="1300" dirty="0"/>
                  <a:t>51,00,000 	</a:t>
                </a:r>
                <a:r>
                  <a:rPr lang="en-IN" sz="1200" dirty="0"/>
                  <a:t> ₹ </a:t>
                </a:r>
                <a:r>
                  <a:rPr lang="en-IN" sz="1300" dirty="0"/>
                  <a:t>25,50,000	</a:t>
                </a:r>
                <a:r>
                  <a:rPr lang="en-IN" sz="1200" dirty="0"/>
                  <a:t> ₹ </a:t>
                </a:r>
                <a:r>
                  <a:rPr lang="en-IN" sz="1300" dirty="0"/>
                  <a:t>51,00,000 	</a:t>
                </a:r>
                <a:r>
                  <a:rPr lang="en-IN" sz="1200" dirty="0"/>
                  <a:t> ₹ </a:t>
                </a:r>
                <a:r>
                  <a:rPr lang="en-IN" sz="1300" dirty="0"/>
                  <a:t>25,50,000	</a:t>
                </a:r>
                <a:r>
                  <a:rPr lang="en-IN" sz="1200" dirty="0"/>
                  <a:t> ₹ </a:t>
                </a:r>
                <a:r>
                  <a:rPr lang="en-IN" sz="1300" dirty="0"/>
                  <a:t>51,00,000	</a:t>
                </a:r>
                <a:r>
                  <a:rPr lang="en-IN" sz="1200" dirty="0"/>
                  <a:t> ₹ </a:t>
                </a:r>
                <a:r>
                  <a:rPr lang="en-IN" sz="1300" dirty="0"/>
                  <a:t>25,50,000	</a:t>
                </a:r>
                <a:r>
                  <a:rPr lang="en-IN" sz="1200" dirty="0"/>
                  <a:t> ₹ </a:t>
                </a:r>
                <a:r>
                  <a:rPr lang="en-IN" sz="1300" dirty="0"/>
                  <a:t>51,00,000	</a:t>
                </a:r>
                <a:r>
                  <a:rPr lang="en-IN" sz="1200" dirty="0"/>
                  <a:t> ₹ </a:t>
                </a:r>
                <a:r>
                  <a:rPr lang="en-IN" sz="1300" dirty="0"/>
                  <a:t>25,50,000</a:t>
                </a:r>
                <a:br>
                  <a:rPr lang="en-IN" sz="1300" dirty="0"/>
                </a:br>
                <a:br>
                  <a:rPr lang="en-IN" sz="1100" dirty="0"/>
                </a:br>
                <a:r>
                  <a:rPr lang="en-IN" sz="1300" dirty="0"/>
                  <a:t>2	1	2	1	2	1	2	1	2	1	2	1</a:t>
                </a:r>
              </a:p>
            </p:txBody>
          </p:sp>
          <p:sp>
            <p:nvSpPr>
              <p:cNvPr id="555" name="Rectangle 16">
                <a:extLst>
                  <a:ext uri="{FF2B5EF4-FFF2-40B4-BE49-F238E27FC236}">
                    <a16:creationId xmlns:a16="http://schemas.microsoft.com/office/drawing/2014/main" id="{2D22FF21-C3D5-D6CB-E651-4A691104BF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71" y="1412"/>
                <a:ext cx="580" cy="54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6" name="Rectangle 17">
                <a:extLst>
                  <a:ext uri="{FF2B5EF4-FFF2-40B4-BE49-F238E27FC236}">
                    <a16:creationId xmlns:a16="http://schemas.microsoft.com/office/drawing/2014/main" id="{20C818C3-7014-CD5E-65A4-567A8489E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45" y="1412"/>
                <a:ext cx="1038" cy="544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7" name="Rectangle 18">
                <a:extLst>
                  <a:ext uri="{FF2B5EF4-FFF2-40B4-BE49-F238E27FC236}">
                    <a16:creationId xmlns:a16="http://schemas.microsoft.com/office/drawing/2014/main" id="{41453A6A-15E3-3987-B6DC-DCA5F417D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" y="1948"/>
                <a:ext cx="1380" cy="124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8" name="Rectangle 19">
                <a:extLst>
                  <a:ext uri="{FF2B5EF4-FFF2-40B4-BE49-F238E27FC236}">
                    <a16:creationId xmlns:a16="http://schemas.microsoft.com/office/drawing/2014/main" id="{6513F7DD-50D1-8219-CDBF-9E5E92F167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4" y="1948"/>
                <a:ext cx="7467" cy="124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9" name="Rectangle 20">
                <a:extLst>
                  <a:ext uri="{FF2B5EF4-FFF2-40B4-BE49-F238E27FC236}">
                    <a16:creationId xmlns:a16="http://schemas.microsoft.com/office/drawing/2014/main" id="{DAF0759E-4241-C519-BB3C-50FC10935E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45" y="1948"/>
                <a:ext cx="1038" cy="124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0" name="Rectangle 21">
                <a:extLst>
                  <a:ext uri="{FF2B5EF4-FFF2-40B4-BE49-F238E27FC236}">
                    <a16:creationId xmlns:a16="http://schemas.microsoft.com/office/drawing/2014/main" id="{9AB4AC63-2A9E-9CEF-0F56-579A6D362B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" y="2065"/>
                <a:ext cx="8840" cy="25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1" name="Rectangle 22">
                <a:extLst>
                  <a:ext uri="{FF2B5EF4-FFF2-40B4-BE49-F238E27FC236}">
                    <a16:creationId xmlns:a16="http://schemas.microsoft.com/office/drawing/2014/main" id="{DD85BBB3-7577-A668-C78A-9F332DC837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45" y="2065"/>
                <a:ext cx="1038" cy="256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2" name="Rectangle 23">
                <a:extLst>
                  <a:ext uri="{FF2B5EF4-FFF2-40B4-BE49-F238E27FC236}">
                    <a16:creationId xmlns:a16="http://schemas.microsoft.com/office/drawing/2014/main" id="{375669A0-CDC1-4BCB-420F-6168B40EB2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" y="2313"/>
                <a:ext cx="1380" cy="187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3" name="Rectangle 24">
                <a:extLst>
                  <a:ext uri="{FF2B5EF4-FFF2-40B4-BE49-F238E27FC236}">
                    <a16:creationId xmlns:a16="http://schemas.microsoft.com/office/drawing/2014/main" id="{F9069975-BFBE-FB78-8FF9-D79AF758F7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4" y="2313"/>
                <a:ext cx="7241" cy="187"/>
              </a:xfrm>
              <a:prstGeom prst="rect">
                <a:avLst/>
              </a:prstGeom>
              <a:solidFill>
                <a:srgbClr val="F89E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IN" sz="1400" dirty="0"/>
                  <a:t>2,50,000 	2,50,000	  2,50,000  	 2,50,000	  2,50,000 	 2,50,000  	2,50,000	  2,50,000 	2,50,000  	 2,50,000 	 2,50,000 	 2,50,000</a:t>
                </a:r>
              </a:p>
            </p:txBody>
          </p:sp>
          <p:sp>
            <p:nvSpPr>
              <p:cNvPr id="564" name="Rectangle 25">
                <a:extLst>
                  <a:ext uri="{FF2B5EF4-FFF2-40B4-BE49-F238E27FC236}">
                    <a16:creationId xmlns:a16="http://schemas.microsoft.com/office/drawing/2014/main" id="{FE39FD3E-EFE3-4042-540E-FC1D5F29FA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71" y="2313"/>
                <a:ext cx="580" cy="187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5" name="Rectangle 26">
                <a:extLst>
                  <a:ext uri="{FF2B5EF4-FFF2-40B4-BE49-F238E27FC236}">
                    <a16:creationId xmlns:a16="http://schemas.microsoft.com/office/drawing/2014/main" id="{7515C140-CFC8-B34A-A5EE-26CFF38E60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45" y="2313"/>
                <a:ext cx="1038" cy="187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6" name="Rectangle 27">
                <a:extLst>
                  <a:ext uri="{FF2B5EF4-FFF2-40B4-BE49-F238E27FC236}">
                    <a16:creationId xmlns:a16="http://schemas.microsoft.com/office/drawing/2014/main" id="{DC7C9565-5B09-50A6-75A8-8FAD3EB5B2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" y="2492"/>
                <a:ext cx="1380" cy="124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7" name="Rectangle 28">
                <a:extLst>
                  <a:ext uri="{FF2B5EF4-FFF2-40B4-BE49-F238E27FC236}">
                    <a16:creationId xmlns:a16="http://schemas.microsoft.com/office/drawing/2014/main" id="{53BEED6E-279B-3E99-4960-F59D8F2071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4" y="2492"/>
                <a:ext cx="7467" cy="124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dirty="0"/>
              </a:p>
            </p:txBody>
          </p:sp>
          <p:sp>
            <p:nvSpPr>
              <p:cNvPr id="568" name="Rectangle 29">
                <a:extLst>
                  <a:ext uri="{FF2B5EF4-FFF2-40B4-BE49-F238E27FC236}">
                    <a16:creationId xmlns:a16="http://schemas.microsoft.com/office/drawing/2014/main" id="{4B6EA11D-42AC-70E5-95F5-A5BFE15C42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45" y="2492"/>
                <a:ext cx="1038" cy="124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9" name="Rectangle 30">
                <a:extLst>
                  <a:ext uri="{FF2B5EF4-FFF2-40B4-BE49-F238E27FC236}">
                    <a16:creationId xmlns:a16="http://schemas.microsoft.com/office/drawing/2014/main" id="{7811F12E-0D8C-A822-AA4F-1B97409634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" y="2609"/>
                <a:ext cx="8840" cy="26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0" name="Rectangle 31">
                <a:extLst>
                  <a:ext uri="{FF2B5EF4-FFF2-40B4-BE49-F238E27FC236}">
                    <a16:creationId xmlns:a16="http://schemas.microsoft.com/office/drawing/2014/main" id="{551F6AA7-0599-53E5-CB09-C47C0F04F7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45" y="2609"/>
                <a:ext cx="1038" cy="264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1" name="Rectangle 32">
                <a:extLst>
                  <a:ext uri="{FF2B5EF4-FFF2-40B4-BE49-F238E27FC236}">
                    <a16:creationId xmlns:a16="http://schemas.microsoft.com/office/drawing/2014/main" id="{82DBBC9D-9927-E63A-FCE9-A4FBA11068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" y="2865"/>
                <a:ext cx="1380" cy="156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2" name="Rectangle 33">
                <a:extLst>
                  <a:ext uri="{FF2B5EF4-FFF2-40B4-BE49-F238E27FC236}">
                    <a16:creationId xmlns:a16="http://schemas.microsoft.com/office/drawing/2014/main" id="{E6A1EA17-282E-8B17-DE8B-2DDE65A35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4" y="2865"/>
                <a:ext cx="7467" cy="156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3" name="Rectangle 34">
                <a:extLst>
                  <a:ext uri="{FF2B5EF4-FFF2-40B4-BE49-F238E27FC236}">
                    <a16:creationId xmlns:a16="http://schemas.microsoft.com/office/drawing/2014/main" id="{82DF8FAA-1DD8-4072-2C5C-983D1CF851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45" y="2865"/>
                <a:ext cx="1038" cy="156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4" name="Line 35">
                <a:extLst>
                  <a:ext uri="{FF2B5EF4-FFF2-40B4-BE49-F238E27FC236}">
                    <a16:creationId xmlns:a16="http://schemas.microsoft.com/office/drawing/2014/main" id="{CC24169C-571E-CB74-E866-0F19D5CA0E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1" y="2873"/>
                <a:ext cx="32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5" name="Rectangle 36">
                <a:extLst>
                  <a:ext uri="{FF2B5EF4-FFF2-40B4-BE49-F238E27FC236}">
                    <a16:creationId xmlns:a16="http://schemas.microsoft.com/office/drawing/2014/main" id="{584AEF46-8FE9-DE9B-F30F-C27633AA98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1" y="2873"/>
                <a:ext cx="32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6" name="Line 37">
                <a:extLst>
                  <a:ext uri="{FF2B5EF4-FFF2-40B4-BE49-F238E27FC236}">
                    <a16:creationId xmlns:a16="http://schemas.microsoft.com/office/drawing/2014/main" id="{900C03E9-6647-0AEE-E22A-AE1B855C97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1" y="2881"/>
                <a:ext cx="26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7" name="Rectangle 38">
                <a:extLst>
                  <a:ext uri="{FF2B5EF4-FFF2-40B4-BE49-F238E27FC236}">
                    <a16:creationId xmlns:a16="http://schemas.microsoft.com/office/drawing/2014/main" id="{38369527-378C-AC1A-96B0-FAE37898D7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1" y="2881"/>
                <a:ext cx="26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8" name="Line 39">
                <a:extLst>
                  <a:ext uri="{FF2B5EF4-FFF2-40B4-BE49-F238E27FC236}">
                    <a16:creationId xmlns:a16="http://schemas.microsoft.com/office/drawing/2014/main" id="{7F6CDF54-610F-2ABD-80C7-53C5B3A84C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1" y="2889"/>
                <a:ext cx="19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9" name="Rectangle 40">
                <a:extLst>
                  <a:ext uri="{FF2B5EF4-FFF2-40B4-BE49-F238E27FC236}">
                    <a16:creationId xmlns:a16="http://schemas.microsoft.com/office/drawing/2014/main" id="{981627E0-6597-D850-3151-CA211A27AB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1" y="2889"/>
                <a:ext cx="19" cy="7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0" name="Line 41">
                <a:extLst>
                  <a:ext uri="{FF2B5EF4-FFF2-40B4-BE49-F238E27FC236}">
                    <a16:creationId xmlns:a16="http://schemas.microsoft.com/office/drawing/2014/main" id="{365C6751-7CC7-5467-1AB9-9D90914A23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1" y="2896"/>
                <a:ext cx="13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1" name="Rectangle 42">
                <a:extLst>
                  <a:ext uri="{FF2B5EF4-FFF2-40B4-BE49-F238E27FC236}">
                    <a16:creationId xmlns:a16="http://schemas.microsoft.com/office/drawing/2014/main" id="{F3DD23C6-8FD3-25D4-F39B-F5088B410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1" y="2896"/>
                <a:ext cx="13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2" name="Line 43">
                <a:extLst>
                  <a:ext uri="{FF2B5EF4-FFF2-40B4-BE49-F238E27FC236}">
                    <a16:creationId xmlns:a16="http://schemas.microsoft.com/office/drawing/2014/main" id="{62DF1307-AD31-86FE-FBC8-89EF6B23B3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1" y="2904"/>
                <a:ext cx="6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3" name="Rectangle 44">
                <a:extLst>
                  <a:ext uri="{FF2B5EF4-FFF2-40B4-BE49-F238E27FC236}">
                    <a16:creationId xmlns:a16="http://schemas.microsoft.com/office/drawing/2014/main" id="{83DEC4C7-F5F1-E430-5048-27EED4FE16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1" y="2904"/>
                <a:ext cx="6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4" name="Line 45">
                <a:extLst>
                  <a:ext uri="{FF2B5EF4-FFF2-40B4-BE49-F238E27FC236}">
                    <a16:creationId xmlns:a16="http://schemas.microsoft.com/office/drawing/2014/main" id="{64DB8A1F-4F99-5783-8117-2B68F8EAA2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5" y="2873"/>
                <a:ext cx="32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5" name="Rectangle 46">
                <a:extLst>
                  <a:ext uri="{FF2B5EF4-FFF2-40B4-BE49-F238E27FC236}">
                    <a16:creationId xmlns:a16="http://schemas.microsoft.com/office/drawing/2014/main" id="{1A8A2D92-3FF1-0FF6-8C89-3AC35AC547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5" y="2873"/>
                <a:ext cx="32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6" name="Line 47">
                <a:extLst>
                  <a:ext uri="{FF2B5EF4-FFF2-40B4-BE49-F238E27FC236}">
                    <a16:creationId xmlns:a16="http://schemas.microsoft.com/office/drawing/2014/main" id="{6B9BD83E-5500-7795-F88C-9F1D02D70B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5" y="2881"/>
                <a:ext cx="26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7" name="Rectangle 48">
                <a:extLst>
                  <a:ext uri="{FF2B5EF4-FFF2-40B4-BE49-F238E27FC236}">
                    <a16:creationId xmlns:a16="http://schemas.microsoft.com/office/drawing/2014/main" id="{CEA85708-5167-2ECA-8D27-ED030428CB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5" y="2881"/>
                <a:ext cx="26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8" name="Line 49">
                <a:extLst>
                  <a:ext uri="{FF2B5EF4-FFF2-40B4-BE49-F238E27FC236}">
                    <a16:creationId xmlns:a16="http://schemas.microsoft.com/office/drawing/2014/main" id="{7F6BCD77-941D-97B8-CF8E-BF294389CF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5" y="2889"/>
                <a:ext cx="19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9" name="Rectangle 50">
                <a:extLst>
                  <a:ext uri="{FF2B5EF4-FFF2-40B4-BE49-F238E27FC236}">
                    <a16:creationId xmlns:a16="http://schemas.microsoft.com/office/drawing/2014/main" id="{118E43B4-FFD1-FEA8-F1B5-75280BFDB1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5" y="2889"/>
                <a:ext cx="19" cy="7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0" name="Line 51">
                <a:extLst>
                  <a:ext uri="{FF2B5EF4-FFF2-40B4-BE49-F238E27FC236}">
                    <a16:creationId xmlns:a16="http://schemas.microsoft.com/office/drawing/2014/main" id="{07FBCE3E-7DED-874C-2148-C3DD8B3F0A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5" y="2896"/>
                <a:ext cx="13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1" name="Rectangle 52">
                <a:extLst>
                  <a:ext uri="{FF2B5EF4-FFF2-40B4-BE49-F238E27FC236}">
                    <a16:creationId xmlns:a16="http://schemas.microsoft.com/office/drawing/2014/main" id="{4AE32C83-DEF8-3EC2-9E57-514FC481FC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5" y="2896"/>
                <a:ext cx="13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2" name="Line 53">
                <a:extLst>
                  <a:ext uri="{FF2B5EF4-FFF2-40B4-BE49-F238E27FC236}">
                    <a16:creationId xmlns:a16="http://schemas.microsoft.com/office/drawing/2014/main" id="{851A7094-900F-B3FF-48D7-2A8E6EED20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5" y="2904"/>
                <a:ext cx="6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3" name="Rectangle 54">
                <a:extLst>
                  <a:ext uri="{FF2B5EF4-FFF2-40B4-BE49-F238E27FC236}">
                    <a16:creationId xmlns:a16="http://schemas.microsoft.com/office/drawing/2014/main" id="{2AAC1ED5-370E-68DE-1463-388D87383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5" y="2904"/>
                <a:ext cx="6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4" name="Line 55">
                <a:extLst>
                  <a:ext uri="{FF2B5EF4-FFF2-40B4-BE49-F238E27FC236}">
                    <a16:creationId xmlns:a16="http://schemas.microsoft.com/office/drawing/2014/main" id="{D35521A5-E085-0257-B653-4D9A34A88B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9" y="2873"/>
                <a:ext cx="32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5" name="Rectangle 56">
                <a:extLst>
                  <a:ext uri="{FF2B5EF4-FFF2-40B4-BE49-F238E27FC236}">
                    <a16:creationId xmlns:a16="http://schemas.microsoft.com/office/drawing/2014/main" id="{868AF245-58E9-A82F-23D4-0FDDF0AB2F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9" y="2873"/>
                <a:ext cx="32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6" name="Line 57">
                <a:extLst>
                  <a:ext uri="{FF2B5EF4-FFF2-40B4-BE49-F238E27FC236}">
                    <a16:creationId xmlns:a16="http://schemas.microsoft.com/office/drawing/2014/main" id="{29D40C3A-D521-B88A-F45F-B3090D2385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9" y="2881"/>
                <a:ext cx="25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7" name="Rectangle 58">
                <a:extLst>
                  <a:ext uri="{FF2B5EF4-FFF2-40B4-BE49-F238E27FC236}">
                    <a16:creationId xmlns:a16="http://schemas.microsoft.com/office/drawing/2014/main" id="{442172BE-1F29-BEA2-F32B-DEB0515858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9" y="2881"/>
                <a:ext cx="25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8" name="Line 59">
                <a:extLst>
                  <a:ext uri="{FF2B5EF4-FFF2-40B4-BE49-F238E27FC236}">
                    <a16:creationId xmlns:a16="http://schemas.microsoft.com/office/drawing/2014/main" id="{2E83263D-0017-7409-927E-4E6F6E05EC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9" y="2889"/>
                <a:ext cx="19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9" name="Rectangle 60">
                <a:extLst>
                  <a:ext uri="{FF2B5EF4-FFF2-40B4-BE49-F238E27FC236}">
                    <a16:creationId xmlns:a16="http://schemas.microsoft.com/office/drawing/2014/main" id="{3F37CB67-692D-FBFE-89A0-39BA7E4C0D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9" y="2889"/>
                <a:ext cx="19" cy="7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0" name="Line 61">
                <a:extLst>
                  <a:ext uri="{FF2B5EF4-FFF2-40B4-BE49-F238E27FC236}">
                    <a16:creationId xmlns:a16="http://schemas.microsoft.com/office/drawing/2014/main" id="{49DAC873-1DD6-3DF7-B9F7-BF0F9A7D92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9" y="2896"/>
                <a:ext cx="12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1" name="Rectangle 62">
                <a:extLst>
                  <a:ext uri="{FF2B5EF4-FFF2-40B4-BE49-F238E27FC236}">
                    <a16:creationId xmlns:a16="http://schemas.microsoft.com/office/drawing/2014/main" id="{DD9F6E57-5887-1EFB-7F94-FCDDB5E77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9" y="2896"/>
                <a:ext cx="12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2" name="Line 63">
                <a:extLst>
                  <a:ext uri="{FF2B5EF4-FFF2-40B4-BE49-F238E27FC236}">
                    <a16:creationId xmlns:a16="http://schemas.microsoft.com/office/drawing/2014/main" id="{8C639BDB-E29D-093D-89DB-44466C4F50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9" y="2904"/>
                <a:ext cx="6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3" name="Rectangle 64">
                <a:extLst>
                  <a:ext uri="{FF2B5EF4-FFF2-40B4-BE49-F238E27FC236}">
                    <a16:creationId xmlns:a16="http://schemas.microsoft.com/office/drawing/2014/main" id="{F5E64A66-776D-0B3A-8AE2-02F6BFB95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9" y="2904"/>
                <a:ext cx="6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4" name="Line 65">
                <a:extLst>
                  <a:ext uri="{FF2B5EF4-FFF2-40B4-BE49-F238E27FC236}">
                    <a16:creationId xmlns:a16="http://schemas.microsoft.com/office/drawing/2014/main" id="{4BF12CFD-04E3-E0D5-3EC1-F37DC7854C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12" y="2873"/>
                <a:ext cx="33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5" name="Rectangle 66">
                <a:extLst>
                  <a:ext uri="{FF2B5EF4-FFF2-40B4-BE49-F238E27FC236}">
                    <a16:creationId xmlns:a16="http://schemas.microsoft.com/office/drawing/2014/main" id="{A1E17A20-F663-AA5E-9A06-C100CF967A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2" y="2873"/>
                <a:ext cx="33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6" name="Line 67">
                <a:extLst>
                  <a:ext uri="{FF2B5EF4-FFF2-40B4-BE49-F238E27FC236}">
                    <a16:creationId xmlns:a16="http://schemas.microsoft.com/office/drawing/2014/main" id="{363CF641-4A5C-A190-3E22-BACFF9E1E9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12" y="2881"/>
                <a:ext cx="26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7" name="Rectangle 68">
                <a:extLst>
                  <a:ext uri="{FF2B5EF4-FFF2-40B4-BE49-F238E27FC236}">
                    <a16:creationId xmlns:a16="http://schemas.microsoft.com/office/drawing/2014/main" id="{DBFD4A9A-3ED7-2412-A103-2A98E3B21F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2" y="2881"/>
                <a:ext cx="26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8" name="Line 69">
                <a:extLst>
                  <a:ext uri="{FF2B5EF4-FFF2-40B4-BE49-F238E27FC236}">
                    <a16:creationId xmlns:a16="http://schemas.microsoft.com/office/drawing/2014/main" id="{FAFD99CB-8143-10C5-36CD-05A2235C60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12" y="2889"/>
                <a:ext cx="20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9" name="Rectangle 70">
                <a:extLst>
                  <a:ext uri="{FF2B5EF4-FFF2-40B4-BE49-F238E27FC236}">
                    <a16:creationId xmlns:a16="http://schemas.microsoft.com/office/drawing/2014/main" id="{BD846E8B-7F2C-ADC7-B39F-F0C28E6C5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2" y="2889"/>
                <a:ext cx="20" cy="7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0" name="Line 71">
                <a:extLst>
                  <a:ext uri="{FF2B5EF4-FFF2-40B4-BE49-F238E27FC236}">
                    <a16:creationId xmlns:a16="http://schemas.microsoft.com/office/drawing/2014/main" id="{82BA1222-549D-8FB3-17F9-EFBC6E5E2B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12" y="2896"/>
                <a:ext cx="13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1" name="Rectangle 72">
                <a:extLst>
                  <a:ext uri="{FF2B5EF4-FFF2-40B4-BE49-F238E27FC236}">
                    <a16:creationId xmlns:a16="http://schemas.microsoft.com/office/drawing/2014/main" id="{F88C31D3-25FB-3E3E-4A6B-12F432049F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2" y="2896"/>
                <a:ext cx="13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2" name="Line 73">
                <a:extLst>
                  <a:ext uri="{FF2B5EF4-FFF2-40B4-BE49-F238E27FC236}">
                    <a16:creationId xmlns:a16="http://schemas.microsoft.com/office/drawing/2014/main" id="{264E55BF-BD48-E590-C6FF-65E6AF56DB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12" y="2904"/>
                <a:ext cx="7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3" name="Rectangle 74">
                <a:extLst>
                  <a:ext uri="{FF2B5EF4-FFF2-40B4-BE49-F238E27FC236}">
                    <a16:creationId xmlns:a16="http://schemas.microsoft.com/office/drawing/2014/main" id="{8BE44B27-8ACE-0822-2472-80EC2B9AAA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2" y="2904"/>
                <a:ext cx="7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4" name="Line 75">
                <a:extLst>
                  <a:ext uri="{FF2B5EF4-FFF2-40B4-BE49-F238E27FC236}">
                    <a16:creationId xmlns:a16="http://schemas.microsoft.com/office/drawing/2014/main" id="{BB36FA6F-D480-9DAD-2ACC-4D4EEE9BBE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6" y="2873"/>
                <a:ext cx="33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5" name="Rectangle 76">
                <a:extLst>
                  <a:ext uri="{FF2B5EF4-FFF2-40B4-BE49-F238E27FC236}">
                    <a16:creationId xmlns:a16="http://schemas.microsoft.com/office/drawing/2014/main" id="{E243ADC0-A9C1-AA21-8B11-FE000581BB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6" y="2873"/>
                <a:ext cx="33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6" name="Line 77">
                <a:extLst>
                  <a:ext uri="{FF2B5EF4-FFF2-40B4-BE49-F238E27FC236}">
                    <a16:creationId xmlns:a16="http://schemas.microsoft.com/office/drawing/2014/main" id="{52FAC37F-AD5D-FB32-FE44-08D517FBCC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6" y="2881"/>
                <a:ext cx="26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7" name="Rectangle 78">
                <a:extLst>
                  <a:ext uri="{FF2B5EF4-FFF2-40B4-BE49-F238E27FC236}">
                    <a16:creationId xmlns:a16="http://schemas.microsoft.com/office/drawing/2014/main" id="{E5B22712-DC62-9A32-0729-06323E2E69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6" y="2881"/>
                <a:ext cx="26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8" name="Line 79">
                <a:extLst>
                  <a:ext uri="{FF2B5EF4-FFF2-40B4-BE49-F238E27FC236}">
                    <a16:creationId xmlns:a16="http://schemas.microsoft.com/office/drawing/2014/main" id="{B666F3C0-410A-AA69-17E4-0CCC6D344B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6" y="2889"/>
                <a:ext cx="20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9" name="Rectangle 80">
                <a:extLst>
                  <a:ext uri="{FF2B5EF4-FFF2-40B4-BE49-F238E27FC236}">
                    <a16:creationId xmlns:a16="http://schemas.microsoft.com/office/drawing/2014/main" id="{6B9D722C-57EC-973C-9B83-F0A3CB62F0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6" y="2889"/>
                <a:ext cx="20" cy="7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0" name="Line 81">
                <a:extLst>
                  <a:ext uri="{FF2B5EF4-FFF2-40B4-BE49-F238E27FC236}">
                    <a16:creationId xmlns:a16="http://schemas.microsoft.com/office/drawing/2014/main" id="{E6EAB41E-F3AA-B0F1-0E61-DC9647B9B8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6" y="2896"/>
                <a:ext cx="13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1" name="Rectangle 82">
                <a:extLst>
                  <a:ext uri="{FF2B5EF4-FFF2-40B4-BE49-F238E27FC236}">
                    <a16:creationId xmlns:a16="http://schemas.microsoft.com/office/drawing/2014/main" id="{4689C535-2576-2149-3D73-4E2A6EFB58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6" y="2896"/>
                <a:ext cx="13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2" name="Line 83">
                <a:extLst>
                  <a:ext uri="{FF2B5EF4-FFF2-40B4-BE49-F238E27FC236}">
                    <a16:creationId xmlns:a16="http://schemas.microsoft.com/office/drawing/2014/main" id="{72F7BA73-0B67-1C51-60FD-2BFF47CCE6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6" y="2904"/>
                <a:ext cx="7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3" name="Rectangle 84">
                <a:extLst>
                  <a:ext uri="{FF2B5EF4-FFF2-40B4-BE49-F238E27FC236}">
                    <a16:creationId xmlns:a16="http://schemas.microsoft.com/office/drawing/2014/main" id="{62AB45D9-76AA-5C54-BE98-AFE0329913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6" y="2904"/>
                <a:ext cx="7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4" name="Line 85">
                <a:extLst>
                  <a:ext uri="{FF2B5EF4-FFF2-40B4-BE49-F238E27FC236}">
                    <a16:creationId xmlns:a16="http://schemas.microsoft.com/office/drawing/2014/main" id="{C9076FB2-82A5-4BE2-0C4E-662ADD69D6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60" y="2873"/>
                <a:ext cx="32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5" name="Rectangle 86">
                <a:extLst>
                  <a:ext uri="{FF2B5EF4-FFF2-40B4-BE49-F238E27FC236}">
                    <a16:creationId xmlns:a16="http://schemas.microsoft.com/office/drawing/2014/main" id="{B3E86249-2AD1-E372-7743-DEB375127D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0" y="2873"/>
                <a:ext cx="32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6" name="Line 87">
                <a:extLst>
                  <a:ext uri="{FF2B5EF4-FFF2-40B4-BE49-F238E27FC236}">
                    <a16:creationId xmlns:a16="http://schemas.microsoft.com/office/drawing/2014/main" id="{223CD97E-3B89-B45F-66C3-A6E3DE4A18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60" y="2881"/>
                <a:ext cx="26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7" name="Rectangle 88">
                <a:extLst>
                  <a:ext uri="{FF2B5EF4-FFF2-40B4-BE49-F238E27FC236}">
                    <a16:creationId xmlns:a16="http://schemas.microsoft.com/office/drawing/2014/main" id="{BC432E8F-08C2-5F2E-F4F3-BE2DE6863E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0" y="2881"/>
                <a:ext cx="26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8" name="Line 89">
                <a:extLst>
                  <a:ext uri="{FF2B5EF4-FFF2-40B4-BE49-F238E27FC236}">
                    <a16:creationId xmlns:a16="http://schemas.microsoft.com/office/drawing/2014/main" id="{C7D24D95-4E85-F23A-3390-B40F858433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60" y="2889"/>
                <a:ext cx="20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9" name="Rectangle 90">
                <a:extLst>
                  <a:ext uri="{FF2B5EF4-FFF2-40B4-BE49-F238E27FC236}">
                    <a16:creationId xmlns:a16="http://schemas.microsoft.com/office/drawing/2014/main" id="{4388E28D-0D11-83BD-FDBC-B558643C97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0" y="2889"/>
                <a:ext cx="20" cy="7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0" name="Line 91">
                <a:extLst>
                  <a:ext uri="{FF2B5EF4-FFF2-40B4-BE49-F238E27FC236}">
                    <a16:creationId xmlns:a16="http://schemas.microsoft.com/office/drawing/2014/main" id="{26AF42B5-8559-8376-6346-CA3506AD25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60" y="2896"/>
                <a:ext cx="13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1" name="Rectangle 92">
                <a:extLst>
                  <a:ext uri="{FF2B5EF4-FFF2-40B4-BE49-F238E27FC236}">
                    <a16:creationId xmlns:a16="http://schemas.microsoft.com/office/drawing/2014/main" id="{A134578D-F227-9874-E587-1F55588E4A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0" y="2896"/>
                <a:ext cx="13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2" name="Line 93">
                <a:extLst>
                  <a:ext uri="{FF2B5EF4-FFF2-40B4-BE49-F238E27FC236}">
                    <a16:creationId xmlns:a16="http://schemas.microsoft.com/office/drawing/2014/main" id="{B87DB2E4-B4EA-242D-5BD2-8D134DDBB1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60" y="2904"/>
                <a:ext cx="7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3" name="Rectangle 94">
                <a:extLst>
                  <a:ext uri="{FF2B5EF4-FFF2-40B4-BE49-F238E27FC236}">
                    <a16:creationId xmlns:a16="http://schemas.microsoft.com/office/drawing/2014/main" id="{CC8E4D4E-A235-5C52-EE21-5B87F80311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0" y="2904"/>
                <a:ext cx="7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4" name="Line 95">
                <a:extLst>
                  <a:ext uri="{FF2B5EF4-FFF2-40B4-BE49-F238E27FC236}">
                    <a16:creationId xmlns:a16="http://schemas.microsoft.com/office/drawing/2014/main" id="{72323A78-2AF5-7F5C-1BFB-9673B1E9B7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34" y="2873"/>
                <a:ext cx="32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5" name="Rectangle 96">
                <a:extLst>
                  <a:ext uri="{FF2B5EF4-FFF2-40B4-BE49-F238E27FC236}">
                    <a16:creationId xmlns:a16="http://schemas.microsoft.com/office/drawing/2014/main" id="{2FB95F19-6500-78B1-5FC1-B58F3812C4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4" y="2873"/>
                <a:ext cx="32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6" name="Line 97">
                <a:extLst>
                  <a:ext uri="{FF2B5EF4-FFF2-40B4-BE49-F238E27FC236}">
                    <a16:creationId xmlns:a16="http://schemas.microsoft.com/office/drawing/2014/main" id="{6740B37A-266A-E7B1-2F82-EA41F3EC09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34" y="2881"/>
                <a:ext cx="26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7" name="Rectangle 98">
                <a:extLst>
                  <a:ext uri="{FF2B5EF4-FFF2-40B4-BE49-F238E27FC236}">
                    <a16:creationId xmlns:a16="http://schemas.microsoft.com/office/drawing/2014/main" id="{92E8C0ED-F5E8-BA1A-770B-B50B787189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4" y="2881"/>
                <a:ext cx="26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8" name="Line 99">
                <a:extLst>
                  <a:ext uri="{FF2B5EF4-FFF2-40B4-BE49-F238E27FC236}">
                    <a16:creationId xmlns:a16="http://schemas.microsoft.com/office/drawing/2014/main" id="{1A8736E9-3DBE-5493-AA1D-7E1393E065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34" y="2889"/>
                <a:ext cx="19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9" name="Rectangle 100">
                <a:extLst>
                  <a:ext uri="{FF2B5EF4-FFF2-40B4-BE49-F238E27FC236}">
                    <a16:creationId xmlns:a16="http://schemas.microsoft.com/office/drawing/2014/main" id="{3BC55A93-6DF5-9BB6-C10F-D2327099BD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4" y="2889"/>
                <a:ext cx="19" cy="7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0" name="Line 101">
                <a:extLst>
                  <a:ext uri="{FF2B5EF4-FFF2-40B4-BE49-F238E27FC236}">
                    <a16:creationId xmlns:a16="http://schemas.microsoft.com/office/drawing/2014/main" id="{73153FCC-8A92-5889-57D5-B14B6B71AE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34" y="2896"/>
                <a:ext cx="13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1" name="Rectangle 102">
                <a:extLst>
                  <a:ext uri="{FF2B5EF4-FFF2-40B4-BE49-F238E27FC236}">
                    <a16:creationId xmlns:a16="http://schemas.microsoft.com/office/drawing/2014/main" id="{3B2F40D9-4567-515F-7C2F-1CC4B1D2ED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4" y="2896"/>
                <a:ext cx="13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2" name="Line 103">
                <a:extLst>
                  <a:ext uri="{FF2B5EF4-FFF2-40B4-BE49-F238E27FC236}">
                    <a16:creationId xmlns:a16="http://schemas.microsoft.com/office/drawing/2014/main" id="{22546C4E-264D-0C84-7504-101541CEBC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34" y="2904"/>
                <a:ext cx="6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3" name="Rectangle 104">
                <a:extLst>
                  <a:ext uri="{FF2B5EF4-FFF2-40B4-BE49-F238E27FC236}">
                    <a16:creationId xmlns:a16="http://schemas.microsoft.com/office/drawing/2014/main" id="{1A1879E2-5F1F-3528-BBF9-56C2C996D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4" y="2904"/>
                <a:ext cx="6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4" name="Line 105">
                <a:extLst>
                  <a:ext uri="{FF2B5EF4-FFF2-40B4-BE49-F238E27FC236}">
                    <a16:creationId xmlns:a16="http://schemas.microsoft.com/office/drawing/2014/main" id="{DBDFD6B2-12B4-193A-4E1E-DCFBC886CC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08" y="2873"/>
                <a:ext cx="32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5" name="Rectangle 106">
                <a:extLst>
                  <a:ext uri="{FF2B5EF4-FFF2-40B4-BE49-F238E27FC236}">
                    <a16:creationId xmlns:a16="http://schemas.microsoft.com/office/drawing/2014/main" id="{F9C10E7E-C0A8-D041-2B31-B12120826A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8" y="2873"/>
                <a:ext cx="32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6" name="Line 107">
                <a:extLst>
                  <a:ext uri="{FF2B5EF4-FFF2-40B4-BE49-F238E27FC236}">
                    <a16:creationId xmlns:a16="http://schemas.microsoft.com/office/drawing/2014/main" id="{F7C5CA2C-6C57-7483-D292-38AC44456C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08" y="2881"/>
                <a:ext cx="26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7" name="Rectangle 108">
                <a:extLst>
                  <a:ext uri="{FF2B5EF4-FFF2-40B4-BE49-F238E27FC236}">
                    <a16:creationId xmlns:a16="http://schemas.microsoft.com/office/drawing/2014/main" id="{814A36E5-01C4-3EAB-114B-3D42176B1F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8" y="2881"/>
                <a:ext cx="26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8" name="Line 109">
                <a:extLst>
                  <a:ext uri="{FF2B5EF4-FFF2-40B4-BE49-F238E27FC236}">
                    <a16:creationId xmlns:a16="http://schemas.microsoft.com/office/drawing/2014/main" id="{CBD7E724-BA69-AAE1-9DF6-9436DB97A7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08" y="2889"/>
                <a:ext cx="19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9" name="Rectangle 110">
                <a:extLst>
                  <a:ext uri="{FF2B5EF4-FFF2-40B4-BE49-F238E27FC236}">
                    <a16:creationId xmlns:a16="http://schemas.microsoft.com/office/drawing/2014/main" id="{79DD5640-AFED-2067-18A0-44189D90D3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8" y="2889"/>
                <a:ext cx="19" cy="7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0" name="Line 111">
                <a:extLst>
                  <a:ext uri="{FF2B5EF4-FFF2-40B4-BE49-F238E27FC236}">
                    <a16:creationId xmlns:a16="http://schemas.microsoft.com/office/drawing/2014/main" id="{04CFFFD5-5DFB-5EFA-BE39-B905E75F85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08" y="2896"/>
                <a:ext cx="13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1" name="Rectangle 112">
                <a:extLst>
                  <a:ext uri="{FF2B5EF4-FFF2-40B4-BE49-F238E27FC236}">
                    <a16:creationId xmlns:a16="http://schemas.microsoft.com/office/drawing/2014/main" id="{EFF935B0-C061-D56E-19DB-7B246653CB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8" y="2896"/>
                <a:ext cx="13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2" name="Line 113">
                <a:extLst>
                  <a:ext uri="{FF2B5EF4-FFF2-40B4-BE49-F238E27FC236}">
                    <a16:creationId xmlns:a16="http://schemas.microsoft.com/office/drawing/2014/main" id="{1DC98410-5A4C-8D04-6882-5D27A03F86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08" y="2904"/>
                <a:ext cx="6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3" name="Rectangle 114">
                <a:extLst>
                  <a:ext uri="{FF2B5EF4-FFF2-40B4-BE49-F238E27FC236}">
                    <a16:creationId xmlns:a16="http://schemas.microsoft.com/office/drawing/2014/main" id="{AF73ACA3-3049-1105-C3FD-6E4890A27A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8" y="2904"/>
                <a:ext cx="6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4" name="Line 115">
                <a:extLst>
                  <a:ext uri="{FF2B5EF4-FFF2-40B4-BE49-F238E27FC236}">
                    <a16:creationId xmlns:a16="http://schemas.microsoft.com/office/drawing/2014/main" id="{8CAD3847-37B3-563D-85F1-DE646D7969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82" y="2873"/>
                <a:ext cx="32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5" name="Rectangle 116">
                <a:extLst>
                  <a:ext uri="{FF2B5EF4-FFF2-40B4-BE49-F238E27FC236}">
                    <a16:creationId xmlns:a16="http://schemas.microsoft.com/office/drawing/2014/main" id="{CE16EC8A-478E-2285-D679-59E5F6CFC4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82" y="2873"/>
                <a:ext cx="32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6" name="Line 117">
                <a:extLst>
                  <a:ext uri="{FF2B5EF4-FFF2-40B4-BE49-F238E27FC236}">
                    <a16:creationId xmlns:a16="http://schemas.microsoft.com/office/drawing/2014/main" id="{DC61C604-920B-AF57-3A9D-2FA24DF1BE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82" y="2881"/>
                <a:ext cx="26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7" name="Rectangle 118">
                <a:extLst>
                  <a:ext uri="{FF2B5EF4-FFF2-40B4-BE49-F238E27FC236}">
                    <a16:creationId xmlns:a16="http://schemas.microsoft.com/office/drawing/2014/main" id="{90B9404D-EC51-D696-D303-035B4E3E87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82" y="2881"/>
                <a:ext cx="26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8" name="Line 119">
                <a:extLst>
                  <a:ext uri="{FF2B5EF4-FFF2-40B4-BE49-F238E27FC236}">
                    <a16:creationId xmlns:a16="http://schemas.microsoft.com/office/drawing/2014/main" id="{7D390175-D2EA-733A-D7AF-D5FC31B7CC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82" y="2889"/>
                <a:ext cx="19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9" name="Rectangle 120">
                <a:extLst>
                  <a:ext uri="{FF2B5EF4-FFF2-40B4-BE49-F238E27FC236}">
                    <a16:creationId xmlns:a16="http://schemas.microsoft.com/office/drawing/2014/main" id="{B5E78C10-9B1A-A077-D693-94314A6088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82" y="2889"/>
                <a:ext cx="19" cy="7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0" name="Line 121">
                <a:extLst>
                  <a:ext uri="{FF2B5EF4-FFF2-40B4-BE49-F238E27FC236}">
                    <a16:creationId xmlns:a16="http://schemas.microsoft.com/office/drawing/2014/main" id="{23DD5A23-42B2-9BF2-9EEB-F480009EF0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82" y="2896"/>
                <a:ext cx="13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1" name="Rectangle 122">
                <a:extLst>
                  <a:ext uri="{FF2B5EF4-FFF2-40B4-BE49-F238E27FC236}">
                    <a16:creationId xmlns:a16="http://schemas.microsoft.com/office/drawing/2014/main" id="{6FDA524E-91EC-6387-9F9E-D0919C4EC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82" y="2896"/>
                <a:ext cx="13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2" name="Line 123">
                <a:extLst>
                  <a:ext uri="{FF2B5EF4-FFF2-40B4-BE49-F238E27FC236}">
                    <a16:creationId xmlns:a16="http://schemas.microsoft.com/office/drawing/2014/main" id="{C9D402B0-CC69-5E5C-A556-0E877B7B32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82" y="2904"/>
                <a:ext cx="6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3" name="Rectangle 124">
                <a:extLst>
                  <a:ext uri="{FF2B5EF4-FFF2-40B4-BE49-F238E27FC236}">
                    <a16:creationId xmlns:a16="http://schemas.microsoft.com/office/drawing/2014/main" id="{A4B2FE1B-AF13-237E-B676-875016F9E9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82" y="2904"/>
                <a:ext cx="6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4" name="Line 125">
                <a:extLst>
                  <a:ext uri="{FF2B5EF4-FFF2-40B4-BE49-F238E27FC236}">
                    <a16:creationId xmlns:a16="http://schemas.microsoft.com/office/drawing/2014/main" id="{8375A952-924C-6016-5122-D7E1701DE7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56" y="2873"/>
                <a:ext cx="32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5" name="Rectangle 126">
                <a:extLst>
                  <a:ext uri="{FF2B5EF4-FFF2-40B4-BE49-F238E27FC236}">
                    <a16:creationId xmlns:a16="http://schemas.microsoft.com/office/drawing/2014/main" id="{E3F83E81-4D2A-B733-CAA1-1C9C81E563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56" y="2873"/>
                <a:ext cx="32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6" name="Line 127">
                <a:extLst>
                  <a:ext uri="{FF2B5EF4-FFF2-40B4-BE49-F238E27FC236}">
                    <a16:creationId xmlns:a16="http://schemas.microsoft.com/office/drawing/2014/main" id="{E47F3C78-70C4-FE93-8853-934BBEA2A1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56" y="2881"/>
                <a:ext cx="25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7" name="Rectangle 128">
                <a:extLst>
                  <a:ext uri="{FF2B5EF4-FFF2-40B4-BE49-F238E27FC236}">
                    <a16:creationId xmlns:a16="http://schemas.microsoft.com/office/drawing/2014/main" id="{E4E80977-4FC3-0F75-E80C-D215ADA0E4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56" y="2881"/>
                <a:ext cx="25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8" name="Line 129">
                <a:extLst>
                  <a:ext uri="{FF2B5EF4-FFF2-40B4-BE49-F238E27FC236}">
                    <a16:creationId xmlns:a16="http://schemas.microsoft.com/office/drawing/2014/main" id="{E3AED327-B429-D0F4-2A22-17710E0101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56" y="2889"/>
                <a:ext cx="19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9" name="Rectangle 130">
                <a:extLst>
                  <a:ext uri="{FF2B5EF4-FFF2-40B4-BE49-F238E27FC236}">
                    <a16:creationId xmlns:a16="http://schemas.microsoft.com/office/drawing/2014/main" id="{20DA90CB-0AFF-EDDD-0799-025163C685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56" y="2889"/>
                <a:ext cx="19" cy="7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0" name="Line 131">
                <a:extLst>
                  <a:ext uri="{FF2B5EF4-FFF2-40B4-BE49-F238E27FC236}">
                    <a16:creationId xmlns:a16="http://schemas.microsoft.com/office/drawing/2014/main" id="{2A801B9A-B49F-EBEF-E926-BCD320C00B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56" y="2896"/>
                <a:ext cx="13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1" name="Rectangle 132">
                <a:extLst>
                  <a:ext uri="{FF2B5EF4-FFF2-40B4-BE49-F238E27FC236}">
                    <a16:creationId xmlns:a16="http://schemas.microsoft.com/office/drawing/2014/main" id="{ACF9B97F-4D25-5EA5-2E63-222C5128AA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56" y="2896"/>
                <a:ext cx="13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2" name="Line 133">
                <a:extLst>
                  <a:ext uri="{FF2B5EF4-FFF2-40B4-BE49-F238E27FC236}">
                    <a16:creationId xmlns:a16="http://schemas.microsoft.com/office/drawing/2014/main" id="{D4873D8E-C85C-77B3-8895-44014235B6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56" y="2904"/>
                <a:ext cx="6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3" name="Rectangle 134">
                <a:extLst>
                  <a:ext uri="{FF2B5EF4-FFF2-40B4-BE49-F238E27FC236}">
                    <a16:creationId xmlns:a16="http://schemas.microsoft.com/office/drawing/2014/main" id="{EBDF5D06-1725-2F44-5921-50012214D4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56" y="2904"/>
                <a:ext cx="6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4" name="Line 135">
                <a:extLst>
                  <a:ext uri="{FF2B5EF4-FFF2-40B4-BE49-F238E27FC236}">
                    <a16:creationId xmlns:a16="http://schemas.microsoft.com/office/drawing/2014/main" id="{4C2EA28D-5753-E390-E4F1-99152E050C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29" y="2873"/>
                <a:ext cx="33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5" name="Rectangle 136">
                <a:extLst>
                  <a:ext uri="{FF2B5EF4-FFF2-40B4-BE49-F238E27FC236}">
                    <a16:creationId xmlns:a16="http://schemas.microsoft.com/office/drawing/2014/main" id="{899E965C-05A6-BD2A-8E42-5472AFB78C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29" y="2873"/>
                <a:ext cx="33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6" name="Line 137">
                <a:extLst>
                  <a:ext uri="{FF2B5EF4-FFF2-40B4-BE49-F238E27FC236}">
                    <a16:creationId xmlns:a16="http://schemas.microsoft.com/office/drawing/2014/main" id="{BCFF3B67-9526-10C1-1044-9A90A75CCB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29" y="2881"/>
                <a:ext cx="26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7" name="Rectangle 138">
                <a:extLst>
                  <a:ext uri="{FF2B5EF4-FFF2-40B4-BE49-F238E27FC236}">
                    <a16:creationId xmlns:a16="http://schemas.microsoft.com/office/drawing/2014/main" id="{4095811B-FB96-C1CE-C87F-489E555D7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29" y="2881"/>
                <a:ext cx="26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8" name="Line 139">
                <a:extLst>
                  <a:ext uri="{FF2B5EF4-FFF2-40B4-BE49-F238E27FC236}">
                    <a16:creationId xmlns:a16="http://schemas.microsoft.com/office/drawing/2014/main" id="{070E44EF-C5C9-7F83-0F96-801DBB69DB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29" y="2889"/>
                <a:ext cx="20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9" name="Rectangle 140">
                <a:extLst>
                  <a:ext uri="{FF2B5EF4-FFF2-40B4-BE49-F238E27FC236}">
                    <a16:creationId xmlns:a16="http://schemas.microsoft.com/office/drawing/2014/main" id="{F707DB2D-ED0A-2502-59B3-25D48F887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29" y="2889"/>
                <a:ext cx="20" cy="7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0" name="Line 141">
                <a:extLst>
                  <a:ext uri="{FF2B5EF4-FFF2-40B4-BE49-F238E27FC236}">
                    <a16:creationId xmlns:a16="http://schemas.microsoft.com/office/drawing/2014/main" id="{61744774-0964-EAED-B20A-D5191195A7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29" y="2896"/>
                <a:ext cx="13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1" name="Rectangle 142">
                <a:extLst>
                  <a:ext uri="{FF2B5EF4-FFF2-40B4-BE49-F238E27FC236}">
                    <a16:creationId xmlns:a16="http://schemas.microsoft.com/office/drawing/2014/main" id="{41E9C6AA-2F80-243A-579D-2A495BE72A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29" y="2896"/>
                <a:ext cx="13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2" name="Line 143">
                <a:extLst>
                  <a:ext uri="{FF2B5EF4-FFF2-40B4-BE49-F238E27FC236}">
                    <a16:creationId xmlns:a16="http://schemas.microsoft.com/office/drawing/2014/main" id="{C9638019-A09E-B419-589D-932DC584BF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29" y="2904"/>
                <a:ext cx="7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3" name="Rectangle 144">
                <a:extLst>
                  <a:ext uri="{FF2B5EF4-FFF2-40B4-BE49-F238E27FC236}">
                    <a16:creationId xmlns:a16="http://schemas.microsoft.com/office/drawing/2014/main" id="{79A8035A-5F8D-3C6E-88B8-72BB97D16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29" y="2904"/>
                <a:ext cx="7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4" name="Line 145">
                <a:extLst>
                  <a:ext uri="{FF2B5EF4-FFF2-40B4-BE49-F238E27FC236}">
                    <a16:creationId xmlns:a16="http://schemas.microsoft.com/office/drawing/2014/main" id="{E678009E-DA69-FF73-0F8E-6EC7E11C86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03" y="2873"/>
                <a:ext cx="33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5" name="Rectangle 146">
                <a:extLst>
                  <a:ext uri="{FF2B5EF4-FFF2-40B4-BE49-F238E27FC236}">
                    <a16:creationId xmlns:a16="http://schemas.microsoft.com/office/drawing/2014/main" id="{71DC222C-4844-4C61-183F-6F225DF2F4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03" y="2873"/>
                <a:ext cx="33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6" name="Line 147">
                <a:extLst>
                  <a:ext uri="{FF2B5EF4-FFF2-40B4-BE49-F238E27FC236}">
                    <a16:creationId xmlns:a16="http://schemas.microsoft.com/office/drawing/2014/main" id="{61B235A8-74F5-5E7B-7F8E-5D674D782B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03" y="2881"/>
                <a:ext cx="26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7" name="Rectangle 148">
                <a:extLst>
                  <a:ext uri="{FF2B5EF4-FFF2-40B4-BE49-F238E27FC236}">
                    <a16:creationId xmlns:a16="http://schemas.microsoft.com/office/drawing/2014/main" id="{25C30AC6-5DD2-575E-38DD-66F9E1FAEC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03" y="2881"/>
                <a:ext cx="26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8" name="Line 149">
                <a:extLst>
                  <a:ext uri="{FF2B5EF4-FFF2-40B4-BE49-F238E27FC236}">
                    <a16:creationId xmlns:a16="http://schemas.microsoft.com/office/drawing/2014/main" id="{F15FA54F-AA1E-D15F-6EFD-4801FC943F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03" y="2889"/>
                <a:ext cx="20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9" name="Rectangle 150">
                <a:extLst>
                  <a:ext uri="{FF2B5EF4-FFF2-40B4-BE49-F238E27FC236}">
                    <a16:creationId xmlns:a16="http://schemas.microsoft.com/office/drawing/2014/main" id="{2DAB156B-3C5D-F259-1017-C1E8A4E7E4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03" y="2889"/>
                <a:ext cx="20" cy="7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0" name="Line 151">
                <a:extLst>
                  <a:ext uri="{FF2B5EF4-FFF2-40B4-BE49-F238E27FC236}">
                    <a16:creationId xmlns:a16="http://schemas.microsoft.com/office/drawing/2014/main" id="{BD5DA509-FF9D-C6EB-08C9-C7DA631D59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03" y="2896"/>
                <a:ext cx="13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1" name="Rectangle 152">
                <a:extLst>
                  <a:ext uri="{FF2B5EF4-FFF2-40B4-BE49-F238E27FC236}">
                    <a16:creationId xmlns:a16="http://schemas.microsoft.com/office/drawing/2014/main" id="{ABCAEEC4-9AB9-11AB-A066-8D47C572F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03" y="2896"/>
                <a:ext cx="13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2" name="Line 153">
                <a:extLst>
                  <a:ext uri="{FF2B5EF4-FFF2-40B4-BE49-F238E27FC236}">
                    <a16:creationId xmlns:a16="http://schemas.microsoft.com/office/drawing/2014/main" id="{40B8B9CB-1199-7B61-80A0-635B27160A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03" y="2904"/>
                <a:ext cx="7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3" name="Rectangle 154">
                <a:extLst>
                  <a:ext uri="{FF2B5EF4-FFF2-40B4-BE49-F238E27FC236}">
                    <a16:creationId xmlns:a16="http://schemas.microsoft.com/office/drawing/2014/main" id="{9E872EC2-AE13-B21C-37EF-1997CAB7DE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03" y="2904"/>
                <a:ext cx="7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4" name="Rectangle 155">
                <a:extLst>
                  <a:ext uri="{FF2B5EF4-FFF2-40B4-BE49-F238E27FC236}">
                    <a16:creationId xmlns:a16="http://schemas.microsoft.com/office/drawing/2014/main" id="{C882927C-6754-A11E-BCAF-F3AB388BBD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" y="3013"/>
                <a:ext cx="1380" cy="1617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5" name="Rectangle 156">
                <a:extLst>
                  <a:ext uri="{FF2B5EF4-FFF2-40B4-BE49-F238E27FC236}">
                    <a16:creationId xmlns:a16="http://schemas.microsoft.com/office/drawing/2014/main" id="{812F53F0-489B-C17A-61D7-3A7379E0AB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4" y="3013"/>
                <a:ext cx="6893" cy="1859"/>
              </a:xfrm>
              <a:prstGeom prst="rect">
                <a:avLst/>
              </a:prstGeom>
              <a:solidFill>
                <a:srgbClr val="F89E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IN" sz="1400" dirty="0"/>
                  <a:t>20,000  	</a:t>
                </a:r>
                <a:r>
                  <a:rPr lang="en-IN" sz="1400" b="0" i="0" dirty="0">
                    <a:effectLst/>
                    <a:latin typeface="Roboto" panose="02000000000000000000" pitchFamily="2" charset="0"/>
                  </a:rPr>
                  <a:t>20,000	20,000	20,000	20,000	20,000	20,000	20,000	20,000	20,000	20,000	20,000</a:t>
                </a:r>
              </a:p>
              <a:p>
                <a:endParaRPr lang="en-IN" sz="1400" dirty="0"/>
              </a:p>
            </p:txBody>
          </p:sp>
          <p:sp>
            <p:nvSpPr>
              <p:cNvPr id="696" name="Rectangle 157">
                <a:extLst>
                  <a:ext uri="{FF2B5EF4-FFF2-40B4-BE49-F238E27FC236}">
                    <a16:creationId xmlns:a16="http://schemas.microsoft.com/office/drawing/2014/main" id="{7BE00A8C-E6BB-E8C7-2A79-C7DF4E646B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71" y="3013"/>
                <a:ext cx="580" cy="1617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7" name="Rectangle 158">
                <a:extLst>
                  <a:ext uri="{FF2B5EF4-FFF2-40B4-BE49-F238E27FC236}">
                    <a16:creationId xmlns:a16="http://schemas.microsoft.com/office/drawing/2014/main" id="{C4FB53CC-13C7-61E6-6EAF-B457C98D6D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45" y="3013"/>
                <a:ext cx="1038" cy="1617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8" name="Rectangle 159">
                <a:extLst>
                  <a:ext uri="{FF2B5EF4-FFF2-40B4-BE49-F238E27FC236}">
                    <a16:creationId xmlns:a16="http://schemas.microsoft.com/office/drawing/2014/main" id="{51C8E1A7-6A7E-E627-8DC6-F0643C6B9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" y="4622"/>
                <a:ext cx="1380" cy="125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9" name="Rectangle 160">
                <a:extLst>
                  <a:ext uri="{FF2B5EF4-FFF2-40B4-BE49-F238E27FC236}">
                    <a16:creationId xmlns:a16="http://schemas.microsoft.com/office/drawing/2014/main" id="{CD170AFD-6B5E-429B-A5FD-7CC73102E9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4" y="4622"/>
                <a:ext cx="7467" cy="125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0" name="Rectangle 161">
                <a:extLst>
                  <a:ext uri="{FF2B5EF4-FFF2-40B4-BE49-F238E27FC236}">
                    <a16:creationId xmlns:a16="http://schemas.microsoft.com/office/drawing/2014/main" id="{1478502E-6B62-1253-81A0-6281084A67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45" y="4622"/>
                <a:ext cx="1038" cy="125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1" name="Line 162">
                <a:extLst>
                  <a:ext uri="{FF2B5EF4-FFF2-40B4-BE49-F238E27FC236}">
                    <a16:creationId xmlns:a16="http://schemas.microsoft.com/office/drawing/2014/main" id="{15C39D6A-1E31-4745-8276-6EDC32ED94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1" y="4630"/>
                <a:ext cx="32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2" name="Rectangle 163">
                <a:extLst>
                  <a:ext uri="{FF2B5EF4-FFF2-40B4-BE49-F238E27FC236}">
                    <a16:creationId xmlns:a16="http://schemas.microsoft.com/office/drawing/2014/main" id="{B2C0B291-0B9E-CCE9-1A33-5724D02D6C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1" y="4630"/>
                <a:ext cx="32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3" name="Line 164">
                <a:extLst>
                  <a:ext uri="{FF2B5EF4-FFF2-40B4-BE49-F238E27FC236}">
                    <a16:creationId xmlns:a16="http://schemas.microsoft.com/office/drawing/2014/main" id="{A54AE327-7755-DDB6-13DC-BD1602508A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1" y="4638"/>
                <a:ext cx="26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4" name="Rectangle 165">
                <a:extLst>
                  <a:ext uri="{FF2B5EF4-FFF2-40B4-BE49-F238E27FC236}">
                    <a16:creationId xmlns:a16="http://schemas.microsoft.com/office/drawing/2014/main" id="{0BE815FC-EFC7-B534-39A2-1195FED19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1" y="4638"/>
                <a:ext cx="26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5" name="Line 166">
                <a:extLst>
                  <a:ext uri="{FF2B5EF4-FFF2-40B4-BE49-F238E27FC236}">
                    <a16:creationId xmlns:a16="http://schemas.microsoft.com/office/drawing/2014/main" id="{4A4DA518-D9C4-5C90-9836-A8E4025A75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1" y="4646"/>
                <a:ext cx="19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6" name="Rectangle 167">
                <a:extLst>
                  <a:ext uri="{FF2B5EF4-FFF2-40B4-BE49-F238E27FC236}">
                    <a16:creationId xmlns:a16="http://schemas.microsoft.com/office/drawing/2014/main" id="{7DD0D9DA-6A72-255E-1560-F4A02943B5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1" y="4646"/>
                <a:ext cx="19" cy="7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7" name="Line 168">
                <a:extLst>
                  <a:ext uri="{FF2B5EF4-FFF2-40B4-BE49-F238E27FC236}">
                    <a16:creationId xmlns:a16="http://schemas.microsoft.com/office/drawing/2014/main" id="{CF0F29F9-5C1F-2D5D-803C-77F07D5395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1" y="4653"/>
                <a:ext cx="13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8" name="Rectangle 169">
                <a:extLst>
                  <a:ext uri="{FF2B5EF4-FFF2-40B4-BE49-F238E27FC236}">
                    <a16:creationId xmlns:a16="http://schemas.microsoft.com/office/drawing/2014/main" id="{F8547603-F98B-4401-FA7F-28743968B3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1" y="4653"/>
                <a:ext cx="13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9" name="Line 170">
                <a:extLst>
                  <a:ext uri="{FF2B5EF4-FFF2-40B4-BE49-F238E27FC236}">
                    <a16:creationId xmlns:a16="http://schemas.microsoft.com/office/drawing/2014/main" id="{3F9CEAA0-FFF7-131F-9BD2-9FE26BC0B9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1" y="4661"/>
                <a:ext cx="6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0" name="Rectangle 171">
                <a:extLst>
                  <a:ext uri="{FF2B5EF4-FFF2-40B4-BE49-F238E27FC236}">
                    <a16:creationId xmlns:a16="http://schemas.microsoft.com/office/drawing/2014/main" id="{23ECA5E8-C7DD-FBC2-2A85-D25D6900FF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1" y="4661"/>
                <a:ext cx="6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1" name="Line 172">
                <a:extLst>
                  <a:ext uri="{FF2B5EF4-FFF2-40B4-BE49-F238E27FC236}">
                    <a16:creationId xmlns:a16="http://schemas.microsoft.com/office/drawing/2014/main" id="{4AA4B5BB-007D-BBD7-7F62-D2C3DFE478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5" y="4630"/>
                <a:ext cx="32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2" name="Rectangle 173">
                <a:extLst>
                  <a:ext uri="{FF2B5EF4-FFF2-40B4-BE49-F238E27FC236}">
                    <a16:creationId xmlns:a16="http://schemas.microsoft.com/office/drawing/2014/main" id="{DA43220E-C072-7B5A-BF1F-B6D48B8089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5" y="4630"/>
                <a:ext cx="32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3" name="Line 174">
                <a:extLst>
                  <a:ext uri="{FF2B5EF4-FFF2-40B4-BE49-F238E27FC236}">
                    <a16:creationId xmlns:a16="http://schemas.microsoft.com/office/drawing/2014/main" id="{29A13354-38FE-6651-CF90-9DB8080163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5" y="4638"/>
                <a:ext cx="26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4" name="Rectangle 175">
                <a:extLst>
                  <a:ext uri="{FF2B5EF4-FFF2-40B4-BE49-F238E27FC236}">
                    <a16:creationId xmlns:a16="http://schemas.microsoft.com/office/drawing/2014/main" id="{FB3A6EF4-BE3B-F6DC-F86E-978F10F240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5" y="4638"/>
                <a:ext cx="26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5" name="Line 176">
                <a:extLst>
                  <a:ext uri="{FF2B5EF4-FFF2-40B4-BE49-F238E27FC236}">
                    <a16:creationId xmlns:a16="http://schemas.microsoft.com/office/drawing/2014/main" id="{FE455176-3533-2A65-B810-D08DF1147B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5" y="4646"/>
                <a:ext cx="19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6" name="Rectangle 177">
                <a:extLst>
                  <a:ext uri="{FF2B5EF4-FFF2-40B4-BE49-F238E27FC236}">
                    <a16:creationId xmlns:a16="http://schemas.microsoft.com/office/drawing/2014/main" id="{72D65F2B-0FDD-629C-639B-582D3740C1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5" y="4646"/>
                <a:ext cx="19" cy="7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7" name="Line 178">
                <a:extLst>
                  <a:ext uri="{FF2B5EF4-FFF2-40B4-BE49-F238E27FC236}">
                    <a16:creationId xmlns:a16="http://schemas.microsoft.com/office/drawing/2014/main" id="{E6C169B0-FC75-9AD1-40DA-EBAEEE8FCD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5" y="4653"/>
                <a:ext cx="13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8" name="Rectangle 179">
                <a:extLst>
                  <a:ext uri="{FF2B5EF4-FFF2-40B4-BE49-F238E27FC236}">
                    <a16:creationId xmlns:a16="http://schemas.microsoft.com/office/drawing/2014/main" id="{4F067ED1-FD5E-F2DA-2195-515F56D374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5" y="4653"/>
                <a:ext cx="13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9" name="Line 180">
                <a:extLst>
                  <a:ext uri="{FF2B5EF4-FFF2-40B4-BE49-F238E27FC236}">
                    <a16:creationId xmlns:a16="http://schemas.microsoft.com/office/drawing/2014/main" id="{09E20493-6AC5-A966-9B95-39A3409B2F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5" y="4661"/>
                <a:ext cx="6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0" name="Rectangle 181">
                <a:extLst>
                  <a:ext uri="{FF2B5EF4-FFF2-40B4-BE49-F238E27FC236}">
                    <a16:creationId xmlns:a16="http://schemas.microsoft.com/office/drawing/2014/main" id="{E05A14D6-015D-4860-78CB-1BF1972799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5" y="4661"/>
                <a:ext cx="6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1" name="Line 182">
                <a:extLst>
                  <a:ext uri="{FF2B5EF4-FFF2-40B4-BE49-F238E27FC236}">
                    <a16:creationId xmlns:a16="http://schemas.microsoft.com/office/drawing/2014/main" id="{339E462C-854A-FEF7-43C6-821509F9FC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9" y="4630"/>
                <a:ext cx="32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2" name="Rectangle 183">
                <a:extLst>
                  <a:ext uri="{FF2B5EF4-FFF2-40B4-BE49-F238E27FC236}">
                    <a16:creationId xmlns:a16="http://schemas.microsoft.com/office/drawing/2014/main" id="{472B7134-5A6F-ADEA-18B9-24E97BBBE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9" y="4630"/>
                <a:ext cx="32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3" name="Line 184">
                <a:extLst>
                  <a:ext uri="{FF2B5EF4-FFF2-40B4-BE49-F238E27FC236}">
                    <a16:creationId xmlns:a16="http://schemas.microsoft.com/office/drawing/2014/main" id="{FDC9B83E-7EB4-3720-5FC1-EEA6234B27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9" y="4638"/>
                <a:ext cx="25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4" name="Rectangle 185">
                <a:extLst>
                  <a:ext uri="{FF2B5EF4-FFF2-40B4-BE49-F238E27FC236}">
                    <a16:creationId xmlns:a16="http://schemas.microsoft.com/office/drawing/2014/main" id="{13B40553-91EC-824F-54B1-1114EBCB46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9" y="4638"/>
                <a:ext cx="25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5" name="Line 186">
                <a:extLst>
                  <a:ext uri="{FF2B5EF4-FFF2-40B4-BE49-F238E27FC236}">
                    <a16:creationId xmlns:a16="http://schemas.microsoft.com/office/drawing/2014/main" id="{D4499A04-A88A-EF6C-9B25-83E4906084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9" y="4646"/>
                <a:ext cx="19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6" name="Rectangle 187">
                <a:extLst>
                  <a:ext uri="{FF2B5EF4-FFF2-40B4-BE49-F238E27FC236}">
                    <a16:creationId xmlns:a16="http://schemas.microsoft.com/office/drawing/2014/main" id="{1EED2EFD-0F4D-5781-FE38-03F6C7031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9" y="4646"/>
                <a:ext cx="19" cy="7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7" name="Line 188">
                <a:extLst>
                  <a:ext uri="{FF2B5EF4-FFF2-40B4-BE49-F238E27FC236}">
                    <a16:creationId xmlns:a16="http://schemas.microsoft.com/office/drawing/2014/main" id="{15252B65-36A0-93D9-88DD-76F6E9107A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9" y="4653"/>
                <a:ext cx="12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8" name="Rectangle 189">
                <a:extLst>
                  <a:ext uri="{FF2B5EF4-FFF2-40B4-BE49-F238E27FC236}">
                    <a16:creationId xmlns:a16="http://schemas.microsoft.com/office/drawing/2014/main" id="{4FC98043-B3C3-BEB2-823F-15BC2E191A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9" y="4653"/>
                <a:ext cx="12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9" name="Line 190">
                <a:extLst>
                  <a:ext uri="{FF2B5EF4-FFF2-40B4-BE49-F238E27FC236}">
                    <a16:creationId xmlns:a16="http://schemas.microsoft.com/office/drawing/2014/main" id="{D4A5830A-EA09-FF08-9F2A-E4966C0D20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9" y="4661"/>
                <a:ext cx="6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0" name="Rectangle 191">
                <a:extLst>
                  <a:ext uri="{FF2B5EF4-FFF2-40B4-BE49-F238E27FC236}">
                    <a16:creationId xmlns:a16="http://schemas.microsoft.com/office/drawing/2014/main" id="{F9A39A1B-3E56-AD37-76BC-20870CBE28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9" y="4661"/>
                <a:ext cx="6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1" name="Line 192">
                <a:extLst>
                  <a:ext uri="{FF2B5EF4-FFF2-40B4-BE49-F238E27FC236}">
                    <a16:creationId xmlns:a16="http://schemas.microsoft.com/office/drawing/2014/main" id="{E5A8B3AF-F741-D547-3AF0-B324D96D17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12" y="4630"/>
                <a:ext cx="33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2" name="Rectangle 193">
                <a:extLst>
                  <a:ext uri="{FF2B5EF4-FFF2-40B4-BE49-F238E27FC236}">
                    <a16:creationId xmlns:a16="http://schemas.microsoft.com/office/drawing/2014/main" id="{83FEE666-260B-79C4-3CB9-98DCB9028B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2" y="4630"/>
                <a:ext cx="33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3" name="Line 194">
                <a:extLst>
                  <a:ext uri="{FF2B5EF4-FFF2-40B4-BE49-F238E27FC236}">
                    <a16:creationId xmlns:a16="http://schemas.microsoft.com/office/drawing/2014/main" id="{69A66466-F19E-10D4-BB7E-5A9C1F2020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12" y="4638"/>
                <a:ext cx="26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4" name="Rectangle 195">
                <a:extLst>
                  <a:ext uri="{FF2B5EF4-FFF2-40B4-BE49-F238E27FC236}">
                    <a16:creationId xmlns:a16="http://schemas.microsoft.com/office/drawing/2014/main" id="{24AA6945-938A-5CC1-7A23-0B97E7ED8B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2" y="4638"/>
                <a:ext cx="26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5" name="Line 196">
                <a:extLst>
                  <a:ext uri="{FF2B5EF4-FFF2-40B4-BE49-F238E27FC236}">
                    <a16:creationId xmlns:a16="http://schemas.microsoft.com/office/drawing/2014/main" id="{C16B0F25-7C0E-AEC2-7194-7372FFF34F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12" y="4646"/>
                <a:ext cx="20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6" name="Rectangle 197">
                <a:extLst>
                  <a:ext uri="{FF2B5EF4-FFF2-40B4-BE49-F238E27FC236}">
                    <a16:creationId xmlns:a16="http://schemas.microsoft.com/office/drawing/2014/main" id="{1FA7328C-3A17-7813-44D4-C83B5C599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2" y="4646"/>
                <a:ext cx="20" cy="7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7" name="Line 198">
                <a:extLst>
                  <a:ext uri="{FF2B5EF4-FFF2-40B4-BE49-F238E27FC236}">
                    <a16:creationId xmlns:a16="http://schemas.microsoft.com/office/drawing/2014/main" id="{FB887A40-D108-E82E-AF10-6CF91070FE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12" y="4653"/>
                <a:ext cx="13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8" name="Rectangle 199">
                <a:extLst>
                  <a:ext uri="{FF2B5EF4-FFF2-40B4-BE49-F238E27FC236}">
                    <a16:creationId xmlns:a16="http://schemas.microsoft.com/office/drawing/2014/main" id="{9F955A7F-CFCC-C9DA-166A-A43042ECCC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2" y="4653"/>
                <a:ext cx="13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9" name="Line 200">
                <a:extLst>
                  <a:ext uri="{FF2B5EF4-FFF2-40B4-BE49-F238E27FC236}">
                    <a16:creationId xmlns:a16="http://schemas.microsoft.com/office/drawing/2014/main" id="{ABBABA7E-89CA-B1B3-D674-C6E4B798D3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12" y="4661"/>
                <a:ext cx="7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0" name="Rectangle 201">
                <a:extLst>
                  <a:ext uri="{FF2B5EF4-FFF2-40B4-BE49-F238E27FC236}">
                    <a16:creationId xmlns:a16="http://schemas.microsoft.com/office/drawing/2014/main" id="{7652A22D-96D8-4F89-9C3B-477AB4F2DF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2" y="4661"/>
                <a:ext cx="7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1" name="Line 202">
                <a:extLst>
                  <a:ext uri="{FF2B5EF4-FFF2-40B4-BE49-F238E27FC236}">
                    <a16:creationId xmlns:a16="http://schemas.microsoft.com/office/drawing/2014/main" id="{8E50420B-9CFC-6DDE-6875-87BD939770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6" y="4630"/>
                <a:ext cx="33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2" name="Rectangle 203">
                <a:extLst>
                  <a:ext uri="{FF2B5EF4-FFF2-40B4-BE49-F238E27FC236}">
                    <a16:creationId xmlns:a16="http://schemas.microsoft.com/office/drawing/2014/main" id="{42BD14E9-C03F-52AE-4624-C5B7D5EFAE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6" y="4630"/>
                <a:ext cx="33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3" name="Line 204">
                <a:extLst>
                  <a:ext uri="{FF2B5EF4-FFF2-40B4-BE49-F238E27FC236}">
                    <a16:creationId xmlns:a16="http://schemas.microsoft.com/office/drawing/2014/main" id="{CAC5441B-0536-557A-4055-AB7FC2966E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6" y="4638"/>
                <a:ext cx="26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5" name="Group 406">
              <a:extLst>
                <a:ext uri="{FF2B5EF4-FFF2-40B4-BE49-F238E27FC236}">
                  <a16:creationId xmlns:a16="http://schemas.microsoft.com/office/drawing/2014/main" id="{56DA7BA1-D6E9-535D-FB38-212C84048A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1" y="805"/>
              <a:ext cx="9872" cy="4618"/>
              <a:chOff x="411" y="805"/>
              <a:chExt cx="9872" cy="4618"/>
            </a:xfrm>
          </p:grpSpPr>
          <p:sp>
            <p:nvSpPr>
              <p:cNvPr id="344" name="Rectangle 206">
                <a:extLst>
                  <a:ext uri="{FF2B5EF4-FFF2-40B4-BE49-F238E27FC236}">
                    <a16:creationId xmlns:a16="http://schemas.microsoft.com/office/drawing/2014/main" id="{CA1EA51C-FAD6-B0D0-F012-ED80540093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6" y="4638"/>
                <a:ext cx="26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Line 207">
                <a:extLst>
                  <a:ext uri="{FF2B5EF4-FFF2-40B4-BE49-F238E27FC236}">
                    <a16:creationId xmlns:a16="http://schemas.microsoft.com/office/drawing/2014/main" id="{E0A69A18-A2DD-51B4-2039-4CD5FFA7D3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6" y="4646"/>
                <a:ext cx="20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208">
                <a:extLst>
                  <a:ext uri="{FF2B5EF4-FFF2-40B4-BE49-F238E27FC236}">
                    <a16:creationId xmlns:a16="http://schemas.microsoft.com/office/drawing/2014/main" id="{A9F8F348-48C8-BA62-F51F-8CF3B3B77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6" y="4646"/>
                <a:ext cx="20" cy="7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Line 209">
                <a:extLst>
                  <a:ext uri="{FF2B5EF4-FFF2-40B4-BE49-F238E27FC236}">
                    <a16:creationId xmlns:a16="http://schemas.microsoft.com/office/drawing/2014/main" id="{6DD69C3C-AF69-AAC2-974B-2E1C61C1CB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6" y="4653"/>
                <a:ext cx="13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210">
                <a:extLst>
                  <a:ext uri="{FF2B5EF4-FFF2-40B4-BE49-F238E27FC236}">
                    <a16:creationId xmlns:a16="http://schemas.microsoft.com/office/drawing/2014/main" id="{1D757F97-2161-A6D3-14C1-B0A4DDBCA2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6" y="4653"/>
                <a:ext cx="13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Line 211">
                <a:extLst>
                  <a:ext uri="{FF2B5EF4-FFF2-40B4-BE49-F238E27FC236}">
                    <a16:creationId xmlns:a16="http://schemas.microsoft.com/office/drawing/2014/main" id="{343977F9-9048-CB41-4278-7446E1C014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6" y="4661"/>
                <a:ext cx="7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212">
                <a:extLst>
                  <a:ext uri="{FF2B5EF4-FFF2-40B4-BE49-F238E27FC236}">
                    <a16:creationId xmlns:a16="http://schemas.microsoft.com/office/drawing/2014/main" id="{EFC8EA75-B72F-0EE4-4439-6249F5E69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6" y="4661"/>
                <a:ext cx="7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Line 213">
                <a:extLst>
                  <a:ext uri="{FF2B5EF4-FFF2-40B4-BE49-F238E27FC236}">
                    <a16:creationId xmlns:a16="http://schemas.microsoft.com/office/drawing/2014/main" id="{16AD150F-A7E4-ED6C-0A30-7DFC77E07B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60" y="4630"/>
                <a:ext cx="32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14">
                <a:extLst>
                  <a:ext uri="{FF2B5EF4-FFF2-40B4-BE49-F238E27FC236}">
                    <a16:creationId xmlns:a16="http://schemas.microsoft.com/office/drawing/2014/main" id="{6C6C0AC5-EE76-1183-0F09-0C98F52A3D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0" y="4630"/>
                <a:ext cx="32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Line 215">
                <a:extLst>
                  <a:ext uri="{FF2B5EF4-FFF2-40B4-BE49-F238E27FC236}">
                    <a16:creationId xmlns:a16="http://schemas.microsoft.com/office/drawing/2014/main" id="{CADDF4E8-151B-4682-54AB-F9BCF2C85D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60" y="4638"/>
                <a:ext cx="26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16">
                <a:extLst>
                  <a:ext uri="{FF2B5EF4-FFF2-40B4-BE49-F238E27FC236}">
                    <a16:creationId xmlns:a16="http://schemas.microsoft.com/office/drawing/2014/main" id="{83BB4F15-DFB3-AB0A-1090-919D4F83CE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0" y="4638"/>
                <a:ext cx="26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Line 217">
                <a:extLst>
                  <a:ext uri="{FF2B5EF4-FFF2-40B4-BE49-F238E27FC236}">
                    <a16:creationId xmlns:a16="http://schemas.microsoft.com/office/drawing/2014/main" id="{C72EEC7A-DE71-1096-D166-6069CB80C0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60" y="4646"/>
                <a:ext cx="20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18">
                <a:extLst>
                  <a:ext uri="{FF2B5EF4-FFF2-40B4-BE49-F238E27FC236}">
                    <a16:creationId xmlns:a16="http://schemas.microsoft.com/office/drawing/2014/main" id="{40A10DF3-B97A-2B6B-2FBB-529FC24384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0" y="4646"/>
                <a:ext cx="20" cy="7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Line 219">
                <a:extLst>
                  <a:ext uri="{FF2B5EF4-FFF2-40B4-BE49-F238E27FC236}">
                    <a16:creationId xmlns:a16="http://schemas.microsoft.com/office/drawing/2014/main" id="{8F72EF41-CDDB-2198-3EF7-BC15DAACA0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60" y="4653"/>
                <a:ext cx="13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20">
                <a:extLst>
                  <a:ext uri="{FF2B5EF4-FFF2-40B4-BE49-F238E27FC236}">
                    <a16:creationId xmlns:a16="http://schemas.microsoft.com/office/drawing/2014/main" id="{E89EEA10-E19A-18CE-B276-B2E7D0AF19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0" y="4653"/>
                <a:ext cx="13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Line 221">
                <a:extLst>
                  <a:ext uri="{FF2B5EF4-FFF2-40B4-BE49-F238E27FC236}">
                    <a16:creationId xmlns:a16="http://schemas.microsoft.com/office/drawing/2014/main" id="{B169945B-C2AF-A47A-8CF6-9A17F3C953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60" y="4661"/>
                <a:ext cx="7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22">
                <a:extLst>
                  <a:ext uri="{FF2B5EF4-FFF2-40B4-BE49-F238E27FC236}">
                    <a16:creationId xmlns:a16="http://schemas.microsoft.com/office/drawing/2014/main" id="{123D9617-BCFF-59C0-39AE-D643B2CBB7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0" y="4661"/>
                <a:ext cx="7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Line 223">
                <a:extLst>
                  <a:ext uri="{FF2B5EF4-FFF2-40B4-BE49-F238E27FC236}">
                    <a16:creationId xmlns:a16="http://schemas.microsoft.com/office/drawing/2014/main" id="{1D864D63-8777-5DB3-334C-668833F56F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34" y="4630"/>
                <a:ext cx="32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224">
                <a:extLst>
                  <a:ext uri="{FF2B5EF4-FFF2-40B4-BE49-F238E27FC236}">
                    <a16:creationId xmlns:a16="http://schemas.microsoft.com/office/drawing/2014/main" id="{FCAFC0B6-08D4-FC14-3C40-1CF1CF6EE4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4" y="4630"/>
                <a:ext cx="32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3" name="Line 225">
                <a:extLst>
                  <a:ext uri="{FF2B5EF4-FFF2-40B4-BE49-F238E27FC236}">
                    <a16:creationId xmlns:a16="http://schemas.microsoft.com/office/drawing/2014/main" id="{92815230-9246-295A-4718-4A5D88EE62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34" y="4638"/>
                <a:ext cx="26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4" name="Rectangle 226">
                <a:extLst>
                  <a:ext uri="{FF2B5EF4-FFF2-40B4-BE49-F238E27FC236}">
                    <a16:creationId xmlns:a16="http://schemas.microsoft.com/office/drawing/2014/main" id="{1858043E-6870-2BC4-8905-09F7B5B3C6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4" y="4638"/>
                <a:ext cx="26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5" name="Line 227">
                <a:extLst>
                  <a:ext uri="{FF2B5EF4-FFF2-40B4-BE49-F238E27FC236}">
                    <a16:creationId xmlns:a16="http://schemas.microsoft.com/office/drawing/2014/main" id="{9908AC39-5120-8E31-3077-377A5624FD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34" y="4646"/>
                <a:ext cx="19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6" name="Rectangle 228">
                <a:extLst>
                  <a:ext uri="{FF2B5EF4-FFF2-40B4-BE49-F238E27FC236}">
                    <a16:creationId xmlns:a16="http://schemas.microsoft.com/office/drawing/2014/main" id="{D217FFAB-691A-7623-9CCD-4BF470AD70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4" y="4646"/>
                <a:ext cx="19" cy="7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7" name="Line 229">
                <a:extLst>
                  <a:ext uri="{FF2B5EF4-FFF2-40B4-BE49-F238E27FC236}">
                    <a16:creationId xmlns:a16="http://schemas.microsoft.com/office/drawing/2014/main" id="{EA00A1A3-A0B2-D3E1-100D-C3A32B833B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34" y="4653"/>
                <a:ext cx="13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8" name="Rectangle 230">
                <a:extLst>
                  <a:ext uri="{FF2B5EF4-FFF2-40B4-BE49-F238E27FC236}">
                    <a16:creationId xmlns:a16="http://schemas.microsoft.com/office/drawing/2014/main" id="{183713CA-8D6E-759B-A656-D8EECB921F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4" y="4653"/>
                <a:ext cx="13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9" name="Line 231">
                <a:extLst>
                  <a:ext uri="{FF2B5EF4-FFF2-40B4-BE49-F238E27FC236}">
                    <a16:creationId xmlns:a16="http://schemas.microsoft.com/office/drawing/2014/main" id="{67565FE8-8764-6E86-514C-F5CBA19AC8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34" y="4661"/>
                <a:ext cx="6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0" name="Rectangle 232">
                <a:extLst>
                  <a:ext uri="{FF2B5EF4-FFF2-40B4-BE49-F238E27FC236}">
                    <a16:creationId xmlns:a16="http://schemas.microsoft.com/office/drawing/2014/main" id="{6BADFAB2-2432-065F-0B37-DCD76BF5D3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4" y="4661"/>
                <a:ext cx="6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1" name="Line 233">
                <a:extLst>
                  <a:ext uri="{FF2B5EF4-FFF2-40B4-BE49-F238E27FC236}">
                    <a16:creationId xmlns:a16="http://schemas.microsoft.com/office/drawing/2014/main" id="{14F11279-5C30-7A47-E576-33EF68EC36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08" y="4630"/>
                <a:ext cx="32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2" name="Rectangle 234">
                <a:extLst>
                  <a:ext uri="{FF2B5EF4-FFF2-40B4-BE49-F238E27FC236}">
                    <a16:creationId xmlns:a16="http://schemas.microsoft.com/office/drawing/2014/main" id="{60E77DC7-BC85-DB86-DA9A-6DE4CD6A0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8" y="4630"/>
                <a:ext cx="32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3" name="Line 235">
                <a:extLst>
                  <a:ext uri="{FF2B5EF4-FFF2-40B4-BE49-F238E27FC236}">
                    <a16:creationId xmlns:a16="http://schemas.microsoft.com/office/drawing/2014/main" id="{7D8DF6BA-AC50-16A1-9E37-37DFBA78CB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08" y="4638"/>
                <a:ext cx="26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4" name="Rectangle 236">
                <a:extLst>
                  <a:ext uri="{FF2B5EF4-FFF2-40B4-BE49-F238E27FC236}">
                    <a16:creationId xmlns:a16="http://schemas.microsoft.com/office/drawing/2014/main" id="{EE54E1D2-E3E5-937E-2EAE-6C549BA8B1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8" y="4638"/>
                <a:ext cx="26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5" name="Line 237">
                <a:extLst>
                  <a:ext uri="{FF2B5EF4-FFF2-40B4-BE49-F238E27FC236}">
                    <a16:creationId xmlns:a16="http://schemas.microsoft.com/office/drawing/2014/main" id="{9E18C6B9-2FD5-158E-C4E8-A581CDBC22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08" y="4646"/>
                <a:ext cx="19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6" name="Rectangle 238">
                <a:extLst>
                  <a:ext uri="{FF2B5EF4-FFF2-40B4-BE49-F238E27FC236}">
                    <a16:creationId xmlns:a16="http://schemas.microsoft.com/office/drawing/2014/main" id="{D9860E01-C875-3AC8-FC66-41ED46C492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8" y="4646"/>
                <a:ext cx="19" cy="7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7" name="Line 239">
                <a:extLst>
                  <a:ext uri="{FF2B5EF4-FFF2-40B4-BE49-F238E27FC236}">
                    <a16:creationId xmlns:a16="http://schemas.microsoft.com/office/drawing/2014/main" id="{EBB77F9C-64BF-9C40-F811-A05474C42F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08" y="4653"/>
                <a:ext cx="13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8" name="Rectangle 240">
                <a:extLst>
                  <a:ext uri="{FF2B5EF4-FFF2-40B4-BE49-F238E27FC236}">
                    <a16:creationId xmlns:a16="http://schemas.microsoft.com/office/drawing/2014/main" id="{78C8855D-1626-4EA6-E565-51FC01A898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8" y="4653"/>
                <a:ext cx="13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9" name="Line 241">
                <a:extLst>
                  <a:ext uri="{FF2B5EF4-FFF2-40B4-BE49-F238E27FC236}">
                    <a16:creationId xmlns:a16="http://schemas.microsoft.com/office/drawing/2014/main" id="{F0C0A1A2-6B99-16A5-4C64-2961373790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08" y="4661"/>
                <a:ext cx="6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0" name="Rectangle 242">
                <a:extLst>
                  <a:ext uri="{FF2B5EF4-FFF2-40B4-BE49-F238E27FC236}">
                    <a16:creationId xmlns:a16="http://schemas.microsoft.com/office/drawing/2014/main" id="{1EB90805-BF8F-4A10-78D8-A87F63DAD7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8" y="4661"/>
                <a:ext cx="6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1" name="Line 243">
                <a:extLst>
                  <a:ext uri="{FF2B5EF4-FFF2-40B4-BE49-F238E27FC236}">
                    <a16:creationId xmlns:a16="http://schemas.microsoft.com/office/drawing/2014/main" id="{BE6199AA-7E73-AA13-73C0-201A005282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82" y="4630"/>
                <a:ext cx="32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2" name="Rectangle 244">
                <a:extLst>
                  <a:ext uri="{FF2B5EF4-FFF2-40B4-BE49-F238E27FC236}">
                    <a16:creationId xmlns:a16="http://schemas.microsoft.com/office/drawing/2014/main" id="{24ED3A63-10EB-41CF-25AD-7CB961BE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82" y="4630"/>
                <a:ext cx="32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3" name="Line 245">
                <a:extLst>
                  <a:ext uri="{FF2B5EF4-FFF2-40B4-BE49-F238E27FC236}">
                    <a16:creationId xmlns:a16="http://schemas.microsoft.com/office/drawing/2014/main" id="{323051E2-9FF8-F2FB-925D-ED45CC96AE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82" y="4638"/>
                <a:ext cx="26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4" name="Rectangle 246">
                <a:extLst>
                  <a:ext uri="{FF2B5EF4-FFF2-40B4-BE49-F238E27FC236}">
                    <a16:creationId xmlns:a16="http://schemas.microsoft.com/office/drawing/2014/main" id="{21563FFB-1D20-26B1-3E11-44FBB136A2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82" y="4638"/>
                <a:ext cx="26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5" name="Line 247">
                <a:extLst>
                  <a:ext uri="{FF2B5EF4-FFF2-40B4-BE49-F238E27FC236}">
                    <a16:creationId xmlns:a16="http://schemas.microsoft.com/office/drawing/2014/main" id="{E16451BE-F7B8-06AB-723F-5C23590C49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82" y="4646"/>
                <a:ext cx="19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6" name="Rectangle 248">
                <a:extLst>
                  <a:ext uri="{FF2B5EF4-FFF2-40B4-BE49-F238E27FC236}">
                    <a16:creationId xmlns:a16="http://schemas.microsoft.com/office/drawing/2014/main" id="{21272623-D6EE-02BF-FB00-B6B010D5C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82" y="4646"/>
                <a:ext cx="19" cy="7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7" name="Line 249">
                <a:extLst>
                  <a:ext uri="{FF2B5EF4-FFF2-40B4-BE49-F238E27FC236}">
                    <a16:creationId xmlns:a16="http://schemas.microsoft.com/office/drawing/2014/main" id="{31DA4086-2915-EA73-4B35-08DD1213B1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82" y="4653"/>
                <a:ext cx="13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8" name="Rectangle 250">
                <a:extLst>
                  <a:ext uri="{FF2B5EF4-FFF2-40B4-BE49-F238E27FC236}">
                    <a16:creationId xmlns:a16="http://schemas.microsoft.com/office/drawing/2014/main" id="{FBBC0216-9878-750C-D100-9CD4E9BE7C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82" y="4653"/>
                <a:ext cx="13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9" name="Line 251">
                <a:extLst>
                  <a:ext uri="{FF2B5EF4-FFF2-40B4-BE49-F238E27FC236}">
                    <a16:creationId xmlns:a16="http://schemas.microsoft.com/office/drawing/2014/main" id="{05DC7B8B-EDE1-717A-7C05-F0C6511536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82" y="4661"/>
                <a:ext cx="6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0" name="Rectangle 252">
                <a:extLst>
                  <a:ext uri="{FF2B5EF4-FFF2-40B4-BE49-F238E27FC236}">
                    <a16:creationId xmlns:a16="http://schemas.microsoft.com/office/drawing/2014/main" id="{4BD6E3B3-2EA2-89A2-6AD3-A1AFA6E80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82" y="4661"/>
                <a:ext cx="6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1" name="Line 253">
                <a:extLst>
                  <a:ext uri="{FF2B5EF4-FFF2-40B4-BE49-F238E27FC236}">
                    <a16:creationId xmlns:a16="http://schemas.microsoft.com/office/drawing/2014/main" id="{F7B17EB6-CDFA-5669-111A-F1B023C7B3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56" y="4630"/>
                <a:ext cx="32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2" name="Rectangle 254">
                <a:extLst>
                  <a:ext uri="{FF2B5EF4-FFF2-40B4-BE49-F238E27FC236}">
                    <a16:creationId xmlns:a16="http://schemas.microsoft.com/office/drawing/2014/main" id="{55A69AF8-2C2C-3AE0-177F-026ABB340A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56" y="4630"/>
                <a:ext cx="32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3" name="Line 255">
                <a:extLst>
                  <a:ext uri="{FF2B5EF4-FFF2-40B4-BE49-F238E27FC236}">
                    <a16:creationId xmlns:a16="http://schemas.microsoft.com/office/drawing/2014/main" id="{55CD060A-1D7C-C5A9-56F1-B8B546C632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56" y="4638"/>
                <a:ext cx="25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4" name="Rectangle 256">
                <a:extLst>
                  <a:ext uri="{FF2B5EF4-FFF2-40B4-BE49-F238E27FC236}">
                    <a16:creationId xmlns:a16="http://schemas.microsoft.com/office/drawing/2014/main" id="{BC2F6E21-880B-86A3-AA3C-35E6884FD4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56" y="4638"/>
                <a:ext cx="25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5" name="Line 257">
                <a:extLst>
                  <a:ext uri="{FF2B5EF4-FFF2-40B4-BE49-F238E27FC236}">
                    <a16:creationId xmlns:a16="http://schemas.microsoft.com/office/drawing/2014/main" id="{329E4268-91B7-81A5-B946-84F86BF057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56" y="4646"/>
                <a:ext cx="19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6" name="Rectangle 258">
                <a:extLst>
                  <a:ext uri="{FF2B5EF4-FFF2-40B4-BE49-F238E27FC236}">
                    <a16:creationId xmlns:a16="http://schemas.microsoft.com/office/drawing/2014/main" id="{59EDA2EA-63A1-E444-1DF5-DB3539AA0F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56" y="4646"/>
                <a:ext cx="19" cy="7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7" name="Line 259">
                <a:extLst>
                  <a:ext uri="{FF2B5EF4-FFF2-40B4-BE49-F238E27FC236}">
                    <a16:creationId xmlns:a16="http://schemas.microsoft.com/office/drawing/2014/main" id="{8F4C7DE4-FDB2-BED1-5286-12865B7E7E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56" y="4653"/>
                <a:ext cx="13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8" name="Rectangle 260">
                <a:extLst>
                  <a:ext uri="{FF2B5EF4-FFF2-40B4-BE49-F238E27FC236}">
                    <a16:creationId xmlns:a16="http://schemas.microsoft.com/office/drawing/2014/main" id="{0409D1DB-FEF7-203D-3F53-62D438B1AC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56" y="4653"/>
                <a:ext cx="13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9" name="Line 261">
                <a:extLst>
                  <a:ext uri="{FF2B5EF4-FFF2-40B4-BE49-F238E27FC236}">
                    <a16:creationId xmlns:a16="http://schemas.microsoft.com/office/drawing/2014/main" id="{47A10E52-6CFC-4C3E-25FF-E6D4D0050C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56" y="4661"/>
                <a:ext cx="6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0" name="Rectangle 262">
                <a:extLst>
                  <a:ext uri="{FF2B5EF4-FFF2-40B4-BE49-F238E27FC236}">
                    <a16:creationId xmlns:a16="http://schemas.microsoft.com/office/drawing/2014/main" id="{E3BBBCA3-127B-A947-24DD-5844BDBE28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56" y="4661"/>
                <a:ext cx="6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1" name="Line 263">
                <a:extLst>
                  <a:ext uri="{FF2B5EF4-FFF2-40B4-BE49-F238E27FC236}">
                    <a16:creationId xmlns:a16="http://schemas.microsoft.com/office/drawing/2014/main" id="{99B1174E-5F6C-374C-BD9D-18A2CB41E8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29" y="4630"/>
                <a:ext cx="33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2" name="Rectangle 264">
                <a:extLst>
                  <a:ext uri="{FF2B5EF4-FFF2-40B4-BE49-F238E27FC236}">
                    <a16:creationId xmlns:a16="http://schemas.microsoft.com/office/drawing/2014/main" id="{72CA87C7-17BD-6643-EF6A-A9F2C074D4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29" y="4630"/>
                <a:ext cx="33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3" name="Line 265">
                <a:extLst>
                  <a:ext uri="{FF2B5EF4-FFF2-40B4-BE49-F238E27FC236}">
                    <a16:creationId xmlns:a16="http://schemas.microsoft.com/office/drawing/2014/main" id="{3DE47658-99A3-B612-2367-4395B7051B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29" y="4638"/>
                <a:ext cx="26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4" name="Rectangle 266">
                <a:extLst>
                  <a:ext uri="{FF2B5EF4-FFF2-40B4-BE49-F238E27FC236}">
                    <a16:creationId xmlns:a16="http://schemas.microsoft.com/office/drawing/2014/main" id="{2879AC75-7B95-EF83-7808-9BD4772788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29" y="4638"/>
                <a:ext cx="26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5" name="Line 267">
                <a:extLst>
                  <a:ext uri="{FF2B5EF4-FFF2-40B4-BE49-F238E27FC236}">
                    <a16:creationId xmlns:a16="http://schemas.microsoft.com/office/drawing/2014/main" id="{28E41651-8D65-86C3-256E-AA95363725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29" y="4646"/>
                <a:ext cx="20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6" name="Rectangle 268">
                <a:extLst>
                  <a:ext uri="{FF2B5EF4-FFF2-40B4-BE49-F238E27FC236}">
                    <a16:creationId xmlns:a16="http://schemas.microsoft.com/office/drawing/2014/main" id="{5DF8A6FB-7A25-DF89-9144-B11A79CE33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29" y="4646"/>
                <a:ext cx="20" cy="7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7" name="Line 269">
                <a:extLst>
                  <a:ext uri="{FF2B5EF4-FFF2-40B4-BE49-F238E27FC236}">
                    <a16:creationId xmlns:a16="http://schemas.microsoft.com/office/drawing/2014/main" id="{A1A5F410-499E-3FD1-B524-2080CC234C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29" y="4653"/>
                <a:ext cx="13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8" name="Rectangle 270">
                <a:extLst>
                  <a:ext uri="{FF2B5EF4-FFF2-40B4-BE49-F238E27FC236}">
                    <a16:creationId xmlns:a16="http://schemas.microsoft.com/office/drawing/2014/main" id="{F9DCDEBE-6D4D-58CB-1F2C-78FAEBA92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29" y="4653"/>
                <a:ext cx="13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9" name="Line 271">
                <a:extLst>
                  <a:ext uri="{FF2B5EF4-FFF2-40B4-BE49-F238E27FC236}">
                    <a16:creationId xmlns:a16="http://schemas.microsoft.com/office/drawing/2014/main" id="{C9E7DB19-0B36-D47A-2090-D34D98CFEA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29" y="4661"/>
                <a:ext cx="7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0" name="Rectangle 272">
                <a:extLst>
                  <a:ext uri="{FF2B5EF4-FFF2-40B4-BE49-F238E27FC236}">
                    <a16:creationId xmlns:a16="http://schemas.microsoft.com/office/drawing/2014/main" id="{064A2E7A-619B-22E4-B233-0F4F738A97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29" y="4661"/>
                <a:ext cx="7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1" name="Line 273">
                <a:extLst>
                  <a:ext uri="{FF2B5EF4-FFF2-40B4-BE49-F238E27FC236}">
                    <a16:creationId xmlns:a16="http://schemas.microsoft.com/office/drawing/2014/main" id="{43663944-884F-BBBE-AD9A-D27E7C4070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03" y="4630"/>
                <a:ext cx="33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2" name="Rectangle 274">
                <a:extLst>
                  <a:ext uri="{FF2B5EF4-FFF2-40B4-BE49-F238E27FC236}">
                    <a16:creationId xmlns:a16="http://schemas.microsoft.com/office/drawing/2014/main" id="{83C183CB-8876-4857-B3C2-DE59E7634B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03" y="4630"/>
                <a:ext cx="33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3" name="Line 275">
                <a:extLst>
                  <a:ext uri="{FF2B5EF4-FFF2-40B4-BE49-F238E27FC236}">
                    <a16:creationId xmlns:a16="http://schemas.microsoft.com/office/drawing/2014/main" id="{B3B5CFD0-AD9A-551C-323D-E68E194C6D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03" y="4638"/>
                <a:ext cx="26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4" name="Rectangle 276">
                <a:extLst>
                  <a:ext uri="{FF2B5EF4-FFF2-40B4-BE49-F238E27FC236}">
                    <a16:creationId xmlns:a16="http://schemas.microsoft.com/office/drawing/2014/main" id="{06DF6B16-DB55-B5ED-EB01-73DC06BF3A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03" y="4638"/>
                <a:ext cx="26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5" name="Line 277">
                <a:extLst>
                  <a:ext uri="{FF2B5EF4-FFF2-40B4-BE49-F238E27FC236}">
                    <a16:creationId xmlns:a16="http://schemas.microsoft.com/office/drawing/2014/main" id="{0DD6495E-C1D1-BB75-7F5C-EF4349F347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03" y="4646"/>
                <a:ext cx="20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6" name="Rectangle 278">
                <a:extLst>
                  <a:ext uri="{FF2B5EF4-FFF2-40B4-BE49-F238E27FC236}">
                    <a16:creationId xmlns:a16="http://schemas.microsoft.com/office/drawing/2014/main" id="{8E6E9FE6-6981-6DCC-1BD7-BE96877C48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03" y="4646"/>
                <a:ext cx="20" cy="7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7" name="Line 279">
                <a:extLst>
                  <a:ext uri="{FF2B5EF4-FFF2-40B4-BE49-F238E27FC236}">
                    <a16:creationId xmlns:a16="http://schemas.microsoft.com/office/drawing/2014/main" id="{58B8DAB4-93EB-42D5-69F5-8D1EC1D0EB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03" y="4653"/>
                <a:ext cx="13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8" name="Rectangle 280">
                <a:extLst>
                  <a:ext uri="{FF2B5EF4-FFF2-40B4-BE49-F238E27FC236}">
                    <a16:creationId xmlns:a16="http://schemas.microsoft.com/office/drawing/2014/main" id="{94483C2D-26B3-FF1F-22FB-69380A9E27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03" y="4653"/>
                <a:ext cx="13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9" name="Line 281">
                <a:extLst>
                  <a:ext uri="{FF2B5EF4-FFF2-40B4-BE49-F238E27FC236}">
                    <a16:creationId xmlns:a16="http://schemas.microsoft.com/office/drawing/2014/main" id="{35D8504C-A78A-D7FF-CEDC-BB04BE434D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03" y="4661"/>
                <a:ext cx="7" cy="0"/>
              </a:xfrm>
              <a:prstGeom prst="line">
                <a:avLst/>
              </a:prstGeom>
              <a:noFill/>
              <a:ln w="0">
                <a:solidFill>
                  <a:srgbClr val="008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0" name="Rectangle 282">
                <a:extLst>
                  <a:ext uri="{FF2B5EF4-FFF2-40B4-BE49-F238E27FC236}">
                    <a16:creationId xmlns:a16="http://schemas.microsoft.com/office/drawing/2014/main" id="{89FB9B4A-451C-81CD-0B6E-177806439B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03" y="4661"/>
                <a:ext cx="7" cy="8"/>
              </a:xfrm>
              <a:prstGeom prst="rect">
                <a:avLst/>
              </a:prstGeom>
              <a:solidFill>
                <a:srgbClr val="008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1" name="Rectangle 283">
                <a:extLst>
                  <a:ext uri="{FF2B5EF4-FFF2-40B4-BE49-F238E27FC236}">
                    <a16:creationId xmlns:a16="http://schemas.microsoft.com/office/drawing/2014/main" id="{30B87C54-FDAC-586F-5A75-7E96ABCAB0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" y="4739"/>
                <a:ext cx="8840" cy="26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2" name="Rectangle 284">
                <a:extLst>
                  <a:ext uri="{FF2B5EF4-FFF2-40B4-BE49-F238E27FC236}">
                    <a16:creationId xmlns:a16="http://schemas.microsoft.com/office/drawing/2014/main" id="{493845F4-BEB9-074A-3C26-FC0F94617E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45" y="4739"/>
                <a:ext cx="1038" cy="264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3" name="Rectangle 285">
                <a:extLst>
                  <a:ext uri="{FF2B5EF4-FFF2-40B4-BE49-F238E27FC236}">
                    <a16:creationId xmlns:a16="http://schemas.microsoft.com/office/drawing/2014/main" id="{D2F51D56-58D1-C80D-A225-6F75FC41C2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" y="4995"/>
                <a:ext cx="1380" cy="125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4" name="Rectangle 286">
                <a:extLst>
                  <a:ext uri="{FF2B5EF4-FFF2-40B4-BE49-F238E27FC236}">
                    <a16:creationId xmlns:a16="http://schemas.microsoft.com/office/drawing/2014/main" id="{3C43FD18-61CA-2037-2384-E038A5452B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4" y="4995"/>
                <a:ext cx="7467" cy="125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5" name="Rectangle 287">
                <a:extLst>
                  <a:ext uri="{FF2B5EF4-FFF2-40B4-BE49-F238E27FC236}">
                    <a16:creationId xmlns:a16="http://schemas.microsoft.com/office/drawing/2014/main" id="{85DD39C4-0DC6-7465-6A92-35AC86C755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45" y="4995"/>
                <a:ext cx="1038" cy="125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6" name="Rectangle 288">
                <a:extLst>
                  <a:ext uri="{FF2B5EF4-FFF2-40B4-BE49-F238E27FC236}">
                    <a16:creationId xmlns:a16="http://schemas.microsoft.com/office/drawing/2014/main" id="{DF2B25BC-0FDF-ADAF-DB73-3A44BBBBA7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" y="5112"/>
                <a:ext cx="1380" cy="241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7" name="Rectangle 289">
                <a:extLst>
                  <a:ext uri="{FF2B5EF4-FFF2-40B4-BE49-F238E27FC236}">
                    <a16:creationId xmlns:a16="http://schemas.microsoft.com/office/drawing/2014/main" id="{0C5920D5-769C-43CB-843B-4C7EB15EF1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1" y="5113"/>
                <a:ext cx="6893" cy="241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IN" sz="1100" dirty="0"/>
                  <a:t>90%	90%	90%	90%	90%	90%	90%	90%	90%	90%	90%	90%</a:t>
                </a:r>
                <a:br>
                  <a:rPr lang="en-IN" sz="1100" dirty="0"/>
                </a:br>
                <a:r>
                  <a:rPr lang="en-IN" sz="1100" dirty="0"/>
                  <a:t>66%	42%	66%	42%	66%	42%	66%	42%	66%	42%	66%	42%</a:t>
                </a:r>
              </a:p>
            </p:txBody>
          </p:sp>
          <p:sp>
            <p:nvSpPr>
              <p:cNvPr id="428" name="Rectangle 290">
                <a:extLst>
                  <a:ext uri="{FF2B5EF4-FFF2-40B4-BE49-F238E27FC236}">
                    <a16:creationId xmlns:a16="http://schemas.microsoft.com/office/drawing/2014/main" id="{DDBB0EB5-89F4-2FF5-74C5-3F6CFFD822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71" y="5112"/>
                <a:ext cx="580" cy="2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9" name="Rectangle 291">
                <a:extLst>
                  <a:ext uri="{FF2B5EF4-FFF2-40B4-BE49-F238E27FC236}">
                    <a16:creationId xmlns:a16="http://schemas.microsoft.com/office/drawing/2014/main" id="{736AC2E0-33A3-4471-FB30-EDC4746B15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45" y="5112"/>
                <a:ext cx="1038" cy="241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0" name="Rectangle 292">
                <a:extLst>
                  <a:ext uri="{FF2B5EF4-FFF2-40B4-BE49-F238E27FC236}">
                    <a16:creationId xmlns:a16="http://schemas.microsoft.com/office/drawing/2014/main" id="{0BB924E3-6320-7E7D-6524-21EAF4F0E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" y="5345"/>
                <a:ext cx="9872" cy="78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1" name="Rectangle 293">
                <a:extLst>
                  <a:ext uri="{FF2B5EF4-FFF2-40B4-BE49-F238E27FC236}">
                    <a16:creationId xmlns:a16="http://schemas.microsoft.com/office/drawing/2014/main" id="{07B624F4-95D4-4C00-9B93-0FAC2CBE1B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" y="805"/>
                <a:ext cx="1193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6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Profit and loss forecast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32" name="Rectangle 294">
                <a:extLst>
                  <a:ext uri="{FF2B5EF4-FFF2-40B4-BE49-F238E27FC236}">
                    <a16:creationId xmlns:a16="http://schemas.microsoft.com/office/drawing/2014/main" id="{732195E6-9D28-364C-A830-48EE5D8716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84" y="1038"/>
                <a:ext cx="226" cy="1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JAN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33" name="Rectangle 295">
                <a:extLst>
                  <a:ext uri="{FF2B5EF4-FFF2-40B4-BE49-F238E27FC236}">
                    <a16:creationId xmlns:a16="http://schemas.microsoft.com/office/drawing/2014/main" id="{2EA89BB9-202B-34BF-0046-496459FABE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71" y="1038"/>
                <a:ext cx="206" cy="1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FEB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34" name="Rectangle 296">
                <a:extLst>
                  <a:ext uri="{FF2B5EF4-FFF2-40B4-BE49-F238E27FC236}">
                    <a16:creationId xmlns:a16="http://schemas.microsoft.com/office/drawing/2014/main" id="{0F47D145-8310-3859-B095-4509BCD826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2" y="1038"/>
                <a:ext cx="226" cy="1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MAR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35" name="Rectangle 297">
                <a:extLst>
                  <a:ext uri="{FF2B5EF4-FFF2-40B4-BE49-F238E27FC236}">
                    <a16:creationId xmlns:a16="http://schemas.microsoft.com/office/drawing/2014/main" id="{E5460EBA-DAC2-8055-0EEE-5698E7E7B7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2" y="1038"/>
                <a:ext cx="213" cy="1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APR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36" name="Rectangle 298">
                <a:extLst>
                  <a:ext uri="{FF2B5EF4-FFF2-40B4-BE49-F238E27FC236}">
                    <a16:creationId xmlns:a16="http://schemas.microsoft.com/office/drawing/2014/main" id="{43B3B1C4-9EA4-08E1-9F35-81263C3E6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0" y="1038"/>
                <a:ext cx="226" cy="1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MAY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37" name="Rectangle 299">
                <a:extLst>
                  <a:ext uri="{FF2B5EF4-FFF2-40B4-BE49-F238E27FC236}">
                    <a16:creationId xmlns:a16="http://schemas.microsoft.com/office/drawing/2014/main" id="{6D286C87-3892-F82D-8EFC-28243E44C6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41" y="1038"/>
                <a:ext cx="264" cy="1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JUNE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38" name="Rectangle 300">
                <a:extLst>
                  <a:ext uri="{FF2B5EF4-FFF2-40B4-BE49-F238E27FC236}">
                    <a16:creationId xmlns:a16="http://schemas.microsoft.com/office/drawing/2014/main" id="{EBD3033E-A5AA-231D-6518-FDAC393E3F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15" y="1038"/>
                <a:ext cx="251" cy="1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JULY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39" name="Rectangle 301">
                <a:extLst>
                  <a:ext uri="{FF2B5EF4-FFF2-40B4-BE49-F238E27FC236}">
                    <a16:creationId xmlns:a16="http://schemas.microsoft.com/office/drawing/2014/main" id="{1BEDB6F7-DF88-7F11-44FA-C28500F1F2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01" y="1038"/>
                <a:ext cx="226" cy="1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AUG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40" name="Rectangle 302">
                <a:extLst>
                  <a:ext uri="{FF2B5EF4-FFF2-40B4-BE49-F238E27FC236}">
                    <a16:creationId xmlns:a16="http://schemas.microsoft.com/office/drawing/2014/main" id="{BBBA0836-16D3-663A-FB46-0361F0E16E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82" y="1038"/>
                <a:ext cx="206" cy="1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SEP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41" name="Rectangle 303">
                <a:extLst>
                  <a:ext uri="{FF2B5EF4-FFF2-40B4-BE49-F238E27FC236}">
                    <a16:creationId xmlns:a16="http://schemas.microsoft.com/office/drawing/2014/main" id="{0C883970-5A8C-C367-C9B8-CB91DEDC68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56" y="1038"/>
                <a:ext cx="213" cy="1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OCT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42" name="Rectangle 304">
                <a:extLst>
                  <a:ext uri="{FF2B5EF4-FFF2-40B4-BE49-F238E27FC236}">
                    <a16:creationId xmlns:a16="http://schemas.microsoft.com/office/drawing/2014/main" id="{E74A06D8-BB7B-A76B-0F10-599FF2D119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23" y="1038"/>
                <a:ext cx="219" cy="1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NOV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43" name="Rectangle 305">
                <a:extLst>
                  <a:ext uri="{FF2B5EF4-FFF2-40B4-BE49-F238E27FC236}">
                    <a16:creationId xmlns:a16="http://schemas.microsoft.com/office/drawing/2014/main" id="{41D6A404-7DD9-0E95-12D4-83EE9092A1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03" y="1038"/>
                <a:ext cx="213" cy="1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DEC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44" name="Rectangle 306">
                <a:extLst>
                  <a:ext uri="{FF2B5EF4-FFF2-40B4-BE49-F238E27FC236}">
                    <a16:creationId xmlns:a16="http://schemas.microsoft.com/office/drawing/2014/main" id="{A02F74DF-A919-9C8D-2B2B-B7DF8D3770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38" y="1038"/>
                <a:ext cx="284" cy="1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Totals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45" name="Rectangle 307">
                <a:extLst>
                  <a:ext uri="{FF2B5EF4-FFF2-40B4-BE49-F238E27FC236}">
                    <a16:creationId xmlns:a16="http://schemas.microsoft.com/office/drawing/2014/main" id="{37D33B5B-5AB2-4225-EBB5-AF346141DB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" y="1287"/>
                <a:ext cx="258" cy="1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Sales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46" name="Rectangle 308">
                <a:extLst>
                  <a:ext uri="{FF2B5EF4-FFF2-40B4-BE49-F238E27FC236}">
                    <a16:creationId xmlns:a16="http://schemas.microsoft.com/office/drawing/2014/main" id="{99F98B32-1D01-5D49-24C4-A8FA5FDD6F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" y="1458"/>
                <a:ext cx="387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Cash sales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47" name="Rectangle 309">
                <a:extLst>
                  <a:ext uri="{FF2B5EF4-FFF2-40B4-BE49-F238E27FC236}">
                    <a16:creationId xmlns:a16="http://schemas.microsoft.com/office/drawing/2014/main" id="{7B17EF11-49CA-D7AE-C2C6-702226DA94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" y="1637"/>
                <a:ext cx="1206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Collections from accounts receivable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48" name="Rectangle 310">
                <a:extLst>
                  <a:ext uri="{FF2B5EF4-FFF2-40B4-BE49-F238E27FC236}">
                    <a16:creationId xmlns:a16="http://schemas.microsoft.com/office/drawing/2014/main" id="{CFFD7101-6FDE-1AB3-97FC-1CDB3478D2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" y="1816"/>
                <a:ext cx="658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Other cash receipts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49" name="Rectangle 311">
                <a:extLst>
                  <a:ext uri="{FF2B5EF4-FFF2-40B4-BE49-F238E27FC236}">
                    <a16:creationId xmlns:a16="http://schemas.microsoft.com/office/drawing/2014/main" id="{8F78FA43-DDF6-A076-61A3-E7428C7493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" y="1956"/>
                <a:ext cx="413" cy="1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Total Sales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50" name="Rectangle 312">
                <a:extLst>
                  <a:ext uri="{FF2B5EF4-FFF2-40B4-BE49-F238E27FC236}">
                    <a16:creationId xmlns:a16="http://schemas.microsoft.com/office/drawing/2014/main" id="{C8B62AC0-BAEE-B359-2C7E-75F3F7109F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1979"/>
                <a:ext cx="379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IN" sz="1100" b="0" i="0" dirty="0">
                    <a:effectLst/>
                    <a:latin typeface="Roboto" panose="02000000000000000000" pitchFamily="2" charset="0"/>
                  </a:rPr>
                  <a:t>51,00,000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51" name="Rectangle 313">
                <a:extLst>
                  <a:ext uri="{FF2B5EF4-FFF2-40B4-BE49-F238E27FC236}">
                    <a16:creationId xmlns:a16="http://schemas.microsoft.com/office/drawing/2014/main" id="{850DC5A5-415B-BB62-0996-613DC9F014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85" y="1979"/>
                <a:ext cx="393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25,50,000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52" name="Rectangle 314">
                <a:extLst>
                  <a:ext uri="{FF2B5EF4-FFF2-40B4-BE49-F238E27FC236}">
                    <a16:creationId xmlns:a16="http://schemas.microsoft.com/office/drawing/2014/main" id="{C86118E2-8874-5296-BCAF-2FE50DF603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8" y="1979"/>
                <a:ext cx="393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51,00,000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53" name="Rectangle 315">
                <a:extLst>
                  <a:ext uri="{FF2B5EF4-FFF2-40B4-BE49-F238E27FC236}">
                    <a16:creationId xmlns:a16="http://schemas.microsoft.com/office/drawing/2014/main" id="{CBB96776-B777-6C2D-639C-33164FAB47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0" y="1979"/>
                <a:ext cx="393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25,50,000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54" name="Rectangle 316">
                <a:extLst>
                  <a:ext uri="{FF2B5EF4-FFF2-40B4-BE49-F238E27FC236}">
                    <a16:creationId xmlns:a16="http://schemas.microsoft.com/office/drawing/2014/main" id="{3104D2E2-68EA-9867-CC03-B79B02B97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1979"/>
                <a:ext cx="343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51,00,00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55" name="Rectangle 317">
                <a:extLst>
                  <a:ext uri="{FF2B5EF4-FFF2-40B4-BE49-F238E27FC236}">
                    <a16:creationId xmlns:a16="http://schemas.microsoft.com/office/drawing/2014/main" id="{14D3DC8B-CA54-99B8-14C1-099DD1D7E1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76" y="1979"/>
                <a:ext cx="393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25,50,000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56" name="Rectangle 318">
                <a:extLst>
                  <a:ext uri="{FF2B5EF4-FFF2-40B4-BE49-F238E27FC236}">
                    <a16:creationId xmlns:a16="http://schemas.microsoft.com/office/drawing/2014/main" id="{12B27A66-3641-7195-C7E7-9F31E632BC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32" y="1979"/>
                <a:ext cx="393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51,00,000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57" name="Rectangle 319">
                <a:extLst>
                  <a:ext uri="{FF2B5EF4-FFF2-40B4-BE49-F238E27FC236}">
                    <a16:creationId xmlns:a16="http://schemas.microsoft.com/office/drawing/2014/main" id="{C17FD47D-BD00-7482-C50E-F195E002D4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74" y="1979"/>
                <a:ext cx="393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25,50,000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58" name="Rectangle 320">
                <a:extLst>
                  <a:ext uri="{FF2B5EF4-FFF2-40B4-BE49-F238E27FC236}">
                    <a16:creationId xmlns:a16="http://schemas.microsoft.com/office/drawing/2014/main" id="{840BBA56-6D4E-4DD9-18CB-A9B92A9C51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95" y="1979"/>
                <a:ext cx="393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51,00,000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59" name="Rectangle 321">
                <a:extLst>
                  <a:ext uri="{FF2B5EF4-FFF2-40B4-BE49-F238E27FC236}">
                    <a16:creationId xmlns:a16="http://schemas.microsoft.com/office/drawing/2014/main" id="{BA598C78-B504-309B-5509-15F73E747A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68" y="1979"/>
                <a:ext cx="393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25,50,000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60" name="Rectangle 322">
                <a:extLst>
                  <a:ext uri="{FF2B5EF4-FFF2-40B4-BE49-F238E27FC236}">
                    <a16:creationId xmlns:a16="http://schemas.microsoft.com/office/drawing/2014/main" id="{823B6726-F358-7CCF-7977-977798255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40" y="1979"/>
                <a:ext cx="393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51,00,000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61" name="Rectangle 323">
                <a:extLst>
                  <a:ext uri="{FF2B5EF4-FFF2-40B4-BE49-F238E27FC236}">
                    <a16:creationId xmlns:a16="http://schemas.microsoft.com/office/drawing/2014/main" id="{5964793E-005D-59D4-1DD0-AA50D241B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13" y="1979"/>
                <a:ext cx="393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25,50,000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62" name="Rectangle 324">
                <a:extLst>
                  <a:ext uri="{FF2B5EF4-FFF2-40B4-BE49-F238E27FC236}">
                    <a16:creationId xmlns:a16="http://schemas.microsoft.com/office/drawing/2014/main" id="{EC79E6C5-57AC-C1EE-AF6D-A0376A65DD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96" y="1956"/>
                <a:ext cx="174" cy="1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0.00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63" name="Rectangle 325">
                <a:extLst>
                  <a:ext uri="{FF2B5EF4-FFF2-40B4-BE49-F238E27FC236}">
                    <a16:creationId xmlns:a16="http://schemas.microsoft.com/office/drawing/2014/main" id="{7978B924-4AAE-48F5-2154-642F3769B4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" y="2189"/>
                <a:ext cx="284" cy="1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COGS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64" name="Rectangle 326">
                <a:extLst>
                  <a:ext uri="{FF2B5EF4-FFF2-40B4-BE49-F238E27FC236}">
                    <a16:creationId xmlns:a16="http://schemas.microsoft.com/office/drawing/2014/main" id="{B54077B9-75EF-F2F7-965F-298F0E439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" y="2360"/>
                <a:ext cx="625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Cost of goods sold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65" name="Rectangle 327">
                <a:extLst>
                  <a:ext uri="{FF2B5EF4-FFF2-40B4-BE49-F238E27FC236}">
                    <a16:creationId xmlns:a16="http://schemas.microsoft.com/office/drawing/2014/main" id="{DB0651C4-235B-B23A-E56C-7E91EC8AEC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34" y="2359"/>
                <a:ext cx="393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25,50,000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66" name="Rectangle 328">
                <a:extLst>
                  <a:ext uri="{FF2B5EF4-FFF2-40B4-BE49-F238E27FC236}">
                    <a16:creationId xmlns:a16="http://schemas.microsoft.com/office/drawing/2014/main" id="{9697B562-05EF-D10B-AFCE-8F949DD03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" y="2500"/>
                <a:ext cx="445" cy="1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Gross profit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67" name="Rectangle 329">
                <a:extLst>
                  <a:ext uri="{FF2B5EF4-FFF2-40B4-BE49-F238E27FC236}">
                    <a16:creationId xmlns:a16="http://schemas.microsoft.com/office/drawing/2014/main" id="{9C088219-3453-0E85-2884-C4E3DCD710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64" y="2501"/>
                <a:ext cx="393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46,00,000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68" name="Rectangle 330">
                <a:extLst>
                  <a:ext uri="{FF2B5EF4-FFF2-40B4-BE49-F238E27FC236}">
                    <a16:creationId xmlns:a16="http://schemas.microsoft.com/office/drawing/2014/main" id="{FD7486D3-6301-AABA-7290-274A8789F6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85" y="2501"/>
                <a:ext cx="393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23,00,000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69" name="Rectangle 331">
                <a:extLst>
                  <a:ext uri="{FF2B5EF4-FFF2-40B4-BE49-F238E27FC236}">
                    <a16:creationId xmlns:a16="http://schemas.microsoft.com/office/drawing/2014/main" id="{3555FE9E-211D-74DC-73AE-6BA2A8338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8" y="2501"/>
                <a:ext cx="417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46,00,000 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70" name="Rectangle 332">
                <a:extLst>
                  <a:ext uri="{FF2B5EF4-FFF2-40B4-BE49-F238E27FC236}">
                    <a16:creationId xmlns:a16="http://schemas.microsoft.com/office/drawing/2014/main" id="{D3D9BB3C-3178-7152-B0CD-7D8F197AD5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0" y="2501"/>
                <a:ext cx="393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23,00,000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71" name="Rectangle 333">
                <a:extLst>
                  <a:ext uri="{FF2B5EF4-FFF2-40B4-BE49-F238E27FC236}">
                    <a16:creationId xmlns:a16="http://schemas.microsoft.com/office/drawing/2014/main" id="{0298829A-1F56-5A11-A5EC-137FF4D5B7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2501"/>
                <a:ext cx="417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46,00,000 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72" name="Rectangle 334">
                <a:extLst>
                  <a:ext uri="{FF2B5EF4-FFF2-40B4-BE49-F238E27FC236}">
                    <a16:creationId xmlns:a16="http://schemas.microsoft.com/office/drawing/2014/main" id="{D7FD9689-5DA0-64C1-527E-002715F3A1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76" y="2501"/>
                <a:ext cx="393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23,00,000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73" name="Rectangle 335">
                <a:extLst>
                  <a:ext uri="{FF2B5EF4-FFF2-40B4-BE49-F238E27FC236}">
                    <a16:creationId xmlns:a16="http://schemas.microsoft.com/office/drawing/2014/main" id="{A13356F3-6A50-30B3-AE54-3344FBABB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07" y="2501"/>
                <a:ext cx="393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46,00,000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74" name="Rectangle 336">
                <a:extLst>
                  <a:ext uri="{FF2B5EF4-FFF2-40B4-BE49-F238E27FC236}">
                    <a16:creationId xmlns:a16="http://schemas.microsoft.com/office/drawing/2014/main" id="{EE9CA02D-B838-BE98-DF25-7342E68F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88" y="2501"/>
                <a:ext cx="393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23,00,000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75" name="Rectangle 337">
                <a:extLst>
                  <a:ext uri="{FF2B5EF4-FFF2-40B4-BE49-F238E27FC236}">
                    <a16:creationId xmlns:a16="http://schemas.microsoft.com/office/drawing/2014/main" id="{D45B3F15-17CF-9F7B-01EF-3CB4FEB441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95" y="2501"/>
                <a:ext cx="393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46,00,000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76" name="Rectangle 338">
                <a:extLst>
                  <a:ext uri="{FF2B5EF4-FFF2-40B4-BE49-F238E27FC236}">
                    <a16:creationId xmlns:a16="http://schemas.microsoft.com/office/drawing/2014/main" id="{169DD45A-48C3-596D-D669-CA7E1DD2DB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68" y="2501"/>
                <a:ext cx="393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23,00,000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77" name="Rectangle 339">
                <a:extLst>
                  <a:ext uri="{FF2B5EF4-FFF2-40B4-BE49-F238E27FC236}">
                    <a16:creationId xmlns:a16="http://schemas.microsoft.com/office/drawing/2014/main" id="{382703FA-597C-43EA-037E-524812AAF7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40" y="2501"/>
                <a:ext cx="393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46,00,000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78" name="Rectangle 340">
                <a:extLst>
                  <a:ext uri="{FF2B5EF4-FFF2-40B4-BE49-F238E27FC236}">
                    <a16:creationId xmlns:a16="http://schemas.microsoft.com/office/drawing/2014/main" id="{90BF0115-3B40-B39A-D357-13CC4045B9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13" y="2501"/>
                <a:ext cx="393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23,00,000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79" name="Rectangle 341">
                <a:extLst>
                  <a:ext uri="{FF2B5EF4-FFF2-40B4-BE49-F238E27FC236}">
                    <a16:creationId xmlns:a16="http://schemas.microsoft.com/office/drawing/2014/main" id="{5B886C46-A264-B76E-ADDA-ED727CA145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96" y="2500"/>
                <a:ext cx="174" cy="1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0.00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80" name="Rectangle 342">
                <a:extLst>
                  <a:ext uri="{FF2B5EF4-FFF2-40B4-BE49-F238E27FC236}">
                    <a16:creationId xmlns:a16="http://schemas.microsoft.com/office/drawing/2014/main" id="{E8400F46-D38F-128D-4EA2-85DC50E96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" y="2741"/>
                <a:ext cx="851" cy="1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Operating Expenses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81" name="Rectangle 343">
                <a:extLst>
                  <a:ext uri="{FF2B5EF4-FFF2-40B4-BE49-F238E27FC236}">
                    <a16:creationId xmlns:a16="http://schemas.microsoft.com/office/drawing/2014/main" id="{7F413FC4-0B56-7725-6167-EF984F8EEB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" y="2904"/>
                <a:ext cx="974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Salaries and Consultant Fees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82" name="Rectangle 344">
                <a:extLst>
                  <a:ext uri="{FF2B5EF4-FFF2-40B4-BE49-F238E27FC236}">
                    <a16:creationId xmlns:a16="http://schemas.microsoft.com/office/drawing/2014/main" id="{49FC8AB6-48EC-0CF0-00DB-622816F58E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903"/>
                <a:ext cx="345" cy="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7,90,000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83" name="Rectangle 345">
                <a:extLst>
                  <a:ext uri="{FF2B5EF4-FFF2-40B4-BE49-F238E27FC236}">
                    <a16:creationId xmlns:a16="http://schemas.microsoft.com/office/drawing/2014/main" id="{116F89B2-FED3-FA05-8B57-45AA900954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6" y="2911"/>
                <a:ext cx="345" cy="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7,90,000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84" name="Rectangle 346">
                <a:extLst>
                  <a:ext uri="{FF2B5EF4-FFF2-40B4-BE49-F238E27FC236}">
                    <a16:creationId xmlns:a16="http://schemas.microsoft.com/office/drawing/2014/main" id="{AA1CFB2F-8958-3BA4-4DBA-1B8350F25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2910"/>
                <a:ext cx="345" cy="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7,90,000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85" name="Rectangle 347">
                <a:extLst>
                  <a:ext uri="{FF2B5EF4-FFF2-40B4-BE49-F238E27FC236}">
                    <a16:creationId xmlns:a16="http://schemas.microsoft.com/office/drawing/2014/main" id="{3DCB746B-AAA8-518B-0230-AC3FE96B6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2911"/>
                <a:ext cx="345" cy="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7,90,000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86" name="Rectangle 348">
                <a:extLst>
                  <a:ext uri="{FF2B5EF4-FFF2-40B4-BE49-F238E27FC236}">
                    <a16:creationId xmlns:a16="http://schemas.microsoft.com/office/drawing/2014/main" id="{06423F74-7F83-3437-F6F4-5314855A92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2911"/>
                <a:ext cx="345" cy="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7,90,000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87" name="Rectangle 349">
                <a:extLst>
                  <a:ext uri="{FF2B5EF4-FFF2-40B4-BE49-F238E27FC236}">
                    <a16:creationId xmlns:a16="http://schemas.microsoft.com/office/drawing/2014/main" id="{FF04B2B2-B910-6670-0549-081991BE72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0" y="2911"/>
                <a:ext cx="345" cy="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7,90,000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88" name="Rectangle 350">
                <a:extLst>
                  <a:ext uri="{FF2B5EF4-FFF2-40B4-BE49-F238E27FC236}">
                    <a16:creationId xmlns:a16="http://schemas.microsoft.com/office/drawing/2014/main" id="{BE7BB5EF-A89F-3954-0E02-D22EC4D82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15" y="2918"/>
                <a:ext cx="345" cy="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7,90,000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89" name="Rectangle 351">
                <a:extLst>
                  <a:ext uri="{FF2B5EF4-FFF2-40B4-BE49-F238E27FC236}">
                    <a16:creationId xmlns:a16="http://schemas.microsoft.com/office/drawing/2014/main" id="{61C0D179-7CF1-D098-E48B-8B44FAD9AC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2" y="2911"/>
                <a:ext cx="345" cy="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7,90,000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90" name="Rectangle 352">
                <a:extLst>
                  <a:ext uri="{FF2B5EF4-FFF2-40B4-BE49-F238E27FC236}">
                    <a16:creationId xmlns:a16="http://schemas.microsoft.com/office/drawing/2014/main" id="{33836F21-E562-D8DE-555A-B7CC724984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28" y="2911"/>
                <a:ext cx="345" cy="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7,90,000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91" name="Rectangle 353">
                <a:extLst>
                  <a:ext uri="{FF2B5EF4-FFF2-40B4-BE49-F238E27FC236}">
                    <a16:creationId xmlns:a16="http://schemas.microsoft.com/office/drawing/2014/main" id="{D977371C-BFED-62EA-E1B3-48E6811554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04" y="2911"/>
                <a:ext cx="345" cy="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7,90,000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92" name="Rectangle 354">
                <a:extLst>
                  <a:ext uri="{FF2B5EF4-FFF2-40B4-BE49-F238E27FC236}">
                    <a16:creationId xmlns:a16="http://schemas.microsoft.com/office/drawing/2014/main" id="{CAA5365E-1389-19A2-7BDF-C3B43345DD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0" y="2911"/>
                <a:ext cx="345" cy="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7,90,000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93" name="Rectangle 355">
                <a:extLst>
                  <a:ext uri="{FF2B5EF4-FFF2-40B4-BE49-F238E27FC236}">
                    <a16:creationId xmlns:a16="http://schemas.microsoft.com/office/drawing/2014/main" id="{4ECE2BC1-972B-FD22-FB15-E9AD6A7B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56" y="2911"/>
                <a:ext cx="345" cy="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7,90,000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94" name="Rectangle 356">
                <a:extLst>
                  <a:ext uri="{FF2B5EF4-FFF2-40B4-BE49-F238E27FC236}">
                    <a16:creationId xmlns:a16="http://schemas.microsoft.com/office/drawing/2014/main" id="{24873030-ED9A-7CE3-844E-F2526AF11D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34" y="2911"/>
                <a:ext cx="387" cy="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IN" sz="1100" b="0" i="0" dirty="0">
                    <a:effectLst/>
                    <a:latin typeface="Roboto" panose="02000000000000000000" pitchFamily="2" charset="0"/>
                  </a:rPr>
                  <a:t>94,80.000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95" name="Rectangle 357">
                <a:extLst>
                  <a:ext uri="{FF2B5EF4-FFF2-40B4-BE49-F238E27FC236}">
                    <a16:creationId xmlns:a16="http://schemas.microsoft.com/office/drawing/2014/main" id="{C86F6286-AC05-075A-D258-3FCAC74892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" y="3060"/>
                <a:ext cx="832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Marketing and Promotion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96" name="Rectangle 358">
                <a:extLst>
                  <a:ext uri="{FF2B5EF4-FFF2-40B4-BE49-F238E27FC236}">
                    <a16:creationId xmlns:a16="http://schemas.microsoft.com/office/drawing/2014/main" id="{19DB2F8D-94E9-C74D-E49B-E96D008A4B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96" y="3060"/>
                <a:ext cx="174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0.00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97" name="Rectangle 359">
                <a:extLst>
                  <a:ext uri="{FF2B5EF4-FFF2-40B4-BE49-F238E27FC236}">
                    <a16:creationId xmlns:a16="http://schemas.microsoft.com/office/drawing/2014/main" id="{A1472454-EEB9-8C21-1438-0BEBCD638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" y="3238"/>
                <a:ext cx="774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Utilities (Electricity etc.)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98" name="Rectangle 360">
                <a:extLst>
                  <a:ext uri="{FF2B5EF4-FFF2-40B4-BE49-F238E27FC236}">
                    <a16:creationId xmlns:a16="http://schemas.microsoft.com/office/drawing/2014/main" id="{9DB739D1-92EC-9FA7-6387-5CD88D9DBE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96" y="3238"/>
                <a:ext cx="174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0.00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99" name="Rectangle 361">
                <a:extLst>
                  <a:ext uri="{FF2B5EF4-FFF2-40B4-BE49-F238E27FC236}">
                    <a16:creationId xmlns:a16="http://schemas.microsoft.com/office/drawing/2014/main" id="{F7EB94A9-A475-DBA5-B136-AA9E08CC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" y="3417"/>
                <a:ext cx="1470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Transportation (Shipping, Courier, Taxis etc.)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00" name="Rectangle 362">
                <a:extLst>
                  <a:ext uri="{FF2B5EF4-FFF2-40B4-BE49-F238E27FC236}">
                    <a16:creationId xmlns:a16="http://schemas.microsoft.com/office/drawing/2014/main" id="{D14B26E1-AFE2-6718-5DE2-88F544CC99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96" y="3417"/>
                <a:ext cx="174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0.00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01" name="Rectangle 363">
                <a:extLst>
                  <a:ext uri="{FF2B5EF4-FFF2-40B4-BE49-F238E27FC236}">
                    <a16:creationId xmlns:a16="http://schemas.microsoft.com/office/drawing/2014/main" id="{B6A1418C-CD1B-E08B-BA1B-99E782962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" y="3596"/>
                <a:ext cx="516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Office Supplies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02" name="Rectangle 364">
                <a:extLst>
                  <a:ext uri="{FF2B5EF4-FFF2-40B4-BE49-F238E27FC236}">
                    <a16:creationId xmlns:a16="http://schemas.microsoft.com/office/drawing/2014/main" id="{5F6D5784-5AA6-DC7C-9F90-A363A9DC93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96" y="3596"/>
                <a:ext cx="174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0.00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03" name="Rectangle 365">
                <a:extLst>
                  <a:ext uri="{FF2B5EF4-FFF2-40B4-BE49-F238E27FC236}">
                    <a16:creationId xmlns:a16="http://schemas.microsoft.com/office/drawing/2014/main" id="{B89DE3B2-8A20-8CB7-E10D-AFA1905D1B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" y="3775"/>
                <a:ext cx="851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Repairs and Maintenance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04" name="Rectangle 366">
                <a:extLst>
                  <a:ext uri="{FF2B5EF4-FFF2-40B4-BE49-F238E27FC236}">
                    <a16:creationId xmlns:a16="http://schemas.microsoft.com/office/drawing/2014/main" id="{65636CFB-61DB-F2DD-7E32-C368AA1504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96" y="3775"/>
                <a:ext cx="174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0.00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05" name="Rectangle 367">
                <a:extLst>
                  <a:ext uri="{FF2B5EF4-FFF2-40B4-BE49-F238E27FC236}">
                    <a16:creationId xmlns:a16="http://schemas.microsoft.com/office/drawing/2014/main" id="{5E55D7EB-D495-E6CA-4BDA-D8980B7EDC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" y="3954"/>
                <a:ext cx="516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Office Supplies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06" name="Rectangle 368">
                <a:extLst>
                  <a:ext uri="{FF2B5EF4-FFF2-40B4-BE49-F238E27FC236}">
                    <a16:creationId xmlns:a16="http://schemas.microsoft.com/office/drawing/2014/main" id="{C5DA3C26-E42E-3937-55BD-0B8A2B121B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96" y="3954"/>
                <a:ext cx="174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0.00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07" name="Rectangle 369">
                <a:extLst>
                  <a:ext uri="{FF2B5EF4-FFF2-40B4-BE49-F238E27FC236}">
                    <a16:creationId xmlns:a16="http://schemas.microsoft.com/office/drawing/2014/main" id="{06266F38-BE0A-1989-33D2-9672FC64C2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" y="4132"/>
                <a:ext cx="535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Misc. Expenses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08" name="Rectangle 370">
                <a:extLst>
                  <a:ext uri="{FF2B5EF4-FFF2-40B4-BE49-F238E27FC236}">
                    <a16:creationId xmlns:a16="http://schemas.microsoft.com/office/drawing/2014/main" id="{9F624321-FD1A-4B84-34CD-C108438994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96" y="4132"/>
                <a:ext cx="174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0.00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09" name="Rectangle 371">
                <a:extLst>
                  <a:ext uri="{FF2B5EF4-FFF2-40B4-BE49-F238E27FC236}">
                    <a16:creationId xmlns:a16="http://schemas.microsoft.com/office/drawing/2014/main" id="{FA7F789F-4614-8B9C-C64F-01AFFE697B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" y="4311"/>
                <a:ext cx="555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Interest on Loan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10" name="Rectangle 372">
                <a:extLst>
                  <a:ext uri="{FF2B5EF4-FFF2-40B4-BE49-F238E27FC236}">
                    <a16:creationId xmlns:a16="http://schemas.microsoft.com/office/drawing/2014/main" id="{42B82330-24DE-8F78-7696-46FB8D84B8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" y="4490"/>
                <a:ext cx="709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Loss, Theft, Wastage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11" name="Rectangle 373">
                <a:extLst>
                  <a:ext uri="{FF2B5EF4-FFF2-40B4-BE49-F238E27FC236}">
                    <a16:creationId xmlns:a16="http://schemas.microsoft.com/office/drawing/2014/main" id="{B547642D-C7E2-27A9-1062-8206A3103E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96" y="4490"/>
                <a:ext cx="174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0.00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12" name="Rectangle 374">
                <a:extLst>
                  <a:ext uri="{FF2B5EF4-FFF2-40B4-BE49-F238E27FC236}">
                    <a16:creationId xmlns:a16="http://schemas.microsoft.com/office/drawing/2014/main" id="{DCB3D057-5F54-F922-12B4-DC7F507FA9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" y="4630"/>
                <a:ext cx="561" cy="1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Total Expenses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13" name="Rectangle 375">
                <a:extLst>
                  <a:ext uri="{FF2B5EF4-FFF2-40B4-BE49-F238E27FC236}">
                    <a16:creationId xmlns:a16="http://schemas.microsoft.com/office/drawing/2014/main" id="{801BFAE9-5C4C-612C-89B1-DF0A2F32E9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" y="4630"/>
                <a:ext cx="174" cy="1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0.00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14" name="Rectangle 376">
                <a:extLst>
                  <a:ext uri="{FF2B5EF4-FFF2-40B4-BE49-F238E27FC236}">
                    <a16:creationId xmlns:a16="http://schemas.microsoft.com/office/drawing/2014/main" id="{B63A9358-D643-11DC-0861-788D717DC4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4630"/>
                <a:ext cx="174" cy="1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0.00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15" name="Rectangle 377">
                <a:extLst>
                  <a:ext uri="{FF2B5EF4-FFF2-40B4-BE49-F238E27FC236}">
                    <a16:creationId xmlns:a16="http://schemas.microsoft.com/office/drawing/2014/main" id="{5DB2A906-6788-5AE6-2804-4ECD5D56FF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8" y="4630"/>
                <a:ext cx="174" cy="1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0.00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16" name="Rectangle 378">
                <a:extLst>
                  <a:ext uri="{FF2B5EF4-FFF2-40B4-BE49-F238E27FC236}">
                    <a16:creationId xmlns:a16="http://schemas.microsoft.com/office/drawing/2014/main" id="{F03F92FA-9ADE-9301-1BA2-CC9BE90878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2" y="4630"/>
                <a:ext cx="174" cy="1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0.00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17" name="Rectangle 379">
                <a:extLst>
                  <a:ext uri="{FF2B5EF4-FFF2-40B4-BE49-F238E27FC236}">
                    <a16:creationId xmlns:a16="http://schemas.microsoft.com/office/drawing/2014/main" id="{0B41FFCA-88A9-AF97-9F14-C42F0CF70C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5" y="4630"/>
                <a:ext cx="174" cy="1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0.00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18" name="Rectangle 380">
                <a:extLst>
                  <a:ext uri="{FF2B5EF4-FFF2-40B4-BE49-F238E27FC236}">
                    <a16:creationId xmlns:a16="http://schemas.microsoft.com/office/drawing/2014/main" id="{DAA850D1-3A3B-7654-E18B-D8E500FFF9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79" y="4630"/>
                <a:ext cx="174" cy="1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0.00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19" name="Rectangle 381">
                <a:extLst>
                  <a:ext uri="{FF2B5EF4-FFF2-40B4-BE49-F238E27FC236}">
                    <a16:creationId xmlns:a16="http://schemas.microsoft.com/office/drawing/2014/main" id="{E8D995BC-A3FF-4306-807F-57B96AA2CF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53" y="4630"/>
                <a:ext cx="174" cy="1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0.00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20" name="Rectangle 382">
                <a:extLst>
                  <a:ext uri="{FF2B5EF4-FFF2-40B4-BE49-F238E27FC236}">
                    <a16:creationId xmlns:a16="http://schemas.microsoft.com/office/drawing/2014/main" id="{93E044CE-3547-0F2B-370F-0D8A52438E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7" y="4630"/>
                <a:ext cx="174" cy="1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0.00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21" name="Rectangle 383">
                <a:extLst>
                  <a:ext uri="{FF2B5EF4-FFF2-40B4-BE49-F238E27FC236}">
                    <a16:creationId xmlns:a16="http://schemas.microsoft.com/office/drawing/2014/main" id="{21F5BC4B-B632-A4E6-89AD-777B79B0D6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01" y="4630"/>
                <a:ext cx="174" cy="1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0.00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22" name="Rectangle 384">
                <a:extLst>
                  <a:ext uri="{FF2B5EF4-FFF2-40B4-BE49-F238E27FC236}">
                    <a16:creationId xmlns:a16="http://schemas.microsoft.com/office/drawing/2014/main" id="{B156D59F-FC3D-87C6-8FE0-2E4CD4FCCF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75" y="4630"/>
                <a:ext cx="174" cy="1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0.00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23" name="Rectangle 385">
                <a:extLst>
                  <a:ext uri="{FF2B5EF4-FFF2-40B4-BE49-F238E27FC236}">
                    <a16:creationId xmlns:a16="http://schemas.microsoft.com/office/drawing/2014/main" id="{B70C656D-C1DA-8378-B360-5B524C6ADD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49" y="4630"/>
                <a:ext cx="174" cy="1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0.00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24" name="Rectangle 386">
                <a:extLst>
                  <a:ext uri="{FF2B5EF4-FFF2-40B4-BE49-F238E27FC236}">
                    <a16:creationId xmlns:a16="http://schemas.microsoft.com/office/drawing/2014/main" id="{D5E161D0-E49E-0D1C-8851-3B5E0CB3B1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22" y="4630"/>
                <a:ext cx="174" cy="1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0.00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25" name="Rectangle 387">
                <a:extLst>
                  <a:ext uri="{FF2B5EF4-FFF2-40B4-BE49-F238E27FC236}">
                    <a16:creationId xmlns:a16="http://schemas.microsoft.com/office/drawing/2014/main" id="{FBF33347-9FD3-53C4-B255-D5E2774EA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96" y="4630"/>
                <a:ext cx="174" cy="1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0.00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26" name="Rectangle 388">
                <a:extLst>
                  <a:ext uri="{FF2B5EF4-FFF2-40B4-BE49-F238E27FC236}">
                    <a16:creationId xmlns:a16="http://schemas.microsoft.com/office/drawing/2014/main" id="{8AE1C6F8-C6A2-9341-9129-5D3880761E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" y="4871"/>
                <a:ext cx="297" cy="1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3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Result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27" name="Rectangle 389">
                <a:extLst>
                  <a:ext uri="{FF2B5EF4-FFF2-40B4-BE49-F238E27FC236}">
                    <a16:creationId xmlns:a16="http://schemas.microsoft.com/office/drawing/2014/main" id="{63897879-99FB-626D-A678-A7706776D9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" y="5003"/>
                <a:ext cx="542" cy="1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Net Profit/Loss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28" name="Rectangle 390">
                <a:extLst>
                  <a:ext uri="{FF2B5EF4-FFF2-40B4-BE49-F238E27FC236}">
                    <a16:creationId xmlns:a16="http://schemas.microsoft.com/office/drawing/2014/main" id="{110AA701-762B-BB2F-3084-6C9C9294BB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5018"/>
                <a:ext cx="393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33,00,000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29" name="Rectangle 391">
                <a:extLst>
                  <a:ext uri="{FF2B5EF4-FFF2-40B4-BE49-F238E27FC236}">
                    <a16:creationId xmlns:a16="http://schemas.microsoft.com/office/drawing/2014/main" id="{CBC917AD-4438-3759-E1A1-B67427650A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85" y="5018"/>
                <a:ext cx="393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11,80.000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30" name="Rectangle 392">
                <a:extLst>
                  <a:ext uri="{FF2B5EF4-FFF2-40B4-BE49-F238E27FC236}">
                    <a16:creationId xmlns:a16="http://schemas.microsoft.com/office/drawing/2014/main" id="{44A69DAE-FA85-3A35-AC03-3D4FB72AFF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8" y="5018"/>
                <a:ext cx="393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33.80,000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31" name="Rectangle 393">
                <a:extLst>
                  <a:ext uri="{FF2B5EF4-FFF2-40B4-BE49-F238E27FC236}">
                    <a16:creationId xmlns:a16="http://schemas.microsoft.com/office/drawing/2014/main" id="{D9658F14-91C2-FABA-E056-F7FBC222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0" y="5018"/>
                <a:ext cx="393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10,80.000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32" name="Rectangle 394">
                <a:extLst>
                  <a:ext uri="{FF2B5EF4-FFF2-40B4-BE49-F238E27FC236}">
                    <a16:creationId xmlns:a16="http://schemas.microsoft.com/office/drawing/2014/main" id="{1DE92E9F-873B-3A8A-8C5F-496D861257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6" y="5018"/>
                <a:ext cx="393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33,80,000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33" name="Rectangle 395">
                <a:extLst>
                  <a:ext uri="{FF2B5EF4-FFF2-40B4-BE49-F238E27FC236}">
                    <a16:creationId xmlns:a16="http://schemas.microsoft.com/office/drawing/2014/main" id="{161F09DA-F947-945B-F87C-0B4E4BAF2B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76" y="5018"/>
                <a:ext cx="417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10,00,000 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34" name="Rectangle 396">
                <a:extLst>
                  <a:ext uri="{FF2B5EF4-FFF2-40B4-BE49-F238E27FC236}">
                    <a16:creationId xmlns:a16="http://schemas.microsoft.com/office/drawing/2014/main" id="{CE0E0941-F5A9-7EF9-89EB-496880C0A1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40" y="5018"/>
                <a:ext cx="393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33,80,000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35" name="Rectangle 397">
                <a:extLst>
                  <a:ext uri="{FF2B5EF4-FFF2-40B4-BE49-F238E27FC236}">
                    <a16:creationId xmlns:a16="http://schemas.microsoft.com/office/drawing/2014/main" id="{F23F1CE6-1531-2BE8-4F03-4383D3F929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80" y="5018"/>
                <a:ext cx="393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10,80,000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36" name="Rectangle 398">
                <a:extLst>
                  <a:ext uri="{FF2B5EF4-FFF2-40B4-BE49-F238E27FC236}">
                    <a16:creationId xmlns:a16="http://schemas.microsoft.com/office/drawing/2014/main" id="{CB3A0B5D-4370-F08F-346F-D2248E668F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95" y="5018"/>
                <a:ext cx="393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33,80,000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37" name="Rectangle 399">
                <a:extLst>
                  <a:ext uri="{FF2B5EF4-FFF2-40B4-BE49-F238E27FC236}">
                    <a16:creationId xmlns:a16="http://schemas.microsoft.com/office/drawing/2014/main" id="{FF4C1FE9-FC5B-2AF7-60D8-B2B9471E2C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20" y="5018"/>
                <a:ext cx="393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10.80.000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38" name="Rectangle 400">
                <a:extLst>
                  <a:ext uri="{FF2B5EF4-FFF2-40B4-BE49-F238E27FC236}">
                    <a16:creationId xmlns:a16="http://schemas.microsoft.com/office/drawing/2014/main" id="{8074720E-BABB-C5FB-66B5-6D71F3D6C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8" y="5018"/>
                <a:ext cx="343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3,80,000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39" name="Rectangle 401">
                <a:extLst>
                  <a:ext uri="{FF2B5EF4-FFF2-40B4-BE49-F238E27FC236}">
                    <a16:creationId xmlns:a16="http://schemas.microsoft.com/office/drawing/2014/main" id="{75EAF745-DECA-D84D-EDB5-1977A98E7F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13" y="5018"/>
                <a:ext cx="393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10,80,000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40" name="Rectangle 402">
                <a:extLst>
                  <a:ext uri="{FF2B5EF4-FFF2-40B4-BE49-F238E27FC236}">
                    <a16:creationId xmlns:a16="http://schemas.microsoft.com/office/drawing/2014/main" id="{266F207C-D19A-A20F-5491-C5942BEC13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96" y="5003"/>
                <a:ext cx="174" cy="1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0.00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41" name="Rectangle 403">
                <a:extLst>
                  <a:ext uri="{FF2B5EF4-FFF2-40B4-BE49-F238E27FC236}">
                    <a16:creationId xmlns:a16="http://schemas.microsoft.com/office/drawing/2014/main" id="{0E5F75AC-4056-E900-25B8-D44FC4549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" y="5120"/>
                <a:ext cx="703" cy="1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Gross profit margin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42" name="Rectangle 404">
                <a:extLst>
                  <a:ext uri="{FF2B5EF4-FFF2-40B4-BE49-F238E27FC236}">
                    <a16:creationId xmlns:a16="http://schemas.microsoft.com/office/drawing/2014/main" id="{62B6DEED-0494-A9A3-D9E3-F3D022B132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4" y="5120"/>
                <a:ext cx="52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43" name="Rectangle 405">
                <a:extLst>
                  <a:ext uri="{FF2B5EF4-FFF2-40B4-BE49-F238E27FC236}">
                    <a16:creationId xmlns:a16="http://schemas.microsoft.com/office/drawing/2014/main" id="{417C98F5-D8E5-DDD1-9BA4-7AA7B00A97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8" y="5120"/>
                <a:ext cx="52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2" name="Group 607">
              <a:extLst>
                <a:ext uri="{FF2B5EF4-FFF2-40B4-BE49-F238E27FC236}">
                  <a16:creationId xmlns:a16="http://schemas.microsoft.com/office/drawing/2014/main" id="{AB7E7A1B-D52C-AB71-CA92-4D14F890D6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1" y="774"/>
              <a:ext cx="9356" cy="4586"/>
              <a:chOff x="411" y="774"/>
              <a:chExt cx="9356" cy="4586"/>
            </a:xfrm>
          </p:grpSpPr>
          <p:sp>
            <p:nvSpPr>
              <p:cNvPr id="144" name="Rectangle 407">
                <a:extLst>
                  <a:ext uri="{FF2B5EF4-FFF2-40B4-BE49-F238E27FC236}">
                    <a16:creationId xmlns:a16="http://schemas.microsoft.com/office/drawing/2014/main" id="{99116B19-2ED5-42ED-4BED-52969F9767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1" y="5120"/>
                <a:ext cx="52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5" name="Rectangle 408">
                <a:extLst>
                  <a:ext uri="{FF2B5EF4-FFF2-40B4-BE49-F238E27FC236}">
                    <a16:creationId xmlns:a16="http://schemas.microsoft.com/office/drawing/2014/main" id="{D5056FB1-1080-638E-D0C5-583BE43DA2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5" y="5120"/>
                <a:ext cx="52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6" name="Rectangle 409">
                <a:extLst>
                  <a:ext uri="{FF2B5EF4-FFF2-40B4-BE49-F238E27FC236}">
                    <a16:creationId xmlns:a16="http://schemas.microsoft.com/office/drawing/2014/main" id="{B9CFF5F5-EFC3-A45E-FC92-7D78E7AD9A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99" y="5120"/>
                <a:ext cx="52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7" name="Rectangle 410">
                <a:extLst>
                  <a:ext uri="{FF2B5EF4-FFF2-40B4-BE49-F238E27FC236}">
                    <a16:creationId xmlns:a16="http://schemas.microsoft.com/office/drawing/2014/main" id="{D577F382-461E-B7FE-4E86-AEB3DC0F6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3" y="5120"/>
                <a:ext cx="52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8" name="Rectangle 411">
                <a:extLst>
                  <a:ext uri="{FF2B5EF4-FFF2-40B4-BE49-F238E27FC236}">
                    <a16:creationId xmlns:a16="http://schemas.microsoft.com/office/drawing/2014/main" id="{214A2F98-7B81-1C75-5E10-C2BD2DE851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7" y="5120"/>
                <a:ext cx="52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9" name="Rectangle 412">
                <a:extLst>
                  <a:ext uri="{FF2B5EF4-FFF2-40B4-BE49-F238E27FC236}">
                    <a16:creationId xmlns:a16="http://schemas.microsoft.com/office/drawing/2014/main" id="{FE58CD41-3AF1-BAA8-2224-EB607A70B7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21" y="5120"/>
                <a:ext cx="52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0" name="Rectangle 413">
                <a:extLst>
                  <a:ext uri="{FF2B5EF4-FFF2-40B4-BE49-F238E27FC236}">
                    <a16:creationId xmlns:a16="http://schemas.microsoft.com/office/drawing/2014/main" id="{FA1FE01F-4E99-C474-27AC-080E0AF3C6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5" y="5120"/>
                <a:ext cx="52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1" name="Rectangle 414">
                <a:extLst>
                  <a:ext uri="{FF2B5EF4-FFF2-40B4-BE49-F238E27FC236}">
                    <a16:creationId xmlns:a16="http://schemas.microsoft.com/office/drawing/2014/main" id="{5E94C411-CC27-8CE5-D6EC-96C2D9752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9" y="5120"/>
                <a:ext cx="52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2" name="Rectangle 415">
                <a:extLst>
                  <a:ext uri="{FF2B5EF4-FFF2-40B4-BE49-F238E27FC236}">
                    <a16:creationId xmlns:a16="http://schemas.microsoft.com/office/drawing/2014/main" id="{9E157EAF-B3E0-7F6B-D393-DCD0E843E9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42" y="5120"/>
                <a:ext cx="52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3" name="Rectangle 416">
                <a:extLst>
                  <a:ext uri="{FF2B5EF4-FFF2-40B4-BE49-F238E27FC236}">
                    <a16:creationId xmlns:a16="http://schemas.microsoft.com/office/drawing/2014/main" id="{719D9E90-0AF3-13FF-4B32-A17EF3D675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16" y="5120"/>
                <a:ext cx="52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4" name="Rectangle 417">
                <a:extLst>
                  <a:ext uri="{FF2B5EF4-FFF2-40B4-BE49-F238E27FC236}">
                    <a16:creationId xmlns:a16="http://schemas.microsoft.com/office/drawing/2014/main" id="{39E082BE-71F5-4BDE-C637-9025F10F44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90" y="5120"/>
                <a:ext cx="52" cy="1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5" name="Rectangle 418">
                <a:extLst>
                  <a:ext uri="{FF2B5EF4-FFF2-40B4-BE49-F238E27FC236}">
                    <a16:creationId xmlns:a16="http://schemas.microsoft.com/office/drawing/2014/main" id="{1BEBDCCA-3A5B-0FDE-F3FC-85E44DC5F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" y="5236"/>
                <a:ext cx="613" cy="1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Net profit margin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6" name="Rectangle 419">
                <a:extLst>
                  <a:ext uri="{FF2B5EF4-FFF2-40B4-BE49-F238E27FC236}">
                    <a16:creationId xmlns:a16="http://schemas.microsoft.com/office/drawing/2014/main" id="{443B751A-5DFD-9CCA-1E09-157047BF45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4" y="5236"/>
                <a:ext cx="52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7" name="Rectangle 420">
                <a:extLst>
                  <a:ext uri="{FF2B5EF4-FFF2-40B4-BE49-F238E27FC236}">
                    <a16:creationId xmlns:a16="http://schemas.microsoft.com/office/drawing/2014/main" id="{E1C94942-E0A2-04B6-6379-C81101B48A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8" y="5236"/>
                <a:ext cx="52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8" name="Rectangle 421">
                <a:extLst>
                  <a:ext uri="{FF2B5EF4-FFF2-40B4-BE49-F238E27FC236}">
                    <a16:creationId xmlns:a16="http://schemas.microsoft.com/office/drawing/2014/main" id="{B503E388-FDDF-D44C-AEF6-BE7E5BB0C8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1" y="5236"/>
                <a:ext cx="52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9" name="Rectangle 422">
                <a:extLst>
                  <a:ext uri="{FF2B5EF4-FFF2-40B4-BE49-F238E27FC236}">
                    <a16:creationId xmlns:a16="http://schemas.microsoft.com/office/drawing/2014/main" id="{5D776133-DDE0-64B1-2D00-878E78B1ED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5" y="5236"/>
                <a:ext cx="52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0" name="Rectangle 423">
                <a:extLst>
                  <a:ext uri="{FF2B5EF4-FFF2-40B4-BE49-F238E27FC236}">
                    <a16:creationId xmlns:a16="http://schemas.microsoft.com/office/drawing/2014/main" id="{44B4CD30-CF4A-F4F3-8C92-2194FB38A8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99" y="5236"/>
                <a:ext cx="52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1" name="Rectangle 424">
                <a:extLst>
                  <a:ext uri="{FF2B5EF4-FFF2-40B4-BE49-F238E27FC236}">
                    <a16:creationId xmlns:a16="http://schemas.microsoft.com/office/drawing/2014/main" id="{175BAC09-2757-522C-3847-84646D2B78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3" y="5236"/>
                <a:ext cx="52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2" name="Rectangle 425">
                <a:extLst>
                  <a:ext uri="{FF2B5EF4-FFF2-40B4-BE49-F238E27FC236}">
                    <a16:creationId xmlns:a16="http://schemas.microsoft.com/office/drawing/2014/main" id="{19200425-6A15-E72C-393B-29395036EA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7" y="5236"/>
                <a:ext cx="52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3" name="Rectangle 426">
                <a:extLst>
                  <a:ext uri="{FF2B5EF4-FFF2-40B4-BE49-F238E27FC236}">
                    <a16:creationId xmlns:a16="http://schemas.microsoft.com/office/drawing/2014/main" id="{9F03D8D6-5815-ED84-7E6C-6D24392A80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21" y="5236"/>
                <a:ext cx="52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4" name="Rectangle 427">
                <a:extLst>
                  <a:ext uri="{FF2B5EF4-FFF2-40B4-BE49-F238E27FC236}">
                    <a16:creationId xmlns:a16="http://schemas.microsoft.com/office/drawing/2014/main" id="{6B9C9E8F-C418-4D8B-25BD-23163665A0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5" y="5236"/>
                <a:ext cx="52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5" name="Rectangle 428">
                <a:extLst>
                  <a:ext uri="{FF2B5EF4-FFF2-40B4-BE49-F238E27FC236}">
                    <a16:creationId xmlns:a16="http://schemas.microsoft.com/office/drawing/2014/main" id="{FB0D090A-9AB3-0A7D-ACAA-EA2E3D6CCB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9" y="5236"/>
                <a:ext cx="52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6" name="Rectangle 429">
                <a:extLst>
                  <a:ext uri="{FF2B5EF4-FFF2-40B4-BE49-F238E27FC236}">
                    <a16:creationId xmlns:a16="http://schemas.microsoft.com/office/drawing/2014/main" id="{773649E4-9AD8-7B20-56B5-BCBFED54A4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42" y="5236"/>
                <a:ext cx="52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7" name="Rectangle 430">
                <a:extLst>
                  <a:ext uri="{FF2B5EF4-FFF2-40B4-BE49-F238E27FC236}">
                    <a16:creationId xmlns:a16="http://schemas.microsoft.com/office/drawing/2014/main" id="{5E9EFB76-ACE0-C273-15F7-365E70655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16" y="5236"/>
                <a:ext cx="52" cy="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8" name="Rectangle 431">
                <a:extLst>
                  <a:ext uri="{FF2B5EF4-FFF2-40B4-BE49-F238E27FC236}">
                    <a16:creationId xmlns:a16="http://schemas.microsoft.com/office/drawing/2014/main" id="{04C0F087-6588-9809-ACE2-85F786382F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90" y="5236"/>
                <a:ext cx="52" cy="1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1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9" name="Rectangle 432">
                <a:extLst>
                  <a:ext uri="{FF2B5EF4-FFF2-40B4-BE49-F238E27FC236}">
                    <a16:creationId xmlns:a16="http://schemas.microsoft.com/office/drawing/2014/main" id="{41C531D7-55C1-941E-ED0E-6F653E49D3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" y="774"/>
                <a:ext cx="6" cy="1"/>
              </a:xfrm>
              <a:prstGeom prst="rect">
                <a:avLst/>
              </a:pr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33">
                <a:extLst>
                  <a:ext uri="{FF2B5EF4-FFF2-40B4-BE49-F238E27FC236}">
                    <a16:creationId xmlns:a16="http://schemas.microsoft.com/office/drawing/2014/main" id="{431A1A09-6A91-F546-76DA-938A93777E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4" y="774"/>
                <a:ext cx="7" cy="1"/>
              </a:xfrm>
              <a:prstGeom prst="rect">
                <a:avLst/>
              </a:pr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34">
                <a:extLst>
                  <a:ext uri="{FF2B5EF4-FFF2-40B4-BE49-F238E27FC236}">
                    <a16:creationId xmlns:a16="http://schemas.microsoft.com/office/drawing/2014/main" id="{6EDD8D17-4B23-D476-E19F-54F9895F2D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8" y="774"/>
                <a:ext cx="7" cy="1"/>
              </a:xfrm>
              <a:prstGeom prst="rect">
                <a:avLst/>
              </a:pr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35">
                <a:extLst>
                  <a:ext uri="{FF2B5EF4-FFF2-40B4-BE49-F238E27FC236}">
                    <a16:creationId xmlns:a16="http://schemas.microsoft.com/office/drawing/2014/main" id="{474CEF5C-5397-CDC0-9B45-AF009396BB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2" y="774"/>
                <a:ext cx="7" cy="1"/>
              </a:xfrm>
              <a:prstGeom prst="rect">
                <a:avLst/>
              </a:pr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436">
                <a:extLst>
                  <a:ext uri="{FF2B5EF4-FFF2-40B4-BE49-F238E27FC236}">
                    <a16:creationId xmlns:a16="http://schemas.microsoft.com/office/drawing/2014/main" id="{2DDD6E4D-92A0-888D-C545-ED3D4BBD74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6" y="774"/>
                <a:ext cx="6" cy="1"/>
              </a:xfrm>
              <a:prstGeom prst="rect">
                <a:avLst/>
              </a:pr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437">
                <a:extLst>
                  <a:ext uri="{FF2B5EF4-FFF2-40B4-BE49-F238E27FC236}">
                    <a16:creationId xmlns:a16="http://schemas.microsoft.com/office/drawing/2014/main" id="{F1730DF7-BB8C-EEB2-74E2-2809D9CE0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774"/>
                <a:ext cx="6" cy="1"/>
              </a:xfrm>
              <a:prstGeom prst="rect">
                <a:avLst/>
              </a:pr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438">
                <a:extLst>
                  <a:ext uri="{FF2B5EF4-FFF2-40B4-BE49-F238E27FC236}">
                    <a16:creationId xmlns:a16="http://schemas.microsoft.com/office/drawing/2014/main" id="{FFE5D892-E1DE-B752-AC3E-7E96F6DA14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4" y="774"/>
                <a:ext cx="6" cy="1"/>
              </a:xfrm>
              <a:prstGeom prst="rect">
                <a:avLst/>
              </a:pr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439">
                <a:extLst>
                  <a:ext uri="{FF2B5EF4-FFF2-40B4-BE49-F238E27FC236}">
                    <a16:creationId xmlns:a16="http://schemas.microsoft.com/office/drawing/2014/main" id="{99B0E61A-9B6E-3235-2807-17BDF30E0B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28" y="774"/>
                <a:ext cx="6" cy="1"/>
              </a:xfrm>
              <a:prstGeom prst="rect">
                <a:avLst/>
              </a:pr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440">
                <a:extLst>
                  <a:ext uri="{FF2B5EF4-FFF2-40B4-BE49-F238E27FC236}">
                    <a16:creationId xmlns:a16="http://schemas.microsoft.com/office/drawing/2014/main" id="{AB39121B-3181-5F63-A3B2-BAAF81DDC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1" y="774"/>
                <a:ext cx="7" cy="1"/>
              </a:xfrm>
              <a:prstGeom prst="rect">
                <a:avLst/>
              </a:pr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441">
                <a:extLst>
                  <a:ext uri="{FF2B5EF4-FFF2-40B4-BE49-F238E27FC236}">
                    <a16:creationId xmlns:a16="http://schemas.microsoft.com/office/drawing/2014/main" id="{1CB8D766-F700-15DD-A761-47FF6C8E92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5" y="774"/>
                <a:ext cx="7" cy="1"/>
              </a:xfrm>
              <a:prstGeom prst="rect">
                <a:avLst/>
              </a:pr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442">
                <a:extLst>
                  <a:ext uri="{FF2B5EF4-FFF2-40B4-BE49-F238E27FC236}">
                    <a16:creationId xmlns:a16="http://schemas.microsoft.com/office/drawing/2014/main" id="{99DD1BDC-3375-985B-029D-D38ABFA980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49" y="774"/>
                <a:ext cx="7" cy="1"/>
              </a:xfrm>
              <a:prstGeom prst="rect">
                <a:avLst/>
              </a:pr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443">
                <a:extLst>
                  <a:ext uri="{FF2B5EF4-FFF2-40B4-BE49-F238E27FC236}">
                    <a16:creationId xmlns:a16="http://schemas.microsoft.com/office/drawing/2014/main" id="{FE057FD3-5B79-5083-890D-5F808535EE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23" y="774"/>
                <a:ext cx="6" cy="1"/>
              </a:xfrm>
              <a:prstGeom prst="rect">
                <a:avLst/>
              </a:pr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1" name="Rectangle 444">
                <a:extLst>
                  <a:ext uri="{FF2B5EF4-FFF2-40B4-BE49-F238E27FC236}">
                    <a16:creationId xmlns:a16="http://schemas.microsoft.com/office/drawing/2014/main" id="{FFCC44CA-71EB-87AC-B447-50171B8900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7" y="774"/>
                <a:ext cx="6" cy="1"/>
              </a:xfrm>
              <a:prstGeom prst="rect">
                <a:avLst/>
              </a:pr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445">
                <a:extLst>
                  <a:ext uri="{FF2B5EF4-FFF2-40B4-BE49-F238E27FC236}">
                    <a16:creationId xmlns:a16="http://schemas.microsoft.com/office/drawing/2014/main" id="{4ED454CE-F7DA-4FAE-881E-6AE2B04E68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71" y="774"/>
                <a:ext cx="6" cy="1"/>
              </a:xfrm>
              <a:prstGeom prst="rect">
                <a:avLst/>
              </a:pr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446">
                <a:extLst>
                  <a:ext uri="{FF2B5EF4-FFF2-40B4-BE49-F238E27FC236}">
                    <a16:creationId xmlns:a16="http://schemas.microsoft.com/office/drawing/2014/main" id="{0B9FDCB5-76BB-C766-F62A-196976921B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45" y="774"/>
                <a:ext cx="6" cy="1"/>
              </a:xfrm>
              <a:prstGeom prst="rect">
                <a:avLst/>
              </a:pr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447">
                <a:extLst>
                  <a:ext uri="{FF2B5EF4-FFF2-40B4-BE49-F238E27FC236}">
                    <a16:creationId xmlns:a16="http://schemas.microsoft.com/office/drawing/2014/main" id="{299D568B-7A4B-9B96-2736-F67BE79A79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60" y="774"/>
                <a:ext cx="7" cy="1"/>
              </a:xfrm>
              <a:prstGeom prst="rect">
                <a:avLst/>
              </a:prstGeom>
              <a:solidFill>
                <a:srgbClr val="D4D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Line 448">
                <a:extLst>
                  <a:ext uri="{FF2B5EF4-FFF2-40B4-BE49-F238E27FC236}">
                    <a16:creationId xmlns:a16="http://schemas.microsoft.com/office/drawing/2014/main" id="{DEE74B2D-7D0C-96C8-D0AE-F3745B5589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1" y="1031"/>
                <a:ext cx="7460" cy="0"/>
              </a:xfrm>
              <a:prstGeom prst="line">
                <a:avLst/>
              </a:prstGeom>
              <a:noFill/>
              <a:ln w="0">
                <a:solidFill>
                  <a:srgbClr val="96969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449">
                <a:extLst>
                  <a:ext uri="{FF2B5EF4-FFF2-40B4-BE49-F238E27FC236}">
                    <a16:creationId xmlns:a16="http://schemas.microsoft.com/office/drawing/2014/main" id="{23D73E3D-0140-97C6-4022-44E5E9FEDA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1" y="1031"/>
                <a:ext cx="7460" cy="7"/>
              </a:xfrm>
              <a:prstGeom prst="rect">
                <a:avLst/>
              </a:prstGeom>
              <a:solidFill>
                <a:srgbClr val="96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Line 450">
                <a:extLst>
                  <a:ext uri="{FF2B5EF4-FFF2-40B4-BE49-F238E27FC236}">
                    <a16:creationId xmlns:a16="http://schemas.microsoft.com/office/drawing/2014/main" id="{60DE36F4-6B6A-0764-17FF-F2D69B3E7B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031"/>
                <a:ext cx="0" cy="14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451">
                <a:extLst>
                  <a:ext uri="{FF2B5EF4-FFF2-40B4-BE49-F238E27FC236}">
                    <a16:creationId xmlns:a16="http://schemas.microsoft.com/office/drawing/2014/main" id="{57038D18-9872-0B3F-34AB-33CF1AC398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4" y="1031"/>
                <a:ext cx="7" cy="14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Line 452">
                <a:extLst>
                  <a:ext uri="{FF2B5EF4-FFF2-40B4-BE49-F238E27FC236}">
                    <a16:creationId xmlns:a16="http://schemas.microsoft.com/office/drawing/2014/main" id="{149B1906-1D1A-FD60-DFB3-4531CA8A59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038"/>
                <a:ext cx="0" cy="133"/>
              </a:xfrm>
              <a:prstGeom prst="line">
                <a:avLst/>
              </a:prstGeom>
              <a:noFill/>
              <a:ln w="0">
                <a:solidFill>
                  <a:srgbClr val="96969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453">
                <a:extLst>
                  <a:ext uri="{FF2B5EF4-FFF2-40B4-BE49-F238E27FC236}">
                    <a16:creationId xmlns:a16="http://schemas.microsoft.com/office/drawing/2014/main" id="{D744FA75-6DF8-7B50-A5AE-701C632BCA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8" y="1038"/>
                <a:ext cx="7" cy="133"/>
              </a:xfrm>
              <a:prstGeom prst="rect">
                <a:avLst/>
              </a:prstGeom>
              <a:solidFill>
                <a:srgbClr val="96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Line 454">
                <a:extLst>
                  <a:ext uri="{FF2B5EF4-FFF2-40B4-BE49-F238E27FC236}">
                    <a16:creationId xmlns:a16="http://schemas.microsoft.com/office/drawing/2014/main" id="{4B394D6D-B795-8270-1B94-3BE1BB5387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2" y="1038"/>
                <a:ext cx="0" cy="133"/>
              </a:xfrm>
              <a:prstGeom prst="line">
                <a:avLst/>
              </a:prstGeom>
              <a:noFill/>
              <a:ln w="0">
                <a:solidFill>
                  <a:srgbClr val="96969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455">
                <a:extLst>
                  <a:ext uri="{FF2B5EF4-FFF2-40B4-BE49-F238E27FC236}">
                    <a16:creationId xmlns:a16="http://schemas.microsoft.com/office/drawing/2014/main" id="{57A6F890-7637-616B-50B3-27123900CF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2" y="1038"/>
                <a:ext cx="7" cy="133"/>
              </a:xfrm>
              <a:prstGeom prst="rect">
                <a:avLst/>
              </a:prstGeom>
              <a:solidFill>
                <a:srgbClr val="96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Line 456">
                <a:extLst>
                  <a:ext uri="{FF2B5EF4-FFF2-40B4-BE49-F238E27FC236}">
                    <a16:creationId xmlns:a16="http://schemas.microsoft.com/office/drawing/2014/main" id="{1DA48E0D-68BB-2E98-A647-0956D8B4F7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6" y="1038"/>
                <a:ext cx="0" cy="133"/>
              </a:xfrm>
              <a:prstGeom prst="line">
                <a:avLst/>
              </a:prstGeom>
              <a:noFill/>
              <a:ln w="0">
                <a:solidFill>
                  <a:srgbClr val="96969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457">
                <a:extLst>
                  <a:ext uri="{FF2B5EF4-FFF2-40B4-BE49-F238E27FC236}">
                    <a16:creationId xmlns:a16="http://schemas.microsoft.com/office/drawing/2014/main" id="{C35C5DDC-5194-DCCD-D06C-97CE431567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6" y="1038"/>
                <a:ext cx="6" cy="133"/>
              </a:xfrm>
              <a:prstGeom prst="rect">
                <a:avLst/>
              </a:prstGeom>
              <a:solidFill>
                <a:srgbClr val="96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Line 458">
                <a:extLst>
                  <a:ext uri="{FF2B5EF4-FFF2-40B4-BE49-F238E27FC236}">
                    <a16:creationId xmlns:a16="http://schemas.microsoft.com/office/drawing/2014/main" id="{CA918909-09F9-6BA4-C888-B5FC7B84AD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1038"/>
                <a:ext cx="0" cy="133"/>
              </a:xfrm>
              <a:prstGeom prst="line">
                <a:avLst/>
              </a:prstGeom>
              <a:noFill/>
              <a:ln w="0">
                <a:solidFill>
                  <a:srgbClr val="96969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459">
                <a:extLst>
                  <a:ext uri="{FF2B5EF4-FFF2-40B4-BE49-F238E27FC236}">
                    <a16:creationId xmlns:a16="http://schemas.microsoft.com/office/drawing/2014/main" id="{928E4180-9B9A-B532-1084-3E17060193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1038"/>
                <a:ext cx="6" cy="133"/>
              </a:xfrm>
              <a:prstGeom prst="rect">
                <a:avLst/>
              </a:prstGeom>
              <a:solidFill>
                <a:srgbClr val="96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Line 460">
                <a:extLst>
                  <a:ext uri="{FF2B5EF4-FFF2-40B4-BE49-F238E27FC236}">
                    <a16:creationId xmlns:a16="http://schemas.microsoft.com/office/drawing/2014/main" id="{5D07E613-08A4-63CF-54A6-0E609EBFA8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4" y="1038"/>
                <a:ext cx="0" cy="133"/>
              </a:xfrm>
              <a:prstGeom prst="line">
                <a:avLst/>
              </a:prstGeom>
              <a:noFill/>
              <a:ln w="0">
                <a:solidFill>
                  <a:srgbClr val="96969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461">
                <a:extLst>
                  <a:ext uri="{FF2B5EF4-FFF2-40B4-BE49-F238E27FC236}">
                    <a16:creationId xmlns:a16="http://schemas.microsoft.com/office/drawing/2014/main" id="{62AC3FB0-4FA0-CB23-DBF9-7181B17366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4" y="1038"/>
                <a:ext cx="6" cy="133"/>
              </a:xfrm>
              <a:prstGeom prst="rect">
                <a:avLst/>
              </a:prstGeom>
              <a:solidFill>
                <a:srgbClr val="96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Line 462">
                <a:extLst>
                  <a:ext uri="{FF2B5EF4-FFF2-40B4-BE49-F238E27FC236}">
                    <a16:creationId xmlns:a16="http://schemas.microsoft.com/office/drawing/2014/main" id="{927EFBAD-C0BD-AFA9-5DC0-AC7033E3C2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28" y="1038"/>
                <a:ext cx="0" cy="133"/>
              </a:xfrm>
              <a:prstGeom prst="line">
                <a:avLst/>
              </a:prstGeom>
              <a:noFill/>
              <a:ln w="0">
                <a:solidFill>
                  <a:srgbClr val="96969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463">
                <a:extLst>
                  <a:ext uri="{FF2B5EF4-FFF2-40B4-BE49-F238E27FC236}">
                    <a16:creationId xmlns:a16="http://schemas.microsoft.com/office/drawing/2014/main" id="{18B38B34-CBA1-8E53-2963-E574CE68A0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28" y="1038"/>
                <a:ext cx="6" cy="133"/>
              </a:xfrm>
              <a:prstGeom prst="rect">
                <a:avLst/>
              </a:prstGeom>
              <a:solidFill>
                <a:srgbClr val="96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Line 464">
                <a:extLst>
                  <a:ext uri="{FF2B5EF4-FFF2-40B4-BE49-F238E27FC236}">
                    <a16:creationId xmlns:a16="http://schemas.microsoft.com/office/drawing/2014/main" id="{165A7CC8-4F0E-E203-1F4A-3BF811FAFD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01" y="1038"/>
                <a:ext cx="0" cy="133"/>
              </a:xfrm>
              <a:prstGeom prst="line">
                <a:avLst/>
              </a:prstGeom>
              <a:noFill/>
              <a:ln w="0">
                <a:solidFill>
                  <a:srgbClr val="96969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465">
                <a:extLst>
                  <a:ext uri="{FF2B5EF4-FFF2-40B4-BE49-F238E27FC236}">
                    <a16:creationId xmlns:a16="http://schemas.microsoft.com/office/drawing/2014/main" id="{C932880C-09CC-4AFA-4CF9-75E705C827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1" y="1038"/>
                <a:ext cx="7" cy="133"/>
              </a:xfrm>
              <a:prstGeom prst="rect">
                <a:avLst/>
              </a:prstGeom>
              <a:solidFill>
                <a:srgbClr val="96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Line 466">
                <a:extLst>
                  <a:ext uri="{FF2B5EF4-FFF2-40B4-BE49-F238E27FC236}">
                    <a16:creationId xmlns:a16="http://schemas.microsoft.com/office/drawing/2014/main" id="{4808ADA5-FE2B-4062-4FC7-A9DEB80950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5" y="1038"/>
                <a:ext cx="0" cy="133"/>
              </a:xfrm>
              <a:prstGeom prst="line">
                <a:avLst/>
              </a:prstGeom>
              <a:noFill/>
              <a:ln w="0">
                <a:solidFill>
                  <a:srgbClr val="96969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467">
                <a:extLst>
                  <a:ext uri="{FF2B5EF4-FFF2-40B4-BE49-F238E27FC236}">
                    <a16:creationId xmlns:a16="http://schemas.microsoft.com/office/drawing/2014/main" id="{8137A400-0C55-D5ED-AACA-CC91AD98DA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5" y="1038"/>
                <a:ext cx="7" cy="133"/>
              </a:xfrm>
              <a:prstGeom prst="rect">
                <a:avLst/>
              </a:prstGeom>
              <a:solidFill>
                <a:srgbClr val="96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Line 468">
                <a:extLst>
                  <a:ext uri="{FF2B5EF4-FFF2-40B4-BE49-F238E27FC236}">
                    <a16:creationId xmlns:a16="http://schemas.microsoft.com/office/drawing/2014/main" id="{D9CA8BF7-32C8-1060-3525-DB698558F4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49" y="1038"/>
                <a:ext cx="0" cy="133"/>
              </a:xfrm>
              <a:prstGeom prst="line">
                <a:avLst/>
              </a:prstGeom>
              <a:noFill/>
              <a:ln w="0">
                <a:solidFill>
                  <a:srgbClr val="96969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469">
                <a:extLst>
                  <a:ext uri="{FF2B5EF4-FFF2-40B4-BE49-F238E27FC236}">
                    <a16:creationId xmlns:a16="http://schemas.microsoft.com/office/drawing/2014/main" id="{ECC635DF-3A39-944F-C26F-1CD0A09B17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49" y="1038"/>
                <a:ext cx="7" cy="133"/>
              </a:xfrm>
              <a:prstGeom prst="rect">
                <a:avLst/>
              </a:prstGeom>
              <a:solidFill>
                <a:srgbClr val="96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7" name="Line 470">
                <a:extLst>
                  <a:ext uri="{FF2B5EF4-FFF2-40B4-BE49-F238E27FC236}">
                    <a16:creationId xmlns:a16="http://schemas.microsoft.com/office/drawing/2014/main" id="{D2B77DA2-43E3-4A77-D1A7-740CEA43D2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23" y="1038"/>
                <a:ext cx="0" cy="133"/>
              </a:xfrm>
              <a:prstGeom prst="line">
                <a:avLst/>
              </a:prstGeom>
              <a:noFill/>
              <a:ln w="0">
                <a:solidFill>
                  <a:srgbClr val="96969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471">
                <a:extLst>
                  <a:ext uri="{FF2B5EF4-FFF2-40B4-BE49-F238E27FC236}">
                    <a16:creationId xmlns:a16="http://schemas.microsoft.com/office/drawing/2014/main" id="{21230668-DA26-A56E-D0B9-F7AB369355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23" y="1038"/>
                <a:ext cx="6" cy="133"/>
              </a:xfrm>
              <a:prstGeom prst="rect">
                <a:avLst/>
              </a:prstGeom>
              <a:solidFill>
                <a:srgbClr val="96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Line 472">
                <a:extLst>
                  <a:ext uri="{FF2B5EF4-FFF2-40B4-BE49-F238E27FC236}">
                    <a16:creationId xmlns:a16="http://schemas.microsoft.com/office/drawing/2014/main" id="{B3FDC726-EB3E-3038-8F54-B54D3D277F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97" y="1038"/>
                <a:ext cx="0" cy="133"/>
              </a:xfrm>
              <a:prstGeom prst="line">
                <a:avLst/>
              </a:prstGeom>
              <a:noFill/>
              <a:ln w="0">
                <a:solidFill>
                  <a:srgbClr val="96969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473">
                <a:extLst>
                  <a:ext uri="{FF2B5EF4-FFF2-40B4-BE49-F238E27FC236}">
                    <a16:creationId xmlns:a16="http://schemas.microsoft.com/office/drawing/2014/main" id="{3FE280B2-0C83-48CA-F5FC-53993D52C8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7" y="1038"/>
                <a:ext cx="6" cy="133"/>
              </a:xfrm>
              <a:prstGeom prst="rect">
                <a:avLst/>
              </a:prstGeom>
              <a:solidFill>
                <a:srgbClr val="96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Line 474">
                <a:extLst>
                  <a:ext uri="{FF2B5EF4-FFF2-40B4-BE49-F238E27FC236}">
                    <a16:creationId xmlns:a16="http://schemas.microsoft.com/office/drawing/2014/main" id="{EDAC946E-3AFF-8DBF-B623-87E8201A35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1" y="1163"/>
                <a:ext cx="6880" cy="0"/>
              </a:xfrm>
              <a:prstGeom prst="line">
                <a:avLst/>
              </a:prstGeom>
              <a:noFill/>
              <a:ln w="0">
                <a:solidFill>
                  <a:srgbClr val="96969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475">
                <a:extLst>
                  <a:ext uri="{FF2B5EF4-FFF2-40B4-BE49-F238E27FC236}">
                    <a16:creationId xmlns:a16="http://schemas.microsoft.com/office/drawing/2014/main" id="{ABF65338-FBB5-3991-7087-B8F147629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1" y="1163"/>
                <a:ext cx="6880" cy="8"/>
              </a:xfrm>
              <a:prstGeom prst="rect">
                <a:avLst/>
              </a:prstGeom>
              <a:solidFill>
                <a:srgbClr val="96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Line 476">
                <a:extLst>
                  <a:ext uri="{FF2B5EF4-FFF2-40B4-BE49-F238E27FC236}">
                    <a16:creationId xmlns:a16="http://schemas.microsoft.com/office/drawing/2014/main" id="{82137752-1C36-BAF0-7A85-9F529A0B29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71" y="1038"/>
                <a:ext cx="0" cy="125"/>
              </a:xfrm>
              <a:prstGeom prst="line">
                <a:avLst/>
              </a:prstGeom>
              <a:noFill/>
              <a:ln w="0">
                <a:solidFill>
                  <a:srgbClr val="96969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477">
                <a:extLst>
                  <a:ext uri="{FF2B5EF4-FFF2-40B4-BE49-F238E27FC236}">
                    <a16:creationId xmlns:a16="http://schemas.microsoft.com/office/drawing/2014/main" id="{2767FE09-609B-D439-C2EE-9698AF9558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71" y="1038"/>
                <a:ext cx="6" cy="125"/>
              </a:xfrm>
              <a:prstGeom prst="rect">
                <a:avLst/>
              </a:prstGeom>
              <a:solidFill>
                <a:srgbClr val="96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Line 478">
                <a:extLst>
                  <a:ext uri="{FF2B5EF4-FFF2-40B4-BE49-F238E27FC236}">
                    <a16:creationId xmlns:a16="http://schemas.microsoft.com/office/drawing/2014/main" id="{AF1C8B5D-0FF1-8A3E-5297-E4DEB48AE5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71" y="1163"/>
                <a:ext cx="580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479">
                <a:extLst>
                  <a:ext uri="{FF2B5EF4-FFF2-40B4-BE49-F238E27FC236}">
                    <a16:creationId xmlns:a16="http://schemas.microsoft.com/office/drawing/2014/main" id="{67CFF973-A70D-4098-FCA3-865490CA43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71" y="1163"/>
                <a:ext cx="580" cy="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Line 480">
                <a:extLst>
                  <a:ext uri="{FF2B5EF4-FFF2-40B4-BE49-F238E27FC236}">
                    <a16:creationId xmlns:a16="http://schemas.microsoft.com/office/drawing/2014/main" id="{92371D56-EA86-43FE-1BA8-FB96EEF870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45" y="1038"/>
                <a:ext cx="0" cy="125"/>
              </a:xfrm>
              <a:prstGeom prst="line">
                <a:avLst/>
              </a:prstGeom>
              <a:noFill/>
              <a:ln w="0">
                <a:solidFill>
                  <a:srgbClr val="96969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481">
                <a:extLst>
                  <a:ext uri="{FF2B5EF4-FFF2-40B4-BE49-F238E27FC236}">
                    <a16:creationId xmlns:a16="http://schemas.microsoft.com/office/drawing/2014/main" id="{67A67F38-C831-59FD-C914-A78E333E38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45" y="1038"/>
                <a:ext cx="6" cy="125"/>
              </a:xfrm>
              <a:prstGeom prst="rect">
                <a:avLst/>
              </a:prstGeom>
              <a:solidFill>
                <a:srgbClr val="96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Line 482">
                <a:extLst>
                  <a:ext uri="{FF2B5EF4-FFF2-40B4-BE49-F238E27FC236}">
                    <a16:creationId xmlns:a16="http://schemas.microsoft.com/office/drawing/2014/main" id="{2B67D6C5-8290-FB13-032B-57A5596107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1" y="1412"/>
                <a:ext cx="6886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483">
                <a:extLst>
                  <a:ext uri="{FF2B5EF4-FFF2-40B4-BE49-F238E27FC236}">
                    <a16:creationId xmlns:a16="http://schemas.microsoft.com/office/drawing/2014/main" id="{ECB865A3-7FC8-DF53-9441-F14C973C4A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1" y="1412"/>
                <a:ext cx="6886" cy="7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Line 484">
                <a:extLst>
                  <a:ext uri="{FF2B5EF4-FFF2-40B4-BE49-F238E27FC236}">
                    <a16:creationId xmlns:a16="http://schemas.microsoft.com/office/drawing/2014/main" id="{A2BDE78C-4A36-B9CB-8079-24BF1C16EE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1" y="1590"/>
                <a:ext cx="6886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485">
                <a:extLst>
                  <a:ext uri="{FF2B5EF4-FFF2-40B4-BE49-F238E27FC236}">
                    <a16:creationId xmlns:a16="http://schemas.microsoft.com/office/drawing/2014/main" id="{DF5B725D-73C6-FE26-C83B-3007D6BE40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1" y="1590"/>
                <a:ext cx="6886" cy="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Line 486">
                <a:extLst>
                  <a:ext uri="{FF2B5EF4-FFF2-40B4-BE49-F238E27FC236}">
                    <a16:creationId xmlns:a16="http://schemas.microsoft.com/office/drawing/2014/main" id="{3974B170-F05B-E9E3-D12E-3FCCA5A3BB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1" y="1769"/>
                <a:ext cx="6886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487">
                <a:extLst>
                  <a:ext uri="{FF2B5EF4-FFF2-40B4-BE49-F238E27FC236}">
                    <a16:creationId xmlns:a16="http://schemas.microsoft.com/office/drawing/2014/main" id="{DA4A50B4-9BCC-8C5A-E991-DDD875D000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1" y="1769"/>
                <a:ext cx="6886" cy="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Line 488">
                <a:extLst>
                  <a:ext uri="{FF2B5EF4-FFF2-40B4-BE49-F238E27FC236}">
                    <a16:creationId xmlns:a16="http://schemas.microsoft.com/office/drawing/2014/main" id="{EFB13A47-DC61-0462-5143-4C2A4C25AD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412"/>
                <a:ext cx="0" cy="53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489">
                <a:extLst>
                  <a:ext uri="{FF2B5EF4-FFF2-40B4-BE49-F238E27FC236}">
                    <a16:creationId xmlns:a16="http://schemas.microsoft.com/office/drawing/2014/main" id="{41CB8F1F-9BDC-A253-69AB-C83923F75D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4" y="1412"/>
                <a:ext cx="7" cy="53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Line 490">
                <a:extLst>
                  <a:ext uri="{FF2B5EF4-FFF2-40B4-BE49-F238E27FC236}">
                    <a16:creationId xmlns:a16="http://schemas.microsoft.com/office/drawing/2014/main" id="{0CC37165-85DA-5DE5-F8BD-7A70FF1862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419"/>
                <a:ext cx="0" cy="52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491">
                <a:extLst>
                  <a:ext uri="{FF2B5EF4-FFF2-40B4-BE49-F238E27FC236}">
                    <a16:creationId xmlns:a16="http://schemas.microsoft.com/office/drawing/2014/main" id="{72A869CC-24C3-B916-E761-67E040E1F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8" y="1419"/>
                <a:ext cx="7" cy="52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Line 492">
                <a:extLst>
                  <a:ext uri="{FF2B5EF4-FFF2-40B4-BE49-F238E27FC236}">
                    <a16:creationId xmlns:a16="http://schemas.microsoft.com/office/drawing/2014/main" id="{2F12D9F0-F22C-15CE-8D60-62623191F9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2" y="1419"/>
                <a:ext cx="0" cy="52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493">
                <a:extLst>
                  <a:ext uri="{FF2B5EF4-FFF2-40B4-BE49-F238E27FC236}">
                    <a16:creationId xmlns:a16="http://schemas.microsoft.com/office/drawing/2014/main" id="{014E44FB-1196-EC4A-DC04-3BF506F5AA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2" y="1419"/>
                <a:ext cx="7" cy="52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Line 494">
                <a:extLst>
                  <a:ext uri="{FF2B5EF4-FFF2-40B4-BE49-F238E27FC236}">
                    <a16:creationId xmlns:a16="http://schemas.microsoft.com/office/drawing/2014/main" id="{423ECE20-C533-655F-AE9E-213B130386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6" y="1419"/>
                <a:ext cx="0" cy="52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495">
                <a:extLst>
                  <a:ext uri="{FF2B5EF4-FFF2-40B4-BE49-F238E27FC236}">
                    <a16:creationId xmlns:a16="http://schemas.microsoft.com/office/drawing/2014/main" id="{5E3DF92A-B5C5-0CA7-9B70-B8B4902874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6" y="1419"/>
                <a:ext cx="6" cy="52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3" name="Line 496">
                <a:extLst>
                  <a:ext uri="{FF2B5EF4-FFF2-40B4-BE49-F238E27FC236}">
                    <a16:creationId xmlns:a16="http://schemas.microsoft.com/office/drawing/2014/main" id="{E812D6A2-1D5C-BADC-7714-6EE67E7ED7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1419"/>
                <a:ext cx="0" cy="52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497">
                <a:extLst>
                  <a:ext uri="{FF2B5EF4-FFF2-40B4-BE49-F238E27FC236}">
                    <a16:creationId xmlns:a16="http://schemas.microsoft.com/office/drawing/2014/main" id="{704D667B-85FF-86BA-71F1-57F12EC258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1419"/>
                <a:ext cx="6" cy="52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Line 498">
                <a:extLst>
                  <a:ext uri="{FF2B5EF4-FFF2-40B4-BE49-F238E27FC236}">
                    <a16:creationId xmlns:a16="http://schemas.microsoft.com/office/drawing/2014/main" id="{B9C72723-D926-DDF8-3AA1-F55B6B2FA5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4" y="1419"/>
                <a:ext cx="0" cy="52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499">
                <a:extLst>
                  <a:ext uri="{FF2B5EF4-FFF2-40B4-BE49-F238E27FC236}">
                    <a16:creationId xmlns:a16="http://schemas.microsoft.com/office/drawing/2014/main" id="{C1B645A6-75DD-AB34-B350-32A0C4A430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4" y="1419"/>
                <a:ext cx="6" cy="52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Line 500">
                <a:extLst>
                  <a:ext uri="{FF2B5EF4-FFF2-40B4-BE49-F238E27FC236}">
                    <a16:creationId xmlns:a16="http://schemas.microsoft.com/office/drawing/2014/main" id="{CFA3B601-B414-CC56-26D9-F4298D9C7A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28" y="1419"/>
                <a:ext cx="0" cy="52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501">
                <a:extLst>
                  <a:ext uri="{FF2B5EF4-FFF2-40B4-BE49-F238E27FC236}">
                    <a16:creationId xmlns:a16="http://schemas.microsoft.com/office/drawing/2014/main" id="{CDC8A680-D036-8C31-9E79-2E7F289FD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28" y="1419"/>
                <a:ext cx="6" cy="52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Line 502">
                <a:extLst>
                  <a:ext uri="{FF2B5EF4-FFF2-40B4-BE49-F238E27FC236}">
                    <a16:creationId xmlns:a16="http://schemas.microsoft.com/office/drawing/2014/main" id="{954A2510-3975-5E99-AEB9-F77C6FB761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01" y="1419"/>
                <a:ext cx="0" cy="52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503">
                <a:extLst>
                  <a:ext uri="{FF2B5EF4-FFF2-40B4-BE49-F238E27FC236}">
                    <a16:creationId xmlns:a16="http://schemas.microsoft.com/office/drawing/2014/main" id="{BF33899E-41E1-C34A-7C7E-D24EC9BC73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1" y="1419"/>
                <a:ext cx="7" cy="52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Line 504">
                <a:extLst>
                  <a:ext uri="{FF2B5EF4-FFF2-40B4-BE49-F238E27FC236}">
                    <a16:creationId xmlns:a16="http://schemas.microsoft.com/office/drawing/2014/main" id="{273AF929-BEE2-CD82-D969-7EA8EEB572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5" y="1419"/>
                <a:ext cx="0" cy="52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505">
                <a:extLst>
                  <a:ext uri="{FF2B5EF4-FFF2-40B4-BE49-F238E27FC236}">
                    <a16:creationId xmlns:a16="http://schemas.microsoft.com/office/drawing/2014/main" id="{B9547B39-C12C-A51D-A195-A21F65932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5" y="1419"/>
                <a:ext cx="7" cy="52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Line 506">
                <a:extLst>
                  <a:ext uri="{FF2B5EF4-FFF2-40B4-BE49-F238E27FC236}">
                    <a16:creationId xmlns:a16="http://schemas.microsoft.com/office/drawing/2014/main" id="{79CF2643-1FB5-455E-9B54-63A547DE55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49" y="1419"/>
                <a:ext cx="0" cy="52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507">
                <a:extLst>
                  <a:ext uri="{FF2B5EF4-FFF2-40B4-BE49-F238E27FC236}">
                    <a16:creationId xmlns:a16="http://schemas.microsoft.com/office/drawing/2014/main" id="{567251CB-BD4B-B8E8-EEA1-7165E4E0A3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49" y="1419"/>
                <a:ext cx="7" cy="52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Line 508">
                <a:extLst>
                  <a:ext uri="{FF2B5EF4-FFF2-40B4-BE49-F238E27FC236}">
                    <a16:creationId xmlns:a16="http://schemas.microsoft.com/office/drawing/2014/main" id="{B641CB3E-655C-91A4-30C3-FAC440DA51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23" y="1419"/>
                <a:ext cx="0" cy="52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509">
                <a:extLst>
                  <a:ext uri="{FF2B5EF4-FFF2-40B4-BE49-F238E27FC236}">
                    <a16:creationId xmlns:a16="http://schemas.microsoft.com/office/drawing/2014/main" id="{0CD09E61-62EE-77DC-1931-5972B251F1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23" y="1419"/>
                <a:ext cx="6" cy="52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Line 510">
                <a:extLst>
                  <a:ext uri="{FF2B5EF4-FFF2-40B4-BE49-F238E27FC236}">
                    <a16:creationId xmlns:a16="http://schemas.microsoft.com/office/drawing/2014/main" id="{46B1CE58-C69C-102E-B1FA-AE92E82E8B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97" y="1419"/>
                <a:ext cx="0" cy="52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511">
                <a:extLst>
                  <a:ext uri="{FF2B5EF4-FFF2-40B4-BE49-F238E27FC236}">
                    <a16:creationId xmlns:a16="http://schemas.microsoft.com/office/drawing/2014/main" id="{EC83FA93-56AE-E444-7A82-A112FBB36C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7" y="1419"/>
                <a:ext cx="6" cy="52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Line 512">
                <a:extLst>
                  <a:ext uri="{FF2B5EF4-FFF2-40B4-BE49-F238E27FC236}">
                    <a16:creationId xmlns:a16="http://schemas.microsoft.com/office/drawing/2014/main" id="{5DBA0CEE-5C2D-1967-820C-B545D938B1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948"/>
                <a:ext cx="6887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dirty="0"/>
              </a:p>
            </p:txBody>
          </p:sp>
          <p:sp>
            <p:nvSpPr>
              <p:cNvPr id="250" name="Rectangle 513">
                <a:extLst>
                  <a:ext uri="{FF2B5EF4-FFF2-40B4-BE49-F238E27FC236}">
                    <a16:creationId xmlns:a16="http://schemas.microsoft.com/office/drawing/2014/main" id="{7D782EB6-44C5-6ABD-E009-98FD395736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4" y="1948"/>
                <a:ext cx="6887" cy="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Line 514">
                <a:extLst>
                  <a:ext uri="{FF2B5EF4-FFF2-40B4-BE49-F238E27FC236}">
                    <a16:creationId xmlns:a16="http://schemas.microsoft.com/office/drawing/2014/main" id="{758193D2-A67A-980B-B665-7EEB550A23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956"/>
                <a:ext cx="0" cy="10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5">
                <a:extLst>
                  <a:ext uri="{FF2B5EF4-FFF2-40B4-BE49-F238E27FC236}">
                    <a16:creationId xmlns:a16="http://schemas.microsoft.com/office/drawing/2014/main" id="{216FA9FE-12AD-351B-9780-EE2EE9E0BA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4" y="1956"/>
                <a:ext cx="7" cy="10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Line 516">
                <a:extLst>
                  <a:ext uri="{FF2B5EF4-FFF2-40B4-BE49-F238E27FC236}">
                    <a16:creationId xmlns:a16="http://schemas.microsoft.com/office/drawing/2014/main" id="{27E10DCA-CE55-EAC7-F9CC-D6996FDA8E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956"/>
                <a:ext cx="0" cy="1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17">
                <a:extLst>
                  <a:ext uri="{FF2B5EF4-FFF2-40B4-BE49-F238E27FC236}">
                    <a16:creationId xmlns:a16="http://schemas.microsoft.com/office/drawing/2014/main" id="{60AB6D5F-37FE-D479-AF5D-696ACDBDFF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8" y="1956"/>
                <a:ext cx="7" cy="1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Line 518">
                <a:extLst>
                  <a:ext uri="{FF2B5EF4-FFF2-40B4-BE49-F238E27FC236}">
                    <a16:creationId xmlns:a16="http://schemas.microsoft.com/office/drawing/2014/main" id="{3DC674DA-A93F-0CFC-F492-6CDE4E9B53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2" y="1956"/>
                <a:ext cx="0" cy="1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19">
                <a:extLst>
                  <a:ext uri="{FF2B5EF4-FFF2-40B4-BE49-F238E27FC236}">
                    <a16:creationId xmlns:a16="http://schemas.microsoft.com/office/drawing/2014/main" id="{9C9E98A8-2BE8-99E0-66BE-F6EC1214FF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2" y="1956"/>
                <a:ext cx="7" cy="1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Line 520">
                <a:extLst>
                  <a:ext uri="{FF2B5EF4-FFF2-40B4-BE49-F238E27FC236}">
                    <a16:creationId xmlns:a16="http://schemas.microsoft.com/office/drawing/2014/main" id="{5F8F61D5-E31F-FB3A-4356-B2AAF705C2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6" y="1956"/>
                <a:ext cx="0" cy="1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21">
                <a:extLst>
                  <a:ext uri="{FF2B5EF4-FFF2-40B4-BE49-F238E27FC236}">
                    <a16:creationId xmlns:a16="http://schemas.microsoft.com/office/drawing/2014/main" id="{70CCC03D-18CA-4F81-CE10-90CC1C2868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6" y="1956"/>
                <a:ext cx="6" cy="1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9" name="Line 522">
                <a:extLst>
                  <a:ext uri="{FF2B5EF4-FFF2-40B4-BE49-F238E27FC236}">
                    <a16:creationId xmlns:a16="http://schemas.microsoft.com/office/drawing/2014/main" id="{2C427C3D-68F8-9169-A106-436195DF2F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1956"/>
                <a:ext cx="0" cy="1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523">
                <a:extLst>
                  <a:ext uri="{FF2B5EF4-FFF2-40B4-BE49-F238E27FC236}">
                    <a16:creationId xmlns:a16="http://schemas.microsoft.com/office/drawing/2014/main" id="{2242CA4F-BC69-91DE-0E0E-7278D93A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1956"/>
                <a:ext cx="6" cy="1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Line 524">
                <a:extLst>
                  <a:ext uri="{FF2B5EF4-FFF2-40B4-BE49-F238E27FC236}">
                    <a16:creationId xmlns:a16="http://schemas.microsoft.com/office/drawing/2014/main" id="{F3B41F57-C1A2-0098-B065-A033CC4D97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4" y="1956"/>
                <a:ext cx="0" cy="1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525">
                <a:extLst>
                  <a:ext uri="{FF2B5EF4-FFF2-40B4-BE49-F238E27FC236}">
                    <a16:creationId xmlns:a16="http://schemas.microsoft.com/office/drawing/2014/main" id="{7EBAE394-D4D5-6A65-041B-AD25EAD3BE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4" y="1956"/>
                <a:ext cx="6" cy="1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Line 526">
                <a:extLst>
                  <a:ext uri="{FF2B5EF4-FFF2-40B4-BE49-F238E27FC236}">
                    <a16:creationId xmlns:a16="http://schemas.microsoft.com/office/drawing/2014/main" id="{6602EB20-3984-3BC3-DDC4-845344BDAD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28" y="1956"/>
                <a:ext cx="0" cy="1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527">
                <a:extLst>
                  <a:ext uri="{FF2B5EF4-FFF2-40B4-BE49-F238E27FC236}">
                    <a16:creationId xmlns:a16="http://schemas.microsoft.com/office/drawing/2014/main" id="{7AD8F29F-6420-F587-C73A-D222E10B1C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28" y="1956"/>
                <a:ext cx="6" cy="1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Line 528">
                <a:extLst>
                  <a:ext uri="{FF2B5EF4-FFF2-40B4-BE49-F238E27FC236}">
                    <a16:creationId xmlns:a16="http://schemas.microsoft.com/office/drawing/2014/main" id="{60BB4410-6501-5A13-6AA9-22E058784E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01" y="1956"/>
                <a:ext cx="0" cy="1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529">
                <a:extLst>
                  <a:ext uri="{FF2B5EF4-FFF2-40B4-BE49-F238E27FC236}">
                    <a16:creationId xmlns:a16="http://schemas.microsoft.com/office/drawing/2014/main" id="{049643D5-1CE8-6014-A3F2-45B8BE7080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1" y="1956"/>
                <a:ext cx="7" cy="1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Line 530">
                <a:extLst>
                  <a:ext uri="{FF2B5EF4-FFF2-40B4-BE49-F238E27FC236}">
                    <a16:creationId xmlns:a16="http://schemas.microsoft.com/office/drawing/2014/main" id="{62F968E6-1935-B70B-9B42-EC5352D655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5" y="1956"/>
                <a:ext cx="0" cy="1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531">
                <a:extLst>
                  <a:ext uri="{FF2B5EF4-FFF2-40B4-BE49-F238E27FC236}">
                    <a16:creationId xmlns:a16="http://schemas.microsoft.com/office/drawing/2014/main" id="{B54E5FA9-E21D-23E2-263A-B31F8187F3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5" y="1956"/>
                <a:ext cx="7" cy="1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Line 532">
                <a:extLst>
                  <a:ext uri="{FF2B5EF4-FFF2-40B4-BE49-F238E27FC236}">
                    <a16:creationId xmlns:a16="http://schemas.microsoft.com/office/drawing/2014/main" id="{01883D8C-F309-6957-7B19-FEBAD0B612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49" y="1956"/>
                <a:ext cx="0" cy="1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533">
                <a:extLst>
                  <a:ext uri="{FF2B5EF4-FFF2-40B4-BE49-F238E27FC236}">
                    <a16:creationId xmlns:a16="http://schemas.microsoft.com/office/drawing/2014/main" id="{F963CEED-E1A5-DEC2-8C14-6780E4DA29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49" y="1956"/>
                <a:ext cx="7" cy="1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Line 534">
                <a:extLst>
                  <a:ext uri="{FF2B5EF4-FFF2-40B4-BE49-F238E27FC236}">
                    <a16:creationId xmlns:a16="http://schemas.microsoft.com/office/drawing/2014/main" id="{99B0E5AE-0486-EFBE-9C38-469E1170D9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23" y="1956"/>
                <a:ext cx="0" cy="1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535">
                <a:extLst>
                  <a:ext uri="{FF2B5EF4-FFF2-40B4-BE49-F238E27FC236}">
                    <a16:creationId xmlns:a16="http://schemas.microsoft.com/office/drawing/2014/main" id="{76C137A5-DDF5-B719-EEFB-66ADC5325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23" y="1956"/>
                <a:ext cx="6" cy="1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Line 536">
                <a:extLst>
                  <a:ext uri="{FF2B5EF4-FFF2-40B4-BE49-F238E27FC236}">
                    <a16:creationId xmlns:a16="http://schemas.microsoft.com/office/drawing/2014/main" id="{421F8394-0D9A-4662-04AF-8D459C2E98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97" y="1956"/>
                <a:ext cx="0" cy="1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537">
                <a:extLst>
                  <a:ext uri="{FF2B5EF4-FFF2-40B4-BE49-F238E27FC236}">
                    <a16:creationId xmlns:a16="http://schemas.microsoft.com/office/drawing/2014/main" id="{538E18F7-6B03-DD09-6436-A34AF7911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7" y="1956"/>
                <a:ext cx="6" cy="1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Line 538">
                <a:extLst>
                  <a:ext uri="{FF2B5EF4-FFF2-40B4-BE49-F238E27FC236}">
                    <a16:creationId xmlns:a16="http://schemas.microsoft.com/office/drawing/2014/main" id="{4957DA35-11EF-7349-BF2C-3D7D0C6229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2065"/>
                <a:ext cx="6893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dirty="0"/>
              </a:p>
            </p:txBody>
          </p:sp>
          <p:sp>
            <p:nvSpPr>
              <p:cNvPr id="276" name="Rectangle 539">
                <a:extLst>
                  <a:ext uri="{FF2B5EF4-FFF2-40B4-BE49-F238E27FC236}">
                    <a16:creationId xmlns:a16="http://schemas.microsoft.com/office/drawing/2014/main" id="{05491F45-099F-48E7-A700-48B21C9220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4" y="2065"/>
                <a:ext cx="6893" cy="7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Line 540">
                <a:extLst>
                  <a:ext uri="{FF2B5EF4-FFF2-40B4-BE49-F238E27FC236}">
                    <a16:creationId xmlns:a16="http://schemas.microsoft.com/office/drawing/2014/main" id="{C09846B1-6D95-1F64-B014-8356099CD3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71" y="1419"/>
                <a:ext cx="0" cy="64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541">
                <a:extLst>
                  <a:ext uri="{FF2B5EF4-FFF2-40B4-BE49-F238E27FC236}">
                    <a16:creationId xmlns:a16="http://schemas.microsoft.com/office/drawing/2014/main" id="{F6FE14AA-FA3D-3C75-1E02-84CE1D293F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71" y="1419"/>
                <a:ext cx="6" cy="64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Line 542">
                <a:extLst>
                  <a:ext uri="{FF2B5EF4-FFF2-40B4-BE49-F238E27FC236}">
                    <a16:creationId xmlns:a16="http://schemas.microsoft.com/office/drawing/2014/main" id="{587F81A2-5A56-DC4A-59A3-D4BBBF7D6D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1" y="2313"/>
                <a:ext cx="6886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543">
                <a:extLst>
                  <a:ext uri="{FF2B5EF4-FFF2-40B4-BE49-F238E27FC236}">
                    <a16:creationId xmlns:a16="http://schemas.microsoft.com/office/drawing/2014/main" id="{99DDA835-BCB5-EF98-1DA3-37602307D9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1" y="2313"/>
                <a:ext cx="6886" cy="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Line 544">
                <a:extLst>
                  <a:ext uri="{FF2B5EF4-FFF2-40B4-BE49-F238E27FC236}">
                    <a16:creationId xmlns:a16="http://schemas.microsoft.com/office/drawing/2014/main" id="{748F4382-01F7-26F9-B0A5-92A4FCA58B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2313"/>
                <a:ext cx="0" cy="17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545">
                <a:extLst>
                  <a:ext uri="{FF2B5EF4-FFF2-40B4-BE49-F238E27FC236}">
                    <a16:creationId xmlns:a16="http://schemas.microsoft.com/office/drawing/2014/main" id="{1DD3DF78-A770-8A4B-A0E2-B4545E8BD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4" y="2313"/>
                <a:ext cx="7" cy="17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Line 546">
                <a:extLst>
                  <a:ext uri="{FF2B5EF4-FFF2-40B4-BE49-F238E27FC236}">
                    <a16:creationId xmlns:a16="http://schemas.microsoft.com/office/drawing/2014/main" id="{3F43E77A-B3CB-44DF-0985-03B6CC2924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2321"/>
                <a:ext cx="0" cy="17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547">
                <a:extLst>
                  <a:ext uri="{FF2B5EF4-FFF2-40B4-BE49-F238E27FC236}">
                    <a16:creationId xmlns:a16="http://schemas.microsoft.com/office/drawing/2014/main" id="{BCF270FA-70E0-A134-B831-AA32CC46C0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8" y="2321"/>
                <a:ext cx="7" cy="17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5" name="Line 548">
                <a:extLst>
                  <a:ext uri="{FF2B5EF4-FFF2-40B4-BE49-F238E27FC236}">
                    <a16:creationId xmlns:a16="http://schemas.microsoft.com/office/drawing/2014/main" id="{5C180130-9D28-90D3-B093-BC243D227B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2" y="2321"/>
                <a:ext cx="0" cy="17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549">
                <a:extLst>
                  <a:ext uri="{FF2B5EF4-FFF2-40B4-BE49-F238E27FC236}">
                    <a16:creationId xmlns:a16="http://schemas.microsoft.com/office/drawing/2014/main" id="{D77043D8-C3CE-C7E3-A15C-7781E6F16A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2" y="2321"/>
                <a:ext cx="7" cy="17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Line 550">
                <a:extLst>
                  <a:ext uri="{FF2B5EF4-FFF2-40B4-BE49-F238E27FC236}">
                    <a16:creationId xmlns:a16="http://schemas.microsoft.com/office/drawing/2014/main" id="{07C6FE54-12E4-C743-B9D3-B5D61E5257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6" y="2321"/>
                <a:ext cx="0" cy="17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551">
                <a:extLst>
                  <a:ext uri="{FF2B5EF4-FFF2-40B4-BE49-F238E27FC236}">
                    <a16:creationId xmlns:a16="http://schemas.microsoft.com/office/drawing/2014/main" id="{413C3419-D859-7476-1EEE-7A29D5CDB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6" y="2321"/>
                <a:ext cx="6" cy="17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Line 552">
                <a:extLst>
                  <a:ext uri="{FF2B5EF4-FFF2-40B4-BE49-F238E27FC236}">
                    <a16:creationId xmlns:a16="http://schemas.microsoft.com/office/drawing/2014/main" id="{264C94C5-A845-D0E8-AD58-E8ADD05427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2321"/>
                <a:ext cx="0" cy="17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553">
                <a:extLst>
                  <a:ext uri="{FF2B5EF4-FFF2-40B4-BE49-F238E27FC236}">
                    <a16:creationId xmlns:a16="http://schemas.microsoft.com/office/drawing/2014/main" id="{48E67C65-3B2C-69AF-5811-705FD8B6D3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2321"/>
                <a:ext cx="6" cy="17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Line 554">
                <a:extLst>
                  <a:ext uri="{FF2B5EF4-FFF2-40B4-BE49-F238E27FC236}">
                    <a16:creationId xmlns:a16="http://schemas.microsoft.com/office/drawing/2014/main" id="{50F7EB2E-70B6-6406-829F-AEF2E72071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4" y="2321"/>
                <a:ext cx="0" cy="17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555">
                <a:extLst>
                  <a:ext uri="{FF2B5EF4-FFF2-40B4-BE49-F238E27FC236}">
                    <a16:creationId xmlns:a16="http://schemas.microsoft.com/office/drawing/2014/main" id="{0374DD70-FFD4-ADE5-B731-12DD41B9F2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4" y="2321"/>
                <a:ext cx="6" cy="17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Line 556">
                <a:extLst>
                  <a:ext uri="{FF2B5EF4-FFF2-40B4-BE49-F238E27FC236}">
                    <a16:creationId xmlns:a16="http://schemas.microsoft.com/office/drawing/2014/main" id="{64C4D9E6-C797-3DD9-3BC4-F6E7E1ED47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28" y="2321"/>
                <a:ext cx="0" cy="17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557">
                <a:extLst>
                  <a:ext uri="{FF2B5EF4-FFF2-40B4-BE49-F238E27FC236}">
                    <a16:creationId xmlns:a16="http://schemas.microsoft.com/office/drawing/2014/main" id="{11DDBB28-FC9D-9EFA-D9C8-AE6602AB14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28" y="2321"/>
                <a:ext cx="6" cy="17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Line 558">
                <a:extLst>
                  <a:ext uri="{FF2B5EF4-FFF2-40B4-BE49-F238E27FC236}">
                    <a16:creationId xmlns:a16="http://schemas.microsoft.com/office/drawing/2014/main" id="{82BBFEB5-688B-F949-24D7-6398DFB5A3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01" y="2321"/>
                <a:ext cx="0" cy="17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559">
                <a:extLst>
                  <a:ext uri="{FF2B5EF4-FFF2-40B4-BE49-F238E27FC236}">
                    <a16:creationId xmlns:a16="http://schemas.microsoft.com/office/drawing/2014/main" id="{D1C88F95-6051-E652-98A1-0A6B6DD748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1" y="2321"/>
                <a:ext cx="7" cy="17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Line 560">
                <a:extLst>
                  <a:ext uri="{FF2B5EF4-FFF2-40B4-BE49-F238E27FC236}">
                    <a16:creationId xmlns:a16="http://schemas.microsoft.com/office/drawing/2014/main" id="{A5F9D7B9-DBC3-E7A8-3C12-F808B43004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5" y="2321"/>
                <a:ext cx="0" cy="17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561">
                <a:extLst>
                  <a:ext uri="{FF2B5EF4-FFF2-40B4-BE49-F238E27FC236}">
                    <a16:creationId xmlns:a16="http://schemas.microsoft.com/office/drawing/2014/main" id="{68DF4A57-1E0F-19B0-A8A1-4EC0DD6906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5" y="2321"/>
                <a:ext cx="7" cy="17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Line 562">
                <a:extLst>
                  <a:ext uri="{FF2B5EF4-FFF2-40B4-BE49-F238E27FC236}">
                    <a16:creationId xmlns:a16="http://schemas.microsoft.com/office/drawing/2014/main" id="{2B74DCAA-900A-76DC-3DFD-F40464AA0B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49" y="2321"/>
                <a:ext cx="0" cy="17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563">
                <a:extLst>
                  <a:ext uri="{FF2B5EF4-FFF2-40B4-BE49-F238E27FC236}">
                    <a16:creationId xmlns:a16="http://schemas.microsoft.com/office/drawing/2014/main" id="{43D3588C-EF27-D644-0D39-55F90F8F77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49" y="2321"/>
                <a:ext cx="7" cy="17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Line 564">
                <a:extLst>
                  <a:ext uri="{FF2B5EF4-FFF2-40B4-BE49-F238E27FC236}">
                    <a16:creationId xmlns:a16="http://schemas.microsoft.com/office/drawing/2014/main" id="{5E0EFDC0-0A30-B1F7-D80B-CBB4D938D7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23" y="2321"/>
                <a:ext cx="0" cy="17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565">
                <a:extLst>
                  <a:ext uri="{FF2B5EF4-FFF2-40B4-BE49-F238E27FC236}">
                    <a16:creationId xmlns:a16="http://schemas.microsoft.com/office/drawing/2014/main" id="{EF34F462-9352-28DB-98CB-511943EFCF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23" y="2321"/>
                <a:ext cx="6" cy="17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Line 566">
                <a:extLst>
                  <a:ext uri="{FF2B5EF4-FFF2-40B4-BE49-F238E27FC236}">
                    <a16:creationId xmlns:a16="http://schemas.microsoft.com/office/drawing/2014/main" id="{5628EEA9-97D8-8221-3283-5C87199233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97" y="2321"/>
                <a:ext cx="0" cy="17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567">
                <a:extLst>
                  <a:ext uri="{FF2B5EF4-FFF2-40B4-BE49-F238E27FC236}">
                    <a16:creationId xmlns:a16="http://schemas.microsoft.com/office/drawing/2014/main" id="{ED10F8D8-F5F2-A628-63DD-391B58B974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7" y="2321"/>
                <a:ext cx="6" cy="17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Line 568">
                <a:extLst>
                  <a:ext uri="{FF2B5EF4-FFF2-40B4-BE49-F238E27FC236}">
                    <a16:creationId xmlns:a16="http://schemas.microsoft.com/office/drawing/2014/main" id="{03B4A778-F96E-47D0-EE2E-42D59C96E6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2492"/>
                <a:ext cx="6893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dirty="0"/>
              </a:p>
            </p:txBody>
          </p:sp>
          <p:sp>
            <p:nvSpPr>
              <p:cNvPr id="306" name="Rectangle 569">
                <a:extLst>
                  <a:ext uri="{FF2B5EF4-FFF2-40B4-BE49-F238E27FC236}">
                    <a16:creationId xmlns:a16="http://schemas.microsoft.com/office/drawing/2014/main" id="{3FF4A020-99D7-52BA-FC97-B71E636F9F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4" y="2492"/>
                <a:ext cx="6893" cy="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Line 570">
                <a:extLst>
                  <a:ext uri="{FF2B5EF4-FFF2-40B4-BE49-F238E27FC236}">
                    <a16:creationId xmlns:a16="http://schemas.microsoft.com/office/drawing/2014/main" id="{8CD55ABC-8CED-BCE1-64D3-D5768A720A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71" y="2321"/>
                <a:ext cx="0" cy="17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571">
                <a:extLst>
                  <a:ext uri="{FF2B5EF4-FFF2-40B4-BE49-F238E27FC236}">
                    <a16:creationId xmlns:a16="http://schemas.microsoft.com/office/drawing/2014/main" id="{BC396A78-7412-940A-2F04-F783F6258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71" y="2321"/>
                <a:ext cx="6" cy="17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Line 572">
                <a:extLst>
                  <a:ext uri="{FF2B5EF4-FFF2-40B4-BE49-F238E27FC236}">
                    <a16:creationId xmlns:a16="http://schemas.microsoft.com/office/drawing/2014/main" id="{BDDA8B16-9665-D460-BE97-4168B75D70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77" y="2492"/>
                <a:ext cx="574" cy="0"/>
              </a:xfrm>
              <a:prstGeom prst="line">
                <a:avLst/>
              </a:prstGeom>
              <a:noFill/>
              <a:ln w="0">
                <a:solidFill>
                  <a:srgbClr val="C0C0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573">
                <a:extLst>
                  <a:ext uri="{FF2B5EF4-FFF2-40B4-BE49-F238E27FC236}">
                    <a16:creationId xmlns:a16="http://schemas.microsoft.com/office/drawing/2014/main" id="{0D8CDB56-0146-BE07-7DA4-F46A9D2838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77" y="2492"/>
                <a:ext cx="574" cy="8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1" name="Line 574">
                <a:extLst>
                  <a:ext uri="{FF2B5EF4-FFF2-40B4-BE49-F238E27FC236}">
                    <a16:creationId xmlns:a16="http://schemas.microsoft.com/office/drawing/2014/main" id="{49CCD59A-A264-E900-9221-0A3731C2D8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2500"/>
                <a:ext cx="0" cy="10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575">
                <a:extLst>
                  <a:ext uri="{FF2B5EF4-FFF2-40B4-BE49-F238E27FC236}">
                    <a16:creationId xmlns:a16="http://schemas.microsoft.com/office/drawing/2014/main" id="{2BC3AD05-2B41-DA3C-9565-6D2D84E934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4" y="2500"/>
                <a:ext cx="7" cy="10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Line 576">
                <a:extLst>
                  <a:ext uri="{FF2B5EF4-FFF2-40B4-BE49-F238E27FC236}">
                    <a16:creationId xmlns:a16="http://schemas.microsoft.com/office/drawing/2014/main" id="{3ACE8504-6EAC-E6CF-4D2D-56DD619C29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2500"/>
                <a:ext cx="0" cy="1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577">
                <a:extLst>
                  <a:ext uri="{FF2B5EF4-FFF2-40B4-BE49-F238E27FC236}">
                    <a16:creationId xmlns:a16="http://schemas.microsoft.com/office/drawing/2014/main" id="{48809555-135C-9F4B-BF25-A8EE84B230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8" y="2500"/>
                <a:ext cx="7" cy="1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Line 578">
                <a:extLst>
                  <a:ext uri="{FF2B5EF4-FFF2-40B4-BE49-F238E27FC236}">
                    <a16:creationId xmlns:a16="http://schemas.microsoft.com/office/drawing/2014/main" id="{5A9A9BAA-4FA3-49C5-ACE8-2A0D874A3F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2" y="2500"/>
                <a:ext cx="0" cy="1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579">
                <a:extLst>
                  <a:ext uri="{FF2B5EF4-FFF2-40B4-BE49-F238E27FC236}">
                    <a16:creationId xmlns:a16="http://schemas.microsoft.com/office/drawing/2014/main" id="{3870E23F-3B8E-F5F3-E567-E2ADECC10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2" y="2500"/>
                <a:ext cx="7" cy="1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Line 580">
                <a:extLst>
                  <a:ext uri="{FF2B5EF4-FFF2-40B4-BE49-F238E27FC236}">
                    <a16:creationId xmlns:a16="http://schemas.microsoft.com/office/drawing/2014/main" id="{BAAD4C77-78D5-642B-ADC6-A5F51BF6E9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6" y="2500"/>
                <a:ext cx="0" cy="1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581">
                <a:extLst>
                  <a:ext uri="{FF2B5EF4-FFF2-40B4-BE49-F238E27FC236}">
                    <a16:creationId xmlns:a16="http://schemas.microsoft.com/office/drawing/2014/main" id="{161F735C-5EB3-D1FC-6632-90A613424B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6" y="2500"/>
                <a:ext cx="6" cy="1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Line 582">
                <a:extLst>
                  <a:ext uri="{FF2B5EF4-FFF2-40B4-BE49-F238E27FC236}">
                    <a16:creationId xmlns:a16="http://schemas.microsoft.com/office/drawing/2014/main" id="{183D153E-3192-67F3-661B-EA78474654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2500"/>
                <a:ext cx="0" cy="1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583">
                <a:extLst>
                  <a:ext uri="{FF2B5EF4-FFF2-40B4-BE49-F238E27FC236}">
                    <a16:creationId xmlns:a16="http://schemas.microsoft.com/office/drawing/2014/main" id="{57EDF180-C8C6-112E-F1D2-2E6AC2F695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2500"/>
                <a:ext cx="6" cy="1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Line 584">
                <a:extLst>
                  <a:ext uri="{FF2B5EF4-FFF2-40B4-BE49-F238E27FC236}">
                    <a16:creationId xmlns:a16="http://schemas.microsoft.com/office/drawing/2014/main" id="{0367B007-429E-DA66-0B60-E07A4D7E5C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4" y="2500"/>
                <a:ext cx="0" cy="1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585">
                <a:extLst>
                  <a:ext uri="{FF2B5EF4-FFF2-40B4-BE49-F238E27FC236}">
                    <a16:creationId xmlns:a16="http://schemas.microsoft.com/office/drawing/2014/main" id="{EC93CD4E-E751-2DE1-4CA2-F6D18C78A1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4" y="2500"/>
                <a:ext cx="6" cy="1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Line 586">
                <a:extLst>
                  <a:ext uri="{FF2B5EF4-FFF2-40B4-BE49-F238E27FC236}">
                    <a16:creationId xmlns:a16="http://schemas.microsoft.com/office/drawing/2014/main" id="{478BB67E-F2C4-9BBB-32FF-588244C4C5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28" y="2500"/>
                <a:ext cx="0" cy="1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587">
                <a:extLst>
                  <a:ext uri="{FF2B5EF4-FFF2-40B4-BE49-F238E27FC236}">
                    <a16:creationId xmlns:a16="http://schemas.microsoft.com/office/drawing/2014/main" id="{80EE85FB-91F8-1DF3-4189-14F72B390C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28" y="2500"/>
                <a:ext cx="6" cy="1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Line 588">
                <a:extLst>
                  <a:ext uri="{FF2B5EF4-FFF2-40B4-BE49-F238E27FC236}">
                    <a16:creationId xmlns:a16="http://schemas.microsoft.com/office/drawing/2014/main" id="{6847822E-9085-CED4-D263-E59F82360A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01" y="2500"/>
                <a:ext cx="0" cy="1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589">
                <a:extLst>
                  <a:ext uri="{FF2B5EF4-FFF2-40B4-BE49-F238E27FC236}">
                    <a16:creationId xmlns:a16="http://schemas.microsoft.com/office/drawing/2014/main" id="{81605CC9-1321-CE29-94CE-E29A6D1208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1" y="2500"/>
                <a:ext cx="7" cy="1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Line 590">
                <a:extLst>
                  <a:ext uri="{FF2B5EF4-FFF2-40B4-BE49-F238E27FC236}">
                    <a16:creationId xmlns:a16="http://schemas.microsoft.com/office/drawing/2014/main" id="{18AF359F-02C7-D452-DDE2-2BAFFCA925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75" y="2500"/>
                <a:ext cx="0" cy="1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591">
                <a:extLst>
                  <a:ext uri="{FF2B5EF4-FFF2-40B4-BE49-F238E27FC236}">
                    <a16:creationId xmlns:a16="http://schemas.microsoft.com/office/drawing/2014/main" id="{21297F43-D1E9-65EF-5979-86CB9F59B7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5" y="2500"/>
                <a:ext cx="7" cy="1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Line 592">
                <a:extLst>
                  <a:ext uri="{FF2B5EF4-FFF2-40B4-BE49-F238E27FC236}">
                    <a16:creationId xmlns:a16="http://schemas.microsoft.com/office/drawing/2014/main" id="{E88BBFCB-D1ED-348D-952E-1C0FE7F442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49" y="2500"/>
                <a:ext cx="0" cy="1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93">
                <a:extLst>
                  <a:ext uri="{FF2B5EF4-FFF2-40B4-BE49-F238E27FC236}">
                    <a16:creationId xmlns:a16="http://schemas.microsoft.com/office/drawing/2014/main" id="{E512E1AF-8460-CF60-EC8A-3620AEECE3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49" y="2500"/>
                <a:ext cx="7" cy="1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Line 594">
                <a:extLst>
                  <a:ext uri="{FF2B5EF4-FFF2-40B4-BE49-F238E27FC236}">
                    <a16:creationId xmlns:a16="http://schemas.microsoft.com/office/drawing/2014/main" id="{B218B75B-CEA0-ACFB-5CE0-8D3A241ABD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23" y="2500"/>
                <a:ext cx="0" cy="1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95">
                <a:extLst>
                  <a:ext uri="{FF2B5EF4-FFF2-40B4-BE49-F238E27FC236}">
                    <a16:creationId xmlns:a16="http://schemas.microsoft.com/office/drawing/2014/main" id="{ACFA86CF-384A-091A-D6D1-3523CF1C52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23" y="2500"/>
                <a:ext cx="6" cy="1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Line 596">
                <a:extLst>
                  <a:ext uri="{FF2B5EF4-FFF2-40B4-BE49-F238E27FC236}">
                    <a16:creationId xmlns:a16="http://schemas.microsoft.com/office/drawing/2014/main" id="{A271495C-C3EC-4EBE-20FF-C1712BB9ED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97" y="2500"/>
                <a:ext cx="0" cy="1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97">
                <a:extLst>
                  <a:ext uri="{FF2B5EF4-FFF2-40B4-BE49-F238E27FC236}">
                    <a16:creationId xmlns:a16="http://schemas.microsoft.com/office/drawing/2014/main" id="{B3FCC95D-D584-1053-DF6A-4BD717E230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7" y="2500"/>
                <a:ext cx="6" cy="1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Line 598">
                <a:extLst>
                  <a:ext uri="{FF2B5EF4-FFF2-40B4-BE49-F238E27FC236}">
                    <a16:creationId xmlns:a16="http://schemas.microsoft.com/office/drawing/2014/main" id="{289EB7BF-0927-00F3-1490-34DE4DDC85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2609"/>
                <a:ext cx="6893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dirty="0"/>
              </a:p>
            </p:txBody>
          </p:sp>
          <p:sp>
            <p:nvSpPr>
              <p:cNvPr id="336" name="Rectangle 599">
                <a:extLst>
                  <a:ext uri="{FF2B5EF4-FFF2-40B4-BE49-F238E27FC236}">
                    <a16:creationId xmlns:a16="http://schemas.microsoft.com/office/drawing/2014/main" id="{71D27223-CA8A-2804-4CD3-19F9BCEB3A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4" y="2609"/>
                <a:ext cx="6893" cy="7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7" name="Line 600">
                <a:extLst>
                  <a:ext uri="{FF2B5EF4-FFF2-40B4-BE49-F238E27FC236}">
                    <a16:creationId xmlns:a16="http://schemas.microsoft.com/office/drawing/2014/main" id="{F8B7980B-B86A-1686-97B5-0A820817CD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71" y="2500"/>
                <a:ext cx="0" cy="1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01">
                <a:extLst>
                  <a:ext uri="{FF2B5EF4-FFF2-40B4-BE49-F238E27FC236}">
                    <a16:creationId xmlns:a16="http://schemas.microsoft.com/office/drawing/2014/main" id="{E462A781-7390-7BF5-6BB5-0EE60DB8D9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71" y="2500"/>
                <a:ext cx="6" cy="1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Line 602">
                <a:extLst>
                  <a:ext uri="{FF2B5EF4-FFF2-40B4-BE49-F238E27FC236}">
                    <a16:creationId xmlns:a16="http://schemas.microsoft.com/office/drawing/2014/main" id="{1FF45889-8594-4E05-C38F-6938963ADE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2865"/>
                <a:ext cx="6893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dirty="0"/>
              </a:p>
            </p:txBody>
          </p:sp>
          <p:sp>
            <p:nvSpPr>
              <p:cNvPr id="340" name="Rectangle 603">
                <a:extLst>
                  <a:ext uri="{FF2B5EF4-FFF2-40B4-BE49-F238E27FC236}">
                    <a16:creationId xmlns:a16="http://schemas.microsoft.com/office/drawing/2014/main" id="{D6E59C7F-5AF2-A4E3-104E-C40DAFF503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4" y="2865"/>
                <a:ext cx="6893" cy="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Line 604">
                <a:extLst>
                  <a:ext uri="{FF2B5EF4-FFF2-40B4-BE49-F238E27FC236}">
                    <a16:creationId xmlns:a16="http://schemas.microsoft.com/office/drawing/2014/main" id="{0625AB95-289C-59DD-A088-7AF85F9C0F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1" y="3013"/>
                <a:ext cx="6886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 dirty="0"/>
              </a:p>
            </p:txBody>
          </p:sp>
          <p:sp>
            <p:nvSpPr>
              <p:cNvPr id="342" name="Rectangle 605">
                <a:extLst>
                  <a:ext uri="{FF2B5EF4-FFF2-40B4-BE49-F238E27FC236}">
                    <a16:creationId xmlns:a16="http://schemas.microsoft.com/office/drawing/2014/main" id="{1C45C1F3-B54F-C3CF-7983-6AAEEE4AE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1" y="3013"/>
                <a:ext cx="6886" cy="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Line 606">
                <a:extLst>
                  <a:ext uri="{FF2B5EF4-FFF2-40B4-BE49-F238E27FC236}">
                    <a16:creationId xmlns:a16="http://schemas.microsoft.com/office/drawing/2014/main" id="{2C4CDC8C-FBB9-2F5E-C008-C9AF4807A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71" y="2873"/>
                <a:ext cx="0" cy="14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sp>
          <p:nvSpPr>
            <p:cNvPr id="13" name="Rectangle 608">
              <a:extLst>
                <a:ext uri="{FF2B5EF4-FFF2-40B4-BE49-F238E27FC236}">
                  <a16:creationId xmlns:a16="http://schemas.microsoft.com/office/drawing/2014/main" id="{9C2C5F2A-DDA2-54A2-C214-7ED0E7F8F4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1" y="2873"/>
              <a:ext cx="6" cy="14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Line 609">
              <a:extLst>
                <a:ext uri="{FF2B5EF4-FFF2-40B4-BE49-F238E27FC236}">
                  <a16:creationId xmlns:a16="http://schemas.microsoft.com/office/drawing/2014/main" id="{6DEED767-D305-A391-A615-BEE6C3C333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77" y="3013"/>
              <a:ext cx="574" cy="0"/>
            </a:xfrm>
            <a:prstGeom prst="line">
              <a:avLst/>
            </a:prstGeom>
            <a:noFill/>
            <a:ln w="0">
              <a:solidFill>
                <a:srgbClr val="C0C0C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Rectangle 610">
              <a:extLst>
                <a:ext uri="{FF2B5EF4-FFF2-40B4-BE49-F238E27FC236}">
                  <a16:creationId xmlns:a16="http://schemas.microsoft.com/office/drawing/2014/main" id="{B2D4421E-A6D9-EB56-42B6-7140D91C90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7" y="3013"/>
              <a:ext cx="574" cy="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" name="Line 611">
              <a:extLst>
                <a:ext uri="{FF2B5EF4-FFF2-40B4-BE49-F238E27FC236}">
                  <a16:creationId xmlns:a16="http://schemas.microsoft.com/office/drawing/2014/main" id="{312292C4-5496-B808-1DC9-1EBD198233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1" y="3192"/>
              <a:ext cx="6886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72000">
                <a:spcAft>
                  <a:spcPts val="1800"/>
                </a:spcAft>
              </a:pPr>
              <a:r>
                <a:rPr lang="en-IN" sz="1400" dirty="0"/>
                <a:t>10,000 	 10,000 	 10,000  	 10,000  	 10,000 	 10,000 	 10,000 	 10,000 	 10,000  	 10,000  	 10,000  	 10,000 </a:t>
              </a:r>
              <a:br>
                <a:rPr lang="en-IN" sz="1400" dirty="0"/>
              </a:br>
              <a:br>
                <a:rPr lang="en-IN" sz="1200" dirty="0"/>
              </a:br>
              <a:r>
                <a:rPr lang="en-IN" sz="1400" dirty="0"/>
                <a:t>1,00,000 	  1,00,000 	 1,00,000 	 1,00,000    	 1,00,000  	 1,00,000 	 1,00,000 	 1,00,000 	 1,00,000 	 1,00,000 	 1,00,000	  1,00,000</a:t>
              </a:r>
              <a:br>
                <a:rPr lang="en-IN" sz="1400" dirty="0"/>
              </a:br>
              <a:r>
                <a:rPr lang="en-IN" sz="1400" dirty="0"/>
                <a:t> </a:t>
              </a:r>
            </a:p>
          </p:txBody>
        </p:sp>
        <p:sp>
          <p:nvSpPr>
            <p:cNvPr id="17" name="Rectangle 612">
              <a:extLst>
                <a:ext uri="{FF2B5EF4-FFF2-40B4-BE49-F238E27FC236}">
                  <a16:creationId xmlns:a16="http://schemas.microsoft.com/office/drawing/2014/main" id="{11083692-DED4-5A7B-1061-1A74F6A73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3192"/>
              <a:ext cx="6886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" name="Line 613">
              <a:extLst>
                <a:ext uri="{FF2B5EF4-FFF2-40B4-BE49-F238E27FC236}">
                  <a16:creationId xmlns:a16="http://schemas.microsoft.com/office/drawing/2014/main" id="{699647CF-BBE5-A18F-C95B-161902D1C7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77" y="3192"/>
              <a:ext cx="574" cy="0"/>
            </a:xfrm>
            <a:prstGeom prst="line">
              <a:avLst/>
            </a:prstGeom>
            <a:noFill/>
            <a:ln w="0">
              <a:solidFill>
                <a:srgbClr val="C0C0C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Rectangle 614">
              <a:extLst>
                <a:ext uri="{FF2B5EF4-FFF2-40B4-BE49-F238E27FC236}">
                  <a16:creationId xmlns:a16="http://schemas.microsoft.com/office/drawing/2014/main" id="{2D1CC21B-4D84-6E5F-8C06-66A134AC7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7" y="3192"/>
              <a:ext cx="574" cy="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Line 615">
              <a:extLst>
                <a:ext uri="{FF2B5EF4-FFF2-40B4-BE49-F238E27FC236}">
                  <a16:creationId xmlns:a16="http://schemas.microsoft.com/office/drawing/2014/main" id="{5E0FD024-C963-C6C0-AA3F-066F147F39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1" y="3371"/>
              <a:ext cx="6886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21" name="Rectangle 616">
              <a:extLst>
                <a:ext uri="{FF2B5EF4-FFF2-40B4-BE49-F238E27FC236}">
                  <a16:creationId xmlns:a16="http://schemas.microsoft.com/office/drawing/2014/main" id="{6EE7CAC0-AEBE-10DC-F460-6C894F950D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3371"/>
              <a:ext cx="6886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Line 617">
              <a:extLst>
                <a:ext uri="{FF2B5EF4-FFF2-40B4-BE49-F238E27FC236}">
                  <a16:creationId xmlns:a16="http://schemas.microsoft.com/office/drawing/2014/main" id="{7EB22482-F4F2-40BA-8C2D-2B42CFBACD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77" y="3371"/>
              <a:ext cx="574" cy="0"/>
            </a:xfrm>
            <a:prstGeom prst="line">
              <a:avLst/>
            </a:prstGeom>
            <a:noFill/>
            <a:ln w="0">
              <a:solidFill>
                <a:srgbClr val="C0C0C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Rectangle 618">
              <a:extLst>
                <a:ext uri="{FF2B5EF4-FFF2-40B4-BE49-F238E27FC236}">
                  <a16:creationId xmlns:a16="http://schemas.microsoft.com/office/drawing/2014/main" id="{C84A50D7-9C26-900A-51C3-1281216259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7" y="3371"/>
              <a:ext cx="574" cy="7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Line 619">
              <a:extLst>
                <a:ext uri="{FF2B5EF4-FFF2-40B4-BE49-F238E27FC236}">
                  <a16:creationId xmlns:a16="http://schemas.microsoft.com/office/drawing/2014/main" id="{E2935933-4918-89E6-2678-CF15B200F1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4" y="2873"/>
              <a:ext cx="0" cy="50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Rectangle 620">
              <a:extLst>
                <a:ext uri="{FF2B5EF4-FFF2-40B4-BE49-F238E27FC236}">
                  <a16:creationId xmlns:a16="http://schemas.microsoft.com/office/drawing/2014/main" id="{7D730E15-3533-0D47-BE82-39F6E3026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4" y="2873"/>
              <a:ext cx="7" cy="50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Line 621">
              <a:extLst>
                <a:ext uri="{FF2B5EF4-FFF2-40B4-BE49-F238E27FC236}">
                  <a16:creationId xmlns:a16="http://schemas.microsoft.com/office/drawing/2014/main" id="{6750CBC9-9E6E-8823-2AA5-6233B0DCF7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1" y="3549"/>
              <a:ext cx="6886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Rectangle 622">
              <a:extLst>
                <a:ext uri="{FF2B5EF4-FFF2-40B4-BE49-F238E27FC236}">
                  <a16:creationId xmlns:a16="http://schemas.microsoft.com/office/drawing/2014/main" id="{E54E9B4C-45C5-6984-75F1-5FB07CD5A9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3549"/>
              <a:ext cx="6886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Line 623">
              <a:extLst>
                <a:ext uri="{FF2B5EF4-FFF2-40B4-BE49-F238E27FC236}">
                  <a16:creationId xmlns:a16="http://schemas.microsoft.com/office/drawing/2014/main" id="{B8B36401-9878-CB8E-E42A-07B62F249F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77" y="3549"/>
              <a:ext cx="574" cy="0"/>
            </a:xfrm>
            <a:prstGeom prst="line">
              <a:avLst/>
            </a:prstGeom>
            <a:noFill/>
            <a:ln w="0">
              <a:solidFill>
                <a:srgbClr val="C0C0C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Rectangle 624">
              <a:extLst>
                <a:ext uri="{FF2B5EF4-FFF2-40B4-BE49-F238E27FC236}">
                  <a16:creationId xmlns:a16="http://schemas.microsoft.com/office/drawing/2014/main" id="{9CDB0005-7625-9F99-8A82-2EF4B292CA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7" y="3549"/>
              <a:ext cx="574" cy="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Line 625">
              <a:extLst>
                <a:ext uri="{FF2B5EF4-FFF2-40B4-BE49-F238E27FC236}">
                  <a16:creationId xmlns:a16="http://schemas.microsoft.com/office/drawing/2014/main" id="{9FB9DA65-7E87-7EF7-05D1-3BA7789EEE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1" y="3728"/>
              <a:ext cx="6886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Rectangle 626">
              <a:extLst>
                <a:ext uri="{FF2B5EF4-FFF2-40B4-BE49-F238E27FC236}">
                  <a16:creationId xmlns:a16="http://schemas.microsoft.com/office/drawing/2014/main" id="{4F8D082A-2758-A3FE-E65E-35989FDC36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3728"/>
              <a:ext cx="6886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Line 627">
              <a:extLst>
                <a:ext uri="{FF2B5EF4-FFF2-40B4-BE49-F238E27FC236}">
                  <a16:creationId xmlns:a16="http://schemas.microsoft.com/office/drawing/2014/main" id="{F05338CD-9FF1-E28D-F612-85C1865D39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77" y="3728"/>
              <a:ext cx="574" cy="0"/>
            </a:xfrm>
            <a:prstGeom prst="line">
              <a:avLst/>
            </a:prstGeom>
            <a:noFill/>
            <a:ln w="0">
              <a:solidFill>
                <a:srgbClr val="C0C0C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Rectangle 628">
              <a:extLst>
                <a:ext uri="{FF2B5EF4-FFF2-40B4-BE49-F238E27FC236}">
                  <a16:creationId xmlns:a16="http://schemas.microsoft.com/office/drawing/2014/main" id="{708A55E0-D68B-12A5-1659-713F42B43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7" y="3728"/>
              <a:ext cx="574" cy="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Line 629">
              <a:extLst>
                <a:ext uri="{FF2B5EF4-FFF2-40B4-BE49-F238E27FC236}">
                  <a16:creationId xmlns:a16="http://schemas.microsoft.com/office/drawing/2014/main" id="{B87DE272-AD8B-DB1D-CB0E-C4BF8CFA2E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1" y="3907"/>
              <a:ext cx="6886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35" name="Rectangle 630">
              <a:extLst>
                <a:ext uri="{FF2B5EF4-FFF2-40B4-BE49-F238E27FC236}">
                  <a16:creationId xmlns:a16="http://schemas.microsoft.com/office/drawing/2014/main" id="{04068DD9-A68E-2B5C-1143-FBF5B8EDF5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3907"/>
              <a:ext cx="6886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Line 631">
              <a:extLst>
                <a:ext uri="{FF2B5EF4-FFF2-40B4-BE49-F238E27FC236}">
                  <a16:creationId xmlns:a16="http://schemas.microsoft.com/office/drawing/2014/main" id="{EE2881E9-8F83-A3BD-623F-AA1240949A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77" y="3907"/>
              <a:ext cx="574" cy="0"/>
            </a:xfrm>
            <a:prstGeom prst="line">
              <a:avLst/>
            </a:prstGeom>
            <a:noFill/>
            <a:ln w="0">
              <a:solidFill>
                <a:srgbClr val="C0C0C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Rectangle 632">
              <a:extLst>
                <a:ext uri="{FF2B5EF4-FFF2-40B4-BE49-F238E27FC236}">
                  <a16:creationId xmlns:a16="http://schemas.microsoft.com/office/drawing/2014/main" id="{3A1E89FC-2865-63A6-12D2-37F2EC277C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7" y="3907"/>
              <a:ext cx="574" cy="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Line 633">
              <a:extLst>
                <a:ext uri="{FF2B5EF4-FFF2-40B4-BE49-F238E27FC236}">
                  <a16:creationId xmlns:a16="http://schemas.microsoft.com/office/drawing/2014/main" id="{E0671614-3E4F-628F-2946-F04DBEF1A9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1" y="4086"/>
              <a:ext cx="6886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Rectangle 634">
              <a:extLst>
                <a:ext uri="{FF2B5EF4-FFF2-40B4-BE49-F238E27FC236}">
                  <a16:creationId xmlns:a16="http://schemas.microsoft.com/office/drawing/2014/main" id="{2FE6BCBF-8F48-5BEE-134F-096FF7769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4086"/>
              <a:ext cx="6886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" name="Line 635">
              <a:extLst>
                <a:ext uri="{FF2B5EF4-FFF2-40B4-BE49-F238E27FC236}">
                  <a16:creationId xmlns:a16="http://schemas.microsoft.com/office/drawing/2014/main" id="{D97CD387-74E9-37CD-229A-BC8BDCFF0C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77" y="4086"/>
              <a:ext cx="574" cy="0"/>
            </a:xfrm>
            <a:prstGeom prst="line">
              <a:avLst/>
            </a:prstGeom>
            <a:noFill/>
            <a:ln w="0">
              <a:solidFill>
                <a:srgbClr val="C0C0C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Rectangle 636">
              <a:extLst>
                <a:ext uri="{FF2B5EF4-FFF2-40B4-BE49-F238E27FC236}">
                  <a16:creationId xmlns:a16="http://schemas.microsoft.com/office/drawing/2014/main" id="{6BDA0D4B-187B-C5E8-AD24-A084903A0A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7" y="4086"/>
              <a:ext cx="574" cy="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Line 637">
              <a:extLst>
                <a:ext uri="{FF2B5EF4-FFF2-40B4-BE49-F238E27FC236}">
                  <a16:creationId xmlns:a16="http://schemas.microsoft.com/office/drawing/2014/main" id="{A38A46E3-6048-8FAB-90C4-B2A6FDD7D5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1" y="4265"/>
              <a:ext cx="6886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Rectangle 638">
              <a:extLst>
                <a:ext uri="{FF2B5EF4-FFF2-40B4-BE49-F238E27FC236}">
                  <a16:creationId xmlns:a16="http://schemas.microsoft.com/office/drawing/2014/main" id="{217A6727-D732-CE37-5167-5AAC7BBD10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4265"/>
              <a:ext cx="6886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Line 639">
              <a:extLst>
                <a:ext uri="{FF2B5EF4-FFF2-40B4-BE49-F238E27FC236}">
                  <a16:creationId xmlns:a16="http://schemas.microsoft.com/office/drawing/2014/main" id="{F832ECDA-FF79-0E9F-96C5-D0CF1E42F0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77" y="4265"/>
              <a:ext cx="574" cy="0"/>
            </a:xfrm>
            <a:prstGeom prst="line">
              <a:avLst/>
            </a:prstGeom>
            <a:noFill/>
            <a:ln w="0">
              <a:solidFill>
                <a:srgbClr val="C0C0C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Rectangle 640">
              <a:extLst>
                <a:ext uri="{FF2B5EF4-FFF2-40B4-BE49-F238E27FC236}">
                  <a16:creationId xmlns:a16="http://schemas.microsoft.com/office/drawing/2014/main" id="{B462BE0E-0124-81E8-80EB-B9C7091C21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7" y="4265"/>
              <a:ext cx="574" cy="7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Line 641">
              <a:extLst>
                <a:ext uri="{FF2B5EF4-FFF2-40B4-BE49-F238E27FC236}">
                  <a16:creationId xmlns:a16="http://schemas.microsoft.com/office/drawing/2014/main" id="{B47C88F1-8EE6-41F6-BC1C-D49AF65C13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1" y="4443"/>
              <a:ext cx="6886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Rectangle 642">
              <a:extLst>
                <a:ext uri="{FF2B5EF4-FFF2-40B4-BE49-F238E27FC236}">
                  <a16:creationId xmlns:a16="http://schemas.microsoft.com/office/drawing/2014/main" id="{35ED6FE4-3375-4A2B-AC0B-DF402C9143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4443"/>
              <a:ext cx="6886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Line 643">
              <a:extLst>
                <a:ext uri="{FF2B5EF4-FFF2-40B4-BE49-F238E27FC236}">
                  <a16:creationId xmlns:a16="http://schemas.microsoft.com/office/drawing/2014/main" id="{610ECAAC-1D94-FBF3-17FA-97307BD1AF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77" y="4443"/>
              <a:ext cx="574" cy="0"/>
            </a:xfrm>
            <a:prstGeom prst="line">
              <a:avLst/>
            </a:prstGeom>
            <a:noFill/>
            <a:ln w="0">
              <a:solidFill>
                <a:srgbClr val="C0C0C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Rectangle 644">
              <a:extLst>
                <a:ext uri="{FF2B5EF4-FFF2-40B4-BE49-F238E27FC236}">
                  <a16:creationId xmlns:a16="http://schemas.microsoft.com/office/drawing/2014/main" id="{983E4511-33C0-BAF7-5AD1-275AC4B14C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7" y="4443"/>
              <a:ext cx="574" cy="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Line 645">
              <a:extLst>
                <a:ext uri="{FF2B5EF4-FFF2-40B4-BE49-F238E27FC236}">
                  <a16:creationId xmlns:a16="http://schemas.microsoft.com/office/drawing/2014/main" id="{7EC3F23D-1FFC-CE5F-AFCD-F24A949E4E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4" y="3549"/>
              <a:ext cx="0" cy="107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1" name="Rectangle 646">
              <a:extLst>
                <a:ext uri="{FF2B5EF4-FFF2-40B4-BE49-F238E27FC236}">
                  <a16:creationId xmlns:a16="http://schemas.microsoft.com/office/drawing/2014/main" id="{2E75147C-2974-D624-5081-44CBE78C0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4" y="3549"/>
              <a:ext cx="7" cy="107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" name="Line 647">
              <a:extLst>
                <a:ext uri="{FF2B5EF4-FFF2-40B4-BE49-F238E27FC236}">
                  <a16:creationId xmlns:a16="http://schemas.microsoft.com/office/drawing/2014/main" id="{7545BEBF-E0F8-DDFE-DBA6-D5B4A17908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8" y="2873"/>
              <a:ext cx="0" cy="17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" name="Rectangle 648">
              <a:extLst>
                <a:ext uri="{FF2B5EF4-FFF2-40B4-BE49-F238E27FC236}">
                  <a16:creationId xmlns:a16="http://schemas.microsoft.com/office/drawing/2014/main" id="{D284CD5D-2C6D-D7CD-8E5E-5B7A8FDB6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8" y="2873"/>
              <a:ext cx="7" cy="17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" name="Line 649">
              <a:extLst>
                <a:ext uri="{FF2B5EF4-FFF2-40B4-BE49-F238E27FC236}">
                  <a16:creationId xmlns:a16="http://schemas.microsoft.com/office/drawing/2014/main" id="{E8C39CA4-0F61-0E9C-221D-8C06DD8D87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2" y="2873"/>
              <a:ext cx="0" cy="17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55" name="Rectangle 650">
              <a:extLst>
                <a:ext uri="{FF2B5EF4-FFF2-40B4-BE49-F238E27FC236}">
                  <a16:creationId xmlns:a16="http://schemas.microsoft.com/office/drawing/2014/main" id="{5AE5873E-5904-4DA7-2D85-654F199887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2" y="2873"/>
              <a:ext cx="7" cy="17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" name="Line 651">
              <a:extLst>
                <a:ext uri="{FF2B5EF4-FFF2-40B4-BE49-F238E27FC236}">
                  <a16:creationId xmlns:a16="http://schemas.microsoft.com/office/drawing/2014/main" id="{5726820D-2A38-6649-A890-6A12AA50D5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6" y="2873"/>
              <a:ext cx="0" cy="17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57" name="Rectangle 652">
              <a:extLst>
                <a:ext uri="{FF2B5EF4-FFF2-40B4-BE49-F238E27FC236}">
                  <a16:creationId xmlns:a16="http://schemas.microsoft.com/office/drawing/2014/main" id="{E015B1A7-ABF9-0C0B-BE63-6E459854B4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6" y="2873"/>
              <a:ext cx="6" cy="17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" name="Line 653">
              <a:extLst>
                <a:ext uri="{FF2B5EF4-FFF2-40B4-BE49-F238E27FC236}">
                  <a16:creationId xmlns:a16="http://schemas.microsoft.com/office/drawing/2014/main" id="{06E3C728-4813-1639-F4AD-0BFFCE7147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873"/>
              <a:ext cx="0" cy="17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" name="Rectangle 654">
              <a:extLst>
                <a:ext uri="{FF2B5EF4-FFF2-40B4-BE49-F238E27FC236}">
                  <a16:creationId xmlns:a16="http://schemas.microsoft.com/office/drawing/2014/main" id="{F9E0C444-B310-D99A-D876-16750F8FD3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2873"/>
              <a:ext cx="6" cy="17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" name="Line 655">
              <a:extLst>
                <a:ext uri="{FF2B5EF4-FFF2-40B4-BE49-F238E27FC236}">
                  <a16:creationId xmlns:a16="http://schemas.microsoft.com/office/drawing/2014/main" id="{AA427F78-E36B-D7FD-A03A-548A5A979B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4" y="2873"/>
              <a:ext cx="0" cy="17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" name="Rectangle 656">
              <a:extLst>
                <a:ext uri="{FF2B5EF4-FFF2-40B4-BE49-F238E27FC236}">
                  <a16:creationId xmlns:a16="http://schemas.microsoft.com/office/drawing/2014/main" id="{B2905988-505F-5F24-265A-13E3D519C2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4" y="2873"/>
              <a:ext cx="6" cy="17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" name="Line 657">
              <a:extLst>
                <a:ext uri="{FF2B5EF4-FFF2-40B4-BE49-F238E27FC236}">
                  <a16:creationId xmlns:a16="http://schemas.microsoft.com/office/drawing/2014/main" id="{3CC1B578-8856-FE69-A3D0-83A0AE8065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8" y="2873"/>
              <a:ext cx="0" cy="17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" name="Rectangle 658">
              <a:extLst>
                <a:ext uri="{FF2B5EF4-FFF2-40B4-BE49-F238E27FC236}">
                  <a16:creationId xmlns:a16="http://schemas.microsoft.com/office/drawing/2014/main" id="{FC7C6A5D-0D18-F0AF-BBF0-2E317C0AFC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8" y="2873"/>
              <a:ext cx="6" cy="17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" name="Line 659">
              <a:extLst>
                <a:ext uri="{FF2B5EF4-FFF2-40B4-BE49-F238E27FC236}">
                  <a16:creationId xmlns:a16="http://schemas.microsoft.com/office/drawing/2014/main" id="{A798B6F9-E27C-CE42-E948-69BCFB9EBC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01" y="2873"/>
              <a:ext cx="0" cy="17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" name="Rectangle 660">
              <a:extLst>
                <a:ext uri="{FF2B5EF4-FFF2-40B4-BE49-F238E27FC236}">
                  <a16:creationId xmlns:a16="http://schemas.microsoft.com/office/drawing/2014/main" id="{94A7E36B-A376-0F28-CCBA-049DA2E6B6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1" y="2873"/>
              <a:ext cx="7" cy="17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" name="Line 661">
              <a:extLst>
                <a:ext uri="{FF2B5EF4-FFF2-40B4-BE49-F238E27FC236}">
                  <a16:creationId xmlns:a16="http://schemas.microsoft.com/office/drawing/2014/main" id="{55800892-BCF4-5269-3630-A6857F18E7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75" y="2873"/>
              <a:ext cx="0" cy="17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" name="Rectangle 662">
              <a:extLst>
                <a:ext uri="{FF2B5EF4-FFF2-40B4-BE49-F238E27FC236}">
                  <a16:creationId xmlns:a16="http://schemas.microsoft.com/office/drawing/2014/main" id="{8A91D151-8D4E-710E-A6A9-2BC4AE6C2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5" y="2873"/>
              <a:ext cx="7" cy="17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" name="Line 663">
              <a:extLst>
                <a:ext uri="{FF2B5EF4-FFF2-40B4-BE49-F238E27FC236}">
                  <a16:creationId xmlns:a16="http://schemas.microsoft.com/office/drawing/2014/main" id="{8F28AE46-A2FA-7E46-3F70-49778B6F2E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49" y="2873"/>
              <a:ext cx="0" cy="17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" name="Rectangle 664">
              <a:extLst>
                <a:ext uri="{FF2B5EF4-FFF2-40B4-BE49-F238E27FC236}">
                  <a16:creationId xmlns:a16="http://schemas.microsoft.com/office/drawing/2014/main" id="{36F0526F-500B-CC16-26E8-0CFC4A15E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9" y="2873"/>
              <a:ext cx="7" cy="17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" name="Line 665">
              <a:extLst>
                <a:ext uri="{FF2B5EF4-FFF2-40B4-BE49-F238E27FC236}">
                  <a16:creationId xmlns:a16="http://schemas.microsoft.com/office/drawing/2014/main" id="{F0B4B86C-1BD9-E0A2-ABBE-9DFB512A5A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23" y="2873"/>
              <a:ext cx="0" cy="17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" name="Rectangle 666">
              <a:extLst>
                <a:ext uri="{FF2B5EF4-FFF2-40B4-BE49-F238E27FC236}">
                  <a16:creationId xmlns:a16="http://schemas.microsoft.com/office/drawing/2014/main" id="{E8241386-AFE8-7D10-B8C6-ACC117D36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3" y="2873"/>
              <a:ext cx="6" cy="17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" name="Line 667">
              <a:extLst>
                <a:ext uri="{FF2B5EF4-FFF2-40B4-BE49-F238E27FC236}">
                  <a16:creationId xmlns:a16="http://schemas.microsoft.com/office/drawing/2014/main" id="{60B0A3ED-F34A-B066-0205-1DB8CE72C4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97" y="2873"/>
              <a:ext cx="0" cy="17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" name="Rectangle 668">
              <a:extLst>
                <a:ext uri="{FF2B5EF4-FFF2-40B4-BE49-F238E27FC236}">
                  <a16:creationId xmlns:a16="http://schemas.microsoft.com/office/drawing/2014/main" id="{5DBB9F27-C205-C0B6-9511-EDDED472E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7" y="2873"/>
              <a:ext cx="6" cy="17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" name="Line 669">
              <a:extLst>
                <a:ext uri="{FF2B5EF4-FFF2-40B4-BE49-F238E27FC236}">
                  <a16:creationId xmlns:a16="http://schemas.microsoft.com/office/drawing/2014/main" id="{2AB1DB83-0C8F-857A-C8ED-60B789E6C6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4" y="4622"/>
              <a:ext cx="6893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" name="Rectangle 670">
              <a:extLst>
                <a:ext uri="{FF2B5EF4-FFF2-40B4-BE49-F238E27FC236}">
                  <a16:creationId xmlns:a16="http://schemas.microsoft.com/office/drawing/2014/main" id="{90B53416-9462-89B5-F980-B759C9D59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4" y="4622"/>
              <a:ext cx="6893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" name="Line 671">
              <a:extLst>
                <a:ext uri="{FF2B5EF4-FFF2-40B4-BE49-F238E27FC236}">
                  <a16:creationId xmlns:a16="http://schemas.microsoft.com/office/drawing/2014/main" id="{59A77BF2-C61D-0190-9EE7-421BF1133F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71" y="3021"/>
              <a:ext cx="0" cy="160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" name="Rectangle 672">
              <a:extLst>
                <a:ext uri="{FF2B5EF4-FFF2-40B4-BE49-F238E27FC236}">
                  <a16:creationId xmlns:a16="http://schemas.microsoft.com/office/drawing/2014/main" id="{B3F7CD3F-9A48-3F4B-8899-1AA95D421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1" y="3021"/>
              <a:ext cx="6" cy="160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8" name="Line 673">
              <a:extLst>
                <a:ext uri="{FF2B5EF4-FFF2-40B4-BE49-F238E27FC236}">
                  <a16:creationId xmlns:a16="http://schemas.microsoft.com/office/drawing/2014/main" id="{EC91399A-1DE7-40CD-9FC3-A9CAB4DD5F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77" y="4622"/>
              <a:ext cx="574" cy="0"/>
            </a:xfrm>
            <a:prstGeom prst="line">
              <a:avLst/>
            </a:prstGeom>
            <a:noFill/>
            <a:ln w="0">
              <a:solidFill>
                <a:srgbClr val="C0C0C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9" name="Rectangle 674">
              <a:extLst>
                <a:ext uri="{FF2B5EF4-FFF2-40B4-BE49-F238E27FC236}">
                  <a16:creationId xmlns:a16="http://schemas.microsoft.com/office/drawing/2014/main" id="{2DFE38FA-8E78-8A93-E234-382D4A916A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7" y="4622"/>
              <a:ext cx="574" cy="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0" name="Line 675">
              <a:extLst>
                <a:ext uri="{FF2B5EF4-FFF2-40B4-BE49-F238E27FC236}">
                  <a16:creationId xmlns:a16="http://schemas.microsoft.com/office/drawing/2014/main" id="{FADEAFE4-8B65-E894-1A24-07F0D8903C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4" y="4630"/>
              <a:ext cx="0" cy="10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1" name="Rectangle 676">
              <a:extLst>
                <a:ext uri="{FF2B5EF4-FFF2-40B4-BE49-F238E27FC236}">
                  <a16:creationId xmlns:a16="http://schemas.microsoft.com/office/drawing/2014/main" id="{954B7FB6-F0A4-2AC2-CEDB-B9D7DFDD4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4" y="4630"/>
              <a:ext cx="7" cy="1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2" name="Line 677">
              <a:extLst>
                <a:ext uri="{FF2B5EF4-FFF2-40B4-BE49-F238E27FC236}">
                  <a16:creationId xmlns:a16="http://schemas.microsoft.com/office/drawing/2014/main" id="{340736A9-0DA1-8A88-8ECF-236C6DEF93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8" y="4630"/>
              <a:ext cx="0" cy="10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3" name="Rectangle 678">
              <a:extLst>
                <a:ext uri="{FF2B5EF4-FFF2-40B4-BE49-F238E27FC236}">
                  <a16:creationId xmlns:a16="http://schemas.microsoft.com/office/drawing/2014/main" id="{17696B59-F45D-D2E2-3C3B-9DA8213C8F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8" y="4630"/>
              <a:ext cx="7" cy="1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4" name="Line 679">
              <a:extLst>
                <a:ext uri="{FF2B5EF4-FFF2-40B4-BE49-F238E27FC236}">
                  <a16:creationId xmlns:a16="http://schemas.microsoft.com/office/drawing/2014/main" id="{B95E0D95-B29A-565C-1BE6-27533FE9AB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2" y="4630"/>
              <a:ext cx="0" cy="10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5" name="Rectangle 680">
              <a:extLst>
                <a:ext uri="{FF2B5EF4-FFF2-40B4-BE49-F238E27FC236}">
                  <a16:creationId xmlns:a16="http://schemas.microsoft.com/office/drawing/2014/main" id="{04982282-2595-3281-7EEF-F73555137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2" y="4630"/>
              <a:ext cx="7" cy="1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6" name="Line 681">
              <a:extLst>
                <a:ext uri="{FF2B5EF4-FFF2-40B4-BE49-F238E27FC236}">
                  <a16:creationId xmlns:a16="http://schemas.microsoft.com/office/drawing/2014/main" id="{E4F8DF1D-30FF-AEFA-6C05-EDDE9F20B3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6" y="4630"/>
              <a:ext cx="0" cy="10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7" name="Rectangle 682">
              <a:extLst>
                <a:ext uri="{FF2B5EF4-FFF2-40B4-BE49-F238E27FC236}">
                  <a16:creationId xmlns:a16="http://schemas.microsoft.com/office/drawing/2014/main" id="{EB419ED3-EA09-800C-8814-219B2F596A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6" y="4630"/>
              <a:ext cx="6" cy="1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8" name="Line 683">
              <a:extLst>
                <a:ext uri="{FF2B5EF4-FFF2-40B4-BE49-F238E27FC236}">
                  <a16:creationId xmlns:a16="http://schemas.microsoft.com/office/drawing/2014/main" id="{0F380ADE-3B22-6E9A-303E-ACBB19760E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4630"/>
              <a:ext cx="0" cy="10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9" name="Rectangle 684">
              <a:extLst>
                <a:ext uri="{FF2B5EF4-FFF2-40B4-BE49-F238E27FC236}">
                  <a16:creationId xmlns:a16="http://schemas.microsoft.com/office/drawing/2014/main" id="{05EE7431-EF44-FFEB-A88C-854F9EB533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4630"/>
              <a:ext cx="6" cy="1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0" name="Line 685">
              <a:extLst>
                <a:ext uri="{FF2B5EF4-FFF2-40B4-BE49-F238E27FC236}">
                  <a16:creationId xmlns:a16="http://schemas.microsoft.com/office/drawing/2014/main" id="{7D018F37-E5D4-564D-6C32-52CB444365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4" y="4630"/>
              <a:ext cx="0" cy="10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1" name="Rectangle 686">
              <a:extLst>
                <a:ext uri="{FF2B5EF4-FFF2-40B4-BE49-F238E27FC236}">
                  <a16:creationId xmlns:a16="http://schemas.microsoft.com/office/drawing/2014/main" id="{B0CE8308-93D7-F87E-FC6D-AABF14080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4" y="4630"/>
              <a:ext cx="6" cy="1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2" name="Line 687">
              <a:extLst>
                <a:ext uri="{FF2B5EF4-FFF2-40B4-BE49-F238E27FC236}">
                  <a16:creationId xmlns:a16="http://schemas.microsoft.com/office/drawing/2014/main" id="{D3482312-267D-5E38-ED88-65E8268492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8" y="4630"/>
              <a:ext cx="0" cy="10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3" name="Rectangle 688">
              <a:extLst>
                <a:ext uri="{FF2B5EF4-FFF2-40B4-BE49-F238E27FC236}">
                  <a16:creationId xmlns:a16="http://schemas.microsoft.com/office/drawing/2014/main" id="{9749BD8C-2A7B-3D68-1D0F-A42CAE02B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8" y="4630"/>
              <a:ext cx="6" cy="1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4" name="Line 689">
              <a:extLst>
                <a:ext uri="{FF2B5EF4-FFF2-40B4-BE49-F238E27FC236}">
                  <a16:creationId xmlns:a16="http://schemas.microsoft.com/office/drawing/2014/main" id="{8AE4CBDF-581E-98CD-311F-D06B3D2029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01" y="4630"/>
              <a:ext cx="0" cy="10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5" name="Rectangle 690">
              <a:extLst>
                <a:ext uri="{FF2B5EF4-FFF2-40B4-BE49-F238E27FC236}">
                  <a16:creationId xmlns:a16="http://schemas.microsoft.com/office/drawing/2014/main" id="{25454406-4EB4-65E2-6D86-65D40A9F3A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1" y="4630"/>
              <a:ext cx="7" cy="1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6" name="Line 691">
              <a:extLst>
                <a:ext uri="{FF2B5EF4-FFF2-40B4-BE49-F238E27FC236}">
                  <a16:creationId xmlns:a16="http://schemas.microsoft.com/office/drawing/2014/main" id="{D21E03CC-AF32-1854-41B0-22BCF74176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75" y="4630"/>
              <a:ext cx="0" cy="10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7" name="Rectangle 692">
              <a:extLst>
                <a:ext uri="{FF2B5EF4-FFF2-40B4-BE49-F238E27FC236}">
                  <a16:creationId xmlns:a16="http://schemas.microsoft.com/office/drawing/2014/main" id="{A12A0047-531A-BC75-98BB-5004F1EA4B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5" y="4630"/>
              <a:ext cx="7" cy="1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8" name="Line 693">
              <a:extLst>
                <a:ext uri="{FF2B5EF4-FFF2-40B4-BE49-F238E27FC236}">
                  <a16:creationId xmlns:a16="http://schemas.microsoft.com/office/drawing/2014/main" id="{17DE7B9D-C175-ED72-B0CC-F1064FC171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49" y="4630"/>
              <a:ext cx="0" cy="10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9" name="Rectangle 694">
              <a:extLst>
                <a:ext uri="{FF2B5EF4-FFF2-40B4-BE49-F238E27FC236}">
                  <a16:creationId xmlns:a16="http://schemas.microsoft.com/office/drawing/2014/main" id="{3AB9BF66-36B2-3920-C563-8A3E42171B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9" y="4630"/>
              <a:ext cx="7" cy="1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0" name="Line 695">
              <a:extLst>
                <a:ext uri="{FF2B5EF4-FFF2-40B4-BE49-F238E27FC236}">
                  <a16:creationId xmlns:a16="http://schemas.microsoft.com/office/drawing/2014/main" id="{061B57C4-F7B7-EC91-C973-879D798712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23" y="4630"/>
              <a:ext cx="0" cy="10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1" name="Rectangle 696">
              <a:extLst>
                <a:ext uri="{FF2B5EF4-FFF2-40B4-BE49-F238E27FC236}">
                  <a16:creationId xmlns:a16="http://schemas.microsoft.com/office/drawing/2014/main" id="{A28A7542-6D19-DB24-7F1C-ED47597B16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3" y="4630"/>
              <a:ext cx="6" cy="1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2" name="Line 697">
              <a:extLst>
                <a:ext uri="{FF2B5EF4-FFF2-40B4-BE49-F238E27FC236}">
                  <a16:creationId xmlns:a16="http://schemas.microsoft.com/office/drawing/2014/main" id="{CCAB8DFA-56F6-B3D2-663E-270F715631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97" y="4630"/>
              <a:ext cx="0" cy="10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3" name="Rectangle 698">
              <a:extLst>
                <a:ext uri="{FF2B5EF4-FFF2-40B4-BE49-F238E27FC236}">
                  <a16:creationId xmlns:a16="http://schemas.microsoft.com/office/drawing/2014/main" id="{8571189C-E035-93C7-2B7C-9E194CCC9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7" y="4630"/>
              <a:ext cx="6" cy="1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4" name="Line 699">
              <a:extLst>
                <a:ext uri="{FF2B5EF4-FFF2-40B4-BE49-F238E27FC236}">
                  <a16:creationId xmlns:a16="http://schemas.microsoft.com/office/drawing/2014/main" id="{F20961A1-A1A6-17F0-F637-285EB788AA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4" y="4739"/>
              <a:ext cx="6893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5" name="Rectangle 700">
              <a:extLst>
                <a:ext uri="{FF2B5EF4-FFF2-40B4-BE49-F238E27FC236}">
                  <a16:creationId xmlns:a16="http://schemas.microsoft.com/office/drawing/2014/main" id="{9AB843E0-66C4-87DB-4BCD-D95A6A6D0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4" y="4739"/>
              <a:ext cx="6893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6" name="Line 701">
              <a:extLst>
                <a:ext uri="{FF2B5EF4-FFF2-40B4-BE49-F238E27FC236}">
                  <a16:creationId xmlns:a16="http://schemas.microsoft.com/office/drawing/2014/main" id="{D7C56183-5826-5927-7DAB-72129B3D08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71" y="4630"/>
              <a:ext cx="0" cy="1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7" name="Rectangle 702">
              <a:extLst>
                <a:ext uri="{FF2B5EF4-FFF2-40B4-BE49-F238E27FC236}">
                  <a16:creationId xmlns:a16="http://schemas.microsoft.com/office/drawing/2014/main" id="{4B4BF83F-9576-0294-420D-AC1D1A6B74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1" y="4630"/>
              <a:ext cx="6" cy="11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8" name="Line 703">
              <a:extLst>
                <a:ext uri="{FF2B5EF4-FFF2-40B4-BE49-F238E27FC236}">
                  <a16:creationId xmlns:a16="http://schemas.microsoft.com/office/drawing/2014/main" id="{682333E5-D3CF-3DA7-F768-E41A1B1455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1" y="4995"/>
              <a:ext cx="6886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09" name="Rectangle 704">
              <a:extLst>
                <a:ext uri="{FF2B5EF4-FFF2-40B4-BE49-F238E27FC236}">
                  <a16:creationId xmlns:a16="http://schemas.microsoft.com/office/drawing/2014/main" id="{A12237B4-AD4F-132F-94B6-D2452953D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4995"/>
              <a:ext cx="6886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0" name="Line 705">
              <a:extLst>
                <a:ext uri="{FF2B5EF4-FFF2-40B4-BE49-F238E27FC236}">
                  <a16:creationId xmlns:a16="http://schemas.microsoft.com/office/drawing/2014/main" id="{46324796-0A6D-64E2-BCA9-3DFB17261B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1" y="5112"/>
              <a:ext cx="6880" cy="0"/>
            </a:xfrm>
            <a:prstGeom prst="line">
              <a:avLst/>
            </a:prstGeom>
            <a:noFill/>
            <a:ln w="0">
              <a:solidFill>
                <a:srgbClr val="96969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11" name="Rectangle 706">
              <a:extLst>
                <a:ext uri="{FF2B5EF4-FFF2-40B4-BE49-F238E27FC236}">
                  <a16:creationId xmlns:a16="http://schemas.microsoft.com/office/drawing/2014/main" id="{7699AC89-CE8F-6EF3-48A6-D35AD22A5F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5112"/>
              <a:ext cx="6880" cy="8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2" name="Line 707">
              <a:extLst>
                <a:ext uri="{FF2B5EF4-FFF2-40B4-BE49-F238E27FC236}">
                  <a16:creationId xmlns:a16="http://schemas.microsoft.com/office/drawing/2014/main" id="{490E3B4B-3EA8-7E38-0DEE-60B7C78DDD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45" y="4995"/>
              <a:ext cx="0" cy="125"/>
            </a:xfrm>
            <a:prstGeom prst="line">
              <a:avLst/>
            </a:prstGeom>
            <a:noFill/>
            <a:ln w="0">
              <a:solidFill>
                <a:srgbClr val="96969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3" name="Rectangle 708">
              <a:extLst>
                <a:ext uri="{FF2B5EF4-FFF2-40B4-BE49-F238E27FC236}">
                  <a16:creationId xmlns:a16="http://schemas.microsoft.com/office/drawing/2014/main" id="{C57C7BDC-1DD4-D897-939F-6689426E06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5" y="4995"/>
              <a:ext cx="6" cy="125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4" name="Line 709">
              <a:extLst>
                <a:ext uri="{FF2B5EF4-FFF2-40B4-BE49-F238E27FC236}">
                  <a16:creationId xmlns:a16="http://schemas.microsoft.com/office/drawing/2014/main" id="{336D24C6-4DE0-64C4-56AC-C9EC215B5F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1" y="5229"/>
              <a:ext cx="6880" cy="0"/>
            </a:xfrm>
            <a:prstGeom prst="line">
              <a:avLst/>
            </a:prstGeom>
            <a:noFill/>
            <a:ln w="0">
              <a:solidFill>
                <a:srgbClr val="96969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5" name="Rectangle 710">
              <a:extLst>
                <a:ext uri="{FF2B5EF4-FFF2-40B4-BE49-F238E27FC236}">
                  <a16:creationId xmlns:a16="http://schemas.microsoft.com/office/drawing/2014/main" id="{640664D8-9F81-F30C-8BBF-3B703FD49B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5229"/>
              <a:ext cx="6880" cy="7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6" name="Line 711">
              <a:extLst>
                <a:ext uri="{FF2B5EF4-FFF2-40B4-BE49-F238E27FC236}">
                  <a16:creationId xmlns:a16="http://schemas.microsoft.com/office/drawing/2014/main" id="{43DB9656-03F3-EC42-EC30-59659BFEDB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4" y="4995"/>
              <a:ext cx="0" cy="35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7" name="Rectangle 712">
              <a:extLst>
                <a:ext uri="{FF2B5EF4-FFF2-40B4-BE49-F238E27FC236}">
                  <a16:creationId xmlns:a16="http://schemas.microsoft.com/office/drawing/2014/main" id="{1A3BF4F8-988C-FF50-9E4E-67A40C704B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4" y="4995"/>
              <a:ext cx="7" cy="35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8" name="Line 713">
              <a:extLst>
                <a:ext uri="{FF2B5EF4-FFF2-40B4-BE49-F238E27FC236}">
                  <a16:creationId xmlns:a16="http://schemas.microsoft.com/office/drawing/2014/main" id="{46AFF16F-A850-B59A-DDD7-242CE3F19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8" y="5003"/>
              <a:ext cx="0" cy="342"/>
            </a:xfrm>
            <a:prstGeom prst="line">
              <a:avLst/>
            </a:prstGeom>
            <a:noFill/>
            <a:ln w="0">
              <a:solidFill>
                <a:srgbClr val="96969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9" name="Rectangle 714">
              <a:extLst>
                <a:ext uri="{FF2B5EF4-FFF2-40B4-BE49-F238E27FC236}">
                  <a16:creationId xmlns:a16="http://schemas.microsoft.com/office/drawing/2014/main" id="{2CDA97D4-CC95-698F-3EC9-BA46F175C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8" y="5003"/>
              <a:ext cx="7" cy="342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0" name="Line 715">
              <a:extLst>
                <a:ext uri="{FF2B5EF4-FFF2-40B4-BE49-F238E27FC236}">
                  <a16:creationId xmlns:a16="http://schemas.microsoft.com/office/drawing/2014/main" id="{B3BE1B3C-B71F-FB33-50F3-C49D2E6026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2" y="5003"/>
              <a:ext cx="0" cy="342"/>
            </a:xfrm>
            <a:prstGeom prst="line">
              <a:avLst/>
            </a:prstGeom>
            <a:noFill/>
            <a:ln w="0">
              <a:solidFill>
                <a:srgbClr val="96969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1" name="Rectangle 716">
              <a:extLst>
                <a:ext uri="{FF2B5EF4-FFF2-40B4-BE49-F238E27FC236}">
                  <a16:creationId xmlns:a16="http://schemas.microsoft.com/office/drawing/2014/main" id="{BD8E179A-7405-5DB3-C211-4E0C6FFCBD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2" y="5003"/>
              <a:ext cx="7" cy="342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2" name="Line 717">
              <a:extLst>
                <a:ext uri="{FF2B5EF4-FFF2-40B4-BE49-F238E27FC236}">
                  <a16:creationId xmlns:a16="http://schemas.microsoft.com/office/drawing/2014/main" id="{0B016EAF-A995-F7B1-0370-C3CA72574A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6" y="5003"/>
              <a:ext cx="0" cy="342"/>
            </a:xfrm>
            <a:prstGeom prst="line">
              <a:avLst/>
            </a:prstGeom>
            <a:noFill/>
            <a:ln w="0">
              <a:solidFill>
                <a:srgbClr val="96969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3" name="Rectangle 718">
              <a:extLst>
                <a:ext uri="{FF2B5EF4-FFF2-40B4-BE49-F238E27FC236}">
                  <a16:creationId xmlns:a16="http://schemas.microsoft.com/office/drawing/2014/main" id="{D11B3E42-E369-3D64-8573-5EAA69D77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6" y="5003"/>
              <a:ext cx="6" cy="342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4" name="Line 719">
              <a:extLst>
                <a:ext uri="{FF2B5EF4-FFF2-40B4-BE49-F238E27FC236}">
                  <a16:creationId xmlns:a16="http://schemas.microsoft.com/office/drawing/2014/main" id="{C3BDC65F-F3BA-BCA6-2BF6-3406F00B51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5003"/>
              <a:ext cx="0" cy="342"/>
            </a:xfrm>
            <a:prstGeom prst="line">
              <a:avLst/>
            </a:prstGeom>
            <a:noFill/>
            <a:ln w="0">
              <a:solidFill>
                <a:srgbClr val="96969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5" name="Rectangle 720">
              <a:extLst>
                <a:ext uri="{FF2B5EF4-FFF2-40B4-BE49-F238E27FC236}">
                  <a16:creationId xmlns:a16="http://schemas.microsoft.com/office/drawing/2014/main" id="{C60ECA94-CDC5-BA4F-9DFC-5A8513113D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5003"/>
              <a:ext cx="6" cy="342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6" name="Line 721">
              <a:extLst>
                <a:ext uri="{FF2B5EF4-FFF2-40B4-BE49-F238E27FC236}">
                  <a16:creationId xmlns:a16="http://schemas.microsoft.com/office/drawing/2014/main" id="{0295BFEE-CABC-6C1A-5AF4-BCE00434B9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4" y="5003"/>
              <a:ext cx="0" cy="342"/>
            </a:xfrm>
            <a:prstGeom prst="line">
              <a:avLst/>
            </a:prstGeom>
            <a:noFill/>
            <a:ln w="0">
              <a:solidFill>
                <a:srgbClr val="96969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7" name="Rectangle 722">
              <a:extLst>
                <a:ext uri="{FF2B5EF4-FFF2-40B4-BE49-F238E27FC236}">
                  <a16:creationId xmlns:a16="http://schemas.microsoft.com/office/drawing/2014/main" id="{9BC727D3-838C-D32A-5DD3-6DD6B1472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4" y="5003"/>
              <a:ext cx="6" cy="342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8" name="Line 723">
              <a:extLst>
                <a:ext uri="{FF2B5EF4-FFF2-40B4-BE49-F238E27FC236}">
                  <a16:creationId xmlns:a16="http://schemas.microsoft.com/office/drawing/2014/main" id="{6E661D10-1465-224F-C0F4-732AB48E71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8" y="5003"/>
              <a:ext cx="0" cy="342"/>
            </a:xfrm>
            <a:prstGeom prst="line">
              <a:avLst/>
            </a:prstGeom>
            <a:noFill/>
            <a:ln w="0">
              <a:solidFill>
                <a:srgbClr val="96969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9" name="Rectangle 724">
              <a:extLst>
                <a:ext uri="{FF2B5EF4-FFF2-40B4-BE49-F238E27FC236}">
                  <a16:creationId xmlns:a16="http://schemas.microsoft.com/office/drawing/2014/main" id="{BD6C8DD3-A461-0FCB-5DC3-4FD312412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8" y="5003"/>
              <a:ext cx="6" cy="342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0" name="Line 725">
              <a:extLst>
                <a:ext uri="{FF2B5EF4-FFF2-40B4-BE49-F238E27FC236}">
                  <a16:creationId xmlns:a16="http://schemas.microsoft.com/office/drawing/2014/main" id="{45A9E690-C544-1862-AB5D-2A7A69C469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01" y="5003"/>
              <a:ext cx="0" cy="342"/>
            </a:xfrm>
            <a:prstGeom prst="line">
              <a:avLst/>
            </a:prstGeom>
            <a:noFill/>
            <a:ln w="0">
              <a:solidFill>
                <a:srgbClr val="96969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1" name="Rectangle 726">
              <a:extLst>
                <a:ext uri="{FF2B5EF4-FFF2-40B4-BE49-F238E27FC236}">
                  <a16:creationId xmlns:a16="http://schemas.microsoft.com/office/drawing/2014/main" id="{08971E8A-E909-2DB5-EF30-7C4234C33F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1" y="5003"/>
              <a:ext cx="7" cy="342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2" name="Line 727">
              <a:extLst>
                <a:ext uri="{FF2B5EF4-FFF2-40B4-BE49-F238E27FC236}">
                  <a16:creationId xmlns:a16="http://schemas.microsoft.com/office/drawing/2014/main" id="{93212F4F-354C-A876-6D20-419A098C60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75" y="5003"/>
              <a:ext cx="0" cy="342"/>
            </a:xfrm>
            <a:prstGeom prst="line">
              <a:avLst/>
            </a:prstGeom>
            <a:noFill/>
            <a:ln w="0">
              <a:solidFill>
                <a:srgbClr val="96969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3" name="Rectangle 728">
              <a:extLst>
                <a:ext uri="{FF2B5EF4-FFF2-40B4-BE49-F238E27FC236}">
                  <a16:creationId xmlns:a16="http://schemas.microsoft.com/office/drawing/2014/main" id="{274DD60A-4A24-C8A6-FCF8-2750652CF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5" y="5003"/>
              <a:ext cx="7" cy="342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4" name="Line 729">
              <a:extLst>
                <a:ext uri="{FF2B5EF4-FFF2-40B4-BE49-F238E27FC236}">
                  <a16:creationId xmlns:a16="http://schemas.microsoft.com/office/drawing/2014/main" id="{B59C7AF0-0011-96A7-DCE1-18C18C6AE1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49" y="5003"/>
              <a:ext cx="0" cy="342"/>
            </a:xfrm>
            <a:prstGeom prst="line">
              <a:avLst/>
            </a:prstGeom>
            <a:noFill/>
            <a:ln w="0">
              <a:solidFill>
                <a:srgbClr val="96969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5" name="Rectangle 730">
              <a:extLst>
                <a:ext uri="{FF2B5EF4-FFF2-40B4-BE49-F238E27FC236}">
                  <a16:creationId xmlns:a16="http://schemas.microsoft.com/office/drawing/2014/main" id="{FFED9BF9-66B0-9669-D8A7-E849C2ECD5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9" y="5003"/>
              <a:ext cx="7" cy="342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6" name="Line 731">
              <a:extLst>
                <a:ext uri="{FF2B5EF4-FFF2-40B4-BE49-F238E27FC236}">
                  <a16:creationId xmlns:a16="http://schemas.microsoft.com/office/drawing/2014/main" id="{B0F5119E-658C-93CC-7CFF-951D62E775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23" y="5003"/>
              <a:ext cx="0" cy="342"/>
            </a:xfrm>
            <a:prstGeom prst="line">
              <a:avLst/>
            </a:prstGeom>
            <a:noFill/>
            <a:ln w="0">
              <a:solidFill>
                <a:srgbClr val="96969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7" name="Rectangle 732">
              <a:extLst>
                <a:ext uri="{FF2B5EF4-FFF2-40B4-BE49-F238E27FC236}">
                  <a16:creationId xmlns:a16="http://schemas.microsoft.com/office/drawing/2014/main" id="{4D28B7EF-9ED4-06CF-F969-28F4E67CC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3" y="5003"/>
              <a:ext cx="6" cy="342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8" name="Line 733">
              <a:extLst>
                <a:ext uri="{FF2B5EF4-FFF2-40B4-BE49-F238E27FC236}">
                  <a16:creationId xmlns:a16="http://schemas.microsoft.com/office/drawing/2014/main" id="{D9E374AF-1108-F6CA-CD7F-0B217F5709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97" y="5003"/>
              <a:ext cx="0" cy="342"/>
            </a:xfrm>
            <a:prstGeom prst="line">
              <a:avLst/>
            </a:prstGeom>
            <a:noFill/>
            <a:ln w="0">
              <a:solidFill>
                <a:srgbClr val="96969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9" name="Rectangle 734">
              <a:extLst>
                <a:ext uri="{FF2B5EF4-FFF2-40B4-BE49-F238E27FC236}">
                  <a16:creationId xmlns:a16="http://schemas.microsoft.com/office/drawing/2014/main" id="{C793710D-AD3C-2F65-6AD2-2BAF19AD04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7" y="5003"/>
              <a:ext cx="6" cy="342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0" name="Line 735">
              <a:extLst>
                <a:ext uri="{FF2B5EF4-FFF2-40B4-BE49-F238E27FC236}">
                  <a16:creationId xmlns:a16="http://schemas.microsoft.com/office/drawing/2014/main" id="{405E8558-D907-BA27-CC47-EA4EAB21F9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1" y="5345"/>
              <a:ext cx="6886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1" name="Rectangle 736">
              <a:extLst>
                <a:ext uri="{FF2B5EF4-FFF2-40B4-BE49-F238E27FC236}">
                  <a16:creationId xmlns:a16="http://schemas.microsoft.com/office/drawing/2014/main" id="{048010D9-D5B0-5F18-3C2B-575F180DF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5345"/>
              <a:ext cx="6886" cy="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2" name="Line 737">
              <a:extLst>
                <a:ext uri="{FF2B5EF4-FFF2-40B4-BE49-F238E27FC236}">
                  <a16:creationId xmlns:a16="http://schemas.microsoft.com/office/drawing/2014/main" id="{C7B1C418-9401-C8BA-6EDC-D29821E643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71" y="5003"/>
              <a:ext cx="0" cy="35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3" name="Rectangle 738">
              <a:extLst>
                <a:ext uri="{FF2B5EF4-FFF2-40B4-BE49-F238E27FC236}">
                  <a16:creationId xmlns:a16="http://schemas.microsoft.com/office/drawing/2014/main" id="{6D6914D4-1D15-F087-E6D8-FD237EC6E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1" y="5003"/>
              <a:ext cx="6" cy="35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airam 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6700"/>
            <a:ext cx="2626360" cy="838200"/>
          </a:xfrm>
          <a:prstGeom prst="rect">
            <a:avLst/>
          </a:prstGeom>
        </p:spPr>
      </p:pic>
      <p:pic>
        <p:nvPicPr>
          <p:cNvPr id="9" name="Picture 8" descr="Sairam innovation 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9603" y="266700"/>
            <a:ext cx="2132350" cy="838200"/>
          </a:xfrm>
          <a:prstGeom prst="rect">
            <a:avLst/>
          </a:prstGeom>
        </p:spPr>
      </p:pic>
      <p:pic>
        <p:nvPicPr>
          <p:cNvPr id="10" name="Picture 9" descr="Chairman sir 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8800" y="9182102"/>
            <a:ext cx="876300" cy="8867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971800" y="190502"/>
            <a:ext cx="12801600" cy="923328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algn="ctr" defTabSz="685789"/>
            <a:r>
              <a:rPr lang="en-US" sz="5400" b="1" dirty="0">
                <a:solidFill>
                  <a:prstClr val="black">
                    <a:lumMod val="85000"/>
                    <a:lumOff val="15000"/>
                  </a:prstClr>
                </a:solidFill>
              </a:rPr>
              <a:t>Financial Projections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333502"/>
            <a:ext cx="9525000" cy="821258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1800" y="1790702"/>
            <a:ext cx="5906952" cy="209487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1803" y="4686302"/>
            <a:ext cx="6360078" cy="300437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airam 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6700"/>
            <a:ext cx="2626360" cy="838200"/>
          </a:xfrm>
          <a:prstGeom prst="rect">
            <a:avLst/>
          </a:prstGeom>
        </p:spPr>
      </p:pic>
      <p:pic>
        <p:nvPicPr>
          <p:cNvPr id="9" name="Picture 8" descr="Sairam innovation 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9603" y="266700"/>
            <a:ext cx="2132350" cy="838200"/>
          </a:xfrm>
          <a:prstGeom prst="rect">
            <a:avLst/>
          </a:prstGeom>
        </p:spPr>
      </p:pic>
      <p:pic>
        <p:nvPicPr>
          <p:cNvPr id="10" name="Picture 9" descr="Chairman sir 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8800" y="9182102"/>
            <a:ext cx="876300" cy="886733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533403" y="266700"/>
            <a:ext cx="15304106" cy="729948"/>
          </a:xfrm>
          <a:prstGeom prst="rect">
            <a:avLst/>
          </a:prstGeom>
        </p:spPr>
        <p:txBody>
          <a:bodyPr lIns="91439" tIns="45719" rIns="91439" bIns="45719"/>
          <a:lstStyle/>
          <a:p>
            <a:pPr algn="ctr">
              <a:spcBef>
                <a:spcPct val="0"/>
              </a:spcBef>
              <a:defRPr/>
            </a:pPr>
            <a:r>
              <a:rPr lang="en-US" sz="6100" dirty="0">
                <a:latin typeface="Antonio Bold"/>
                <a:ea typeface="+mj-ea"/>
                <a:cs typeface="+mj-cs"/>
              </a:rPr>
              <a:t>Unit Economics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5802" y="1010951"/>
            <a:ext cx="763192" cy="84888"/>
          </a:xfrm>
          <a:prstGeom prst="rect">
            <a:avLst/>
          </a:prstGeom>
          <a:solidFill>
            <a:srgbClr val="FABE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39" tIns="45719" rIns="91439" bIns="45719" rtlCol="0" anchor="ctr"/>
          <a:lstStyle/>
          <a:p>
            <a:pPr algn="ctr" defTabSz="1371578">
              <a:defRPr/>
            </a:pPr>
            <a:endParaRPr lang="en-US" sz="2700" kern="0" dirty="0">
              <a:solidFill>
                <a:prstClr val="white"/>
              </a:solidFill>
              <a:latin typeface="Open Sans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538770"/>
              </p:ext>
            </p:extLst>
          </p:nvPr>
        </p:nvGraphicFramePr>
        <p:xfrm>
          <a:off x="2057403" y="1485902"/>
          <a:ext cx="5356282" cy="3026471"/>
        </p:xfrm>
        <a:graphic>
          <a:graphicData uri="http://schemas.openxmlformats.org/drawingml/2006/table">
            <a:tbl>
              <a:tblPr/>
              <a:tblGrid>
                <a:gridCol w="3373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2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97280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1" i="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 &amp; L/ unit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IN" sz="2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r" fontAlgn="ctr"/>
                      <a:endParaRPr lang="en-IN" sz="2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r" fontAlgn="ctr"/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 …..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191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Revenue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COGS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Gross Profit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Gross Profit Margin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Operating Costs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Operating Profit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881697"/>
              </p:ext>
            </p:extLst>
          </p:nvPr>
        </p:nvGraphicFramePr>
        <p:xfrm>
          <a:off x="7924800" y="1790702"/>
          <a:ext cx="5164528" cy="1644837"/>
        </p:xfrm>
        <a:graphic>
          <a:graphicData uri="http://schemas.openxmlformats.org/drawingml/2006/table">
            <a:tbl>
              <a:tblPr/>
              <a:tblGrid>
                <a:gridCol w="3130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3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173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1" i="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 Economics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2400" b="1" i="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 ……..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904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960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ARPU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1052742" y="4630049"/>
            <a:ext cx="15743868" cy="400108"/>
          </a:xfrm>
          <a:prstGeom prst="rect">
            <a:avLst/>
          </a:prstGeom>
        </p:spPr>
        <p:txBody>
          <a:bodyPr wrap="square" lIns="91439" tIns="45719" rIns="91439" bIns="45719">
            <a:spAutoFit/>
          </a:bodyPr>
          <a:lstStyle/>
          <a:p>
            <a:r>
              <a:rPr lang="en-US" sz="2000" dirty="0">
                <a:solidFill>
                  <a:srgbClr val="242424"/>
                </a:solidFill>
                <a:latin typeface="Open Sans"/>
                <a:cs typeface="Arial" panose="020B0604020202020204" pitchFamily="34" charset="0"/>
              </a:rPr>
              <a:t>The above is the Unit Economics for year 1 (year ……). Refer to P&amp;L statement for year 1 in slide 16.</a:t>
            </a:r>
            <a:endParaRPr lang="en-IN" sz="2000" dirty="0">
              <a:latin typeface="Open Sans"/>
              <a:cs typeface="Arial" panose="020B0604020202020204" pitchFamily="34" charset="0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295403" y="5143500"/>
          <a:ext cx="12194666" cy="5394960"/>
        </p:xfrm>
        <a:graphic>
          <a:graphicData uri="http://schemas.openxmlformats.org/drawingml/2006/table">
            <a:tbl>
              <a:tblPr/>
              <a:tblGrid>
                <a:gridCol w="1651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43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l" fontAlgn="auto"/>
                      <a:r>
                        <a:rPr lang="en-IN" sz="12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​Terms</a:t>
                      </a: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Explanation  (For the actual calculations, refer to the Financial Plan Excel sheet link)​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CAC</a:t>
                      </a: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IN" sz="3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(Cost of Sales + Cost of Marketing ) / Number of new customers acquired (in currency terms)​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2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hlinkClick r:id="rId5"/>
                        </a:rPr>
                        <a:t>CLV</a:t>
                      </a:r>
                      <a:endParaRPr lang="en-IN" sz="3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Average purchase value x Average purchase frequency x Average</a:t>
                      </a:r>
                      <a:r>
                        <a:rPr lang="en-US" sz="1800" b="0" i="0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Customer Lifespan x Gross Margin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ARPU</a:t>
                      </a: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IN" sz="3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revenue in specific period/Total number of customers during the same period (in currency terms)​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2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GROSS PROFIT</a:t>
                      </a:r>
                      <a:r>
                        <a:rPr lang="en-IN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IN" sz="3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revenue – Total COGS (In currency terms)​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2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hlinkClick r:id="rId6"/>
                        </a:rPr>
                        <a:t>OPERATING</a:t>
                      </a:r>
                      <a:r>
                        <a:rPr lang="en-IN" sz="1200" b="1" i="0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hlinkClick r:id="rId6"/>
                        </a:rPr>
                        <a:t> COSTS</a:t>
                      </a:r>
                      <a:endParaRPr lang="en-IN" sz="3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Cost of goods sold (COGS) + operating expenses (OPEX)</a:t>
                      </a:r>
                      <a:endParaRPr lang="en-IN" sz="180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2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hlinkClick r:id="rId7"/>
                        </a:rPr>
                        <a:t>OPERATING</a:t>
                      </a:r>
                      <a:r>
                        <a:rPr lang="en-IN" sz="1200" b="1" i="0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hlinkClick r:id="rId7"/>
                        </a:rPr>
                        <a:t> PROFIT</a:t>
                      </a:r>
                      <a:endParaRPr lang="en-IN" sz="3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Revenue from Core Operations – Cost of Goods Sold – Operating Expenses – Depreciation – Amortization Expenses</a:t>
                      </a:r>
                      <a:endParaRPr lang="en-IN" sz="180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2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CHURN RATE</a:t>
                      </a: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(Customers at the beginning of the period – customers at the end of the period) / customers at the beginning of the period</a:t>
                      </a:r>
                      <a:endParaRPr lang="en-IN" sz="180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933438"/>
              </p:ext>
            </p:extLst>
          </p:nvPr>
        </p:nvGraphicFramePr>
        <p:xfrm>
          <a:off x="13563603" y="3848100"/>
          <a:ext cx="4463970" cy="5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3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pPr algn="just"/>
                      <a:r>
                        <a:rPr lang="en-IN" sz="1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Assumptions (Year……..)</a:t>
                      </a: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endParaRPr lang="en-IN" sz="17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6640">
                <a:tc>
                  <a:txBody>
                    <a:bodyPr/>
                    <a:lstStyle/>
                    <a:p>
                      <a:endParaRPr lang="en-IN" sz="1700" baseline="0" dirty="0">
                        <a:latin typeface="Arial"/>
                        <a:cs typeface="Arial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airam 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6700"/>
            <a:ext cx="2626360" cy="838200"/>
          </a:xfrm>
          <a:prstGeom prst="rect">
            <a:avLst/>
          </a:prstGeom>
        </p:spPr>
      </p:pic>
      <p:pic>
        <p:nvPicPr>
          <p:cNvPr id="9" name="Picture 8" descr="Sairam innovation 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9603" y="266700"/>
            <a:ext cx="2132350" cy="838200"/>
          </a:xfrm>
          <a:prstGeom prst="rect">
            <a:avLst/>
          </a:prstGeom>
        </p:spPr>
      </p:pic>
      <p:pic>
        <p:nvPicPr>
          <p:cNvPr id="10" name="Picture 9" descr="Chairman sir 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8800" y="9182102"/>
            <a:ext cx="876300" cy="8867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9181" y="3238500"/>
            <a:ext cx="7791254" cy="549381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lIns="91439" tIns="45719" rIns="91439" bIns="45719" rtlCol="0">
            <a:spAutoFit/>
          </a:bodyPr>
          <a:lstStyle/>
          <a:p>
            <a:r>
              <a:rPr lang="en-IN" sz="2700" b="1" dirty="0"/>
              <a:t>How much funds required to reach to the next level of the venture?</a:t>
            </a:r>
          </a:p>
          <a:p>
            <a:pPr marL="428618" indent="-428618">
              <a:buFont typeface="Arial" panose="020B0604020202020204" pitchFamily="34" charset="0"/>
              <a:buChar char="•"/>
            </a:pPr>
            <a:r>
              <a:rPr lang="en-IN" sz="2700" dirty="0"/>
              <a:t>?</a:t>
            </a:r>
          </a:p>
          <a:p>
            <a:endParaRPr lang="en-IN" sz="2700" dirty="0"/>
          </a:p>
          <a:p>
            <a:r>
              <a:rPr lang="en-IN" sz="2700" b="1" dirty="0"/>
              <a:t>How much have been bootstrapped? If not, why ?</a:t>
            </a:r>
            <a:endParaRPr lang="en-IN" sz="2700" dirty="0"/>
          </a:p>
          <a:p>
            <a:pPr marL="428618" indent="-428618">
              <a:buFont typeface="Arial" panose="020B0604020202020204" pitchFamily="34" charset="0"/>
              <a:buChar char="•"/>
            </a:pPr>
            <a:r>
              <a:rPr lang="en-IN" sz="2700" dirty="0"/>
              <a:t>?</a:t>
            </a:r>
          </a:p>
          <a:p>
            <a:pPr marL="428618" indent="-428618">
              <a:buFont typeface="Arial" panose="020B0604020202020204" pitchFamily="34" charset="0"/>
              <a:buChar char="•"/>
            </a:pPr>
            <a:endParaRPr lang="en-IN" sz="2700" dirty="0"/>
          </a:p>
          <a:p>
            <a:r>
              <a:rPr lang="en-IN" sz="2700" b="1" dirty="0"/>
              <a:t>How much can be bootstrapped?</a:t>
            </a:r>
          </a:p>
          <a:p>
            <a:pPr marL="428618" indent="-428618">
              <a:buFont typeface="Arial" panose="020B0604020202020204" pitchFamily="34" charset="0"/>
              <a:buChar char="•"/>
            </a:pPr>
            <a:r>
              <a:rPr lang="en-IN" sz="2700" dirty="0"/>
              <a:t>?</a:t>
            </a:r>
          </a:p>
          <a:p>
            <a:endParaRPr lang="en-IN" sz="2700" dirty="0"/>
          </a:p>
          <a:p>
            <a:r>
              <a:rPr lang="en-IN" sz="2700" b="1" dirty="0"/>
              <a:t>How much external funding required? If not, why?</a:t>
            </a:r>
          </a:p>
          <a:p>
            <a:pPr marL="428618" indent="-428618">
              <a:buFont typeface="Arial" panose="020B0604020202020204" pitchFamily="34" charset="0"/>
              <a:buChar char="•"/>
            </a:pPr>
            <a:r>
              <a:rPr lang="en-IN" sz="2700" dirty="0"/>
              <a:t>?</a:t>
            </a:r>
          </a:p>
          <a:p>
            <a:endParaRPr lang="en-IN" sz="2700" dirty="0"/>
          </a:p>
        </p:txBody>
      </p:sp>
      <p:sp>
        <p:nvSpPr>
          <p:cNvPr id="7" name="TextBox 6"/>
          <p:cNvSpPr txBox="1"/>
          <p:nvPr/>
        </p:nvSpPr>
        <p:spPr>
          <a:xfrm>
            <a:off x="9601203" y="3159642"/>
            <a:ext cx="7791254" cy="549381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lIns="91439" tIns="45719" rIns="91439" bIns="45719" rtlCol="0">
            <a:spAutoFit/>
          </a:bodyPr>
          <a:lstStyle/>
          <a:p>
            <a:r>
              <a:rPr lang="en-IN" sz="2700" b="1" dirty="0"/>
              <a:t>Funds utilization strategy (Details)</a:t>
            </a:r>
          </a:p>
          <a:p>
            <a:pPr marL="428618" indent="-428618">
              <a:buFont typeface="Arial" panose="020B0604020202020204" pitchFamily="34" charset="0"/>
              <a:buChar char="•"/>
            </a:pPr>
            <a:r>
              <a:rPr lang="en-IN" sz="2700" dirty="0"/>
              <a:t>?</a:t>
            </a:r>
          </a:p>
          <a:p>
            <a:pPr marL="428618" indent="-428618">
              <a:buFont typeface="Arial" panose="020B0604020202020204" pitchFamily="34" charset="0"/>
              <a:buChar char="•"/>
            </a:pPr>
            <a:r>
              <a:rPr lang="en-IN" sz="2700" dirty="0"/>
              <a:t>?</a:t>
            </a:r>
          </a:p>
          <a:p>
            <a:pPr marL="428618" indent="-428618">
              <a:buFont typeface="Arial" panose="020B0604020202020204" pitchFamily="34" charset="0"/>
              <a:buChar char="•"/>
            </a:pPr>
            <a:r>
              <a:rPr lang="en-IN" sz="2700" dirty="0"/>
              <a:t>?</a:t>
            </a:r>
          </a:p>
          <a:p>
            <a:pPr marL="428618" indent="-428618">
              <a:buFont typeface="Arial" panose="020B0604020202020204" pitchFamily="34" charset="0"/>
              <a:buChar char="•"/>
            </a:pPr>
            <a:r>
              <a:rPr lang="en-IN" sz="2700" dirty="0"/>
              <a:t>?</a:t>
            </a:r>
          </a:p>
          <a:p>
            <a:pPr marL="428618" indent="-428618">
              <a:buFont typeface="Arial" panose="020B0604020202020204" pitchFamily="34" charset="0"/>
              <a:buChar char="•"/>
            </a:pPr>
            <a:r>
              <a:rPr lang="en-IN" sz="2700" dirty="0"/>
              <a:t>?</a:t>
            </a:r>
          </a:p>
          <a:p>
            <a:pPr marL="428618" indent="-428618">
              <a:buFont typeface="Arial" panose="020B0604020202020204" pitchFamily="34" charset="0"/>
              <a:buChar char="•"/>
            </a:pPr>
            <a:r>
              <a:rPr lang="en-IN" sz="2700" dirty="0"/>
              <a:t>?</a:t>
            </a:r>
          </a:p>
          <a:p>
            <a:pPr marL="428618" indent="-428618">
              <a:buFont typeface="Arial" panose="020B0604020202020204" pitchFamily="34" charset="0"/>
              <a:buChar char="•"/>
            </a:pPr>
            <a:r>
              <a:rPr lang="en-IN" sz="2700" dirty="0"/>
              <a:t>?</a:t>
            </a:r>
          </a:p>
          <a:p>
            <a:pPr marL="428618" indent="-428618">
              <a:buFont typeface="Arial" panose="020B0604020202020204" pitchFamily="34" charset="0"/>
              <a:buChar char="•"/>
            </a:pPr>
            <a:r>
              <a:rPr lang="en-IN" sz="2700" dirty="0"/>
              <a:t>?</a:t>
            </a:r>
          </a:p>
          <a:p>
            <a:pPr marL="428618" indent="-428618">
              <a:buFont typeface="Arial" panose="020B0604020202020204" pitchFamily="34" charset="0"/>
              <a:buChar char="•"/>
            </a:pPr>
            <a:r>
              <a:rPr lang="en-IN" sz="2700" dirty="0"/>
              <a:t>?</a:t>
            </a:r>
          </a:p>
          <a:p>
            <a:pPr marL="428618" indent="-428618">
              <a:buFont typeface="Arial" panose="020B0604020202020204" pitchFamily="34" charset="0"/>
              <a:buChar char="•"/>
            </a:pPr>
            <a:r>
              <a:rPr lang="en-IN" sz="2700" dirty="0"/>
              <a:t>?</a:t>
            </a:r>
          </a:p>
          <a:p>
            <a:pPr marL="428618" indent="-428618">
              <a:buFont typeface="Arial" panose="020B0604020202020204" pitchFamily="34" charset="0"/>
              <a:buChar char="•"/>
            </a:pPr>
            <a:r>
              <a:rPr lang="en-IN" sz="2700" dirty="0"/>
              <a:t>?</a:t>
            </a:r>
          </a:p>
          <a:p>
            <a:pPr marL="428618" indent="-428618">
              <a:buFont typeface="Arial" panose="020B0604020202020204" pitchFamily="34" charset="0"/>
              <a:buChar char="•"/>
            </a:pPr>
            <a:endParaRPr lang="en-IN" sz="270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8D3BFB5-F3EC-4B74-9DA7-84AA6BA58C5E}"/>
              </a:ext>
            </a:extLst>
          </p:cNvPr>
          <p:cNvSpPr txBox="1">
            <a:spLocks/>
          </p:cNvSpPr>
          <p:nvPr/>
        </p:nvSpPr>
        <p:spPr>
          <a:xfrm>
            <a:off x="2895600" y="266700"/>
            <a:ext cx="12801600" cy="914400"/>
          </a:xfrm>
          <a:prstGeom prst="rect">
            <a:avLst/>
          </a:prstGeom>
        </p:spPr>
        <p:txBody>
          <a:bodyPr vert="horz" lIns="182877" tIns="91439" rIns="182877" bIns="91439" rtlCol="0" anchor="t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9E0D20"/>
                </a:solidFill>
                <a:latin typeface="Raleway" panose="020B0503030101060003" pitchFamily="34" charset="0"/>
                <a:ea typeface="+mj-ea"/>
                <a:cs typeface="+mj-cs"/>
              </a:defRPr>
            </a:lvl1pPr>
          </a:lstStyle>
          <a:p>
            <a:r>
              <a:rPr lang="en-US" sz="6100" dirty="0">
                <a:solidFill>
                  <a:schemeClr val="tx1"/>
                </a:solidFill>
                <a:latin typeface="Antonio Bold"/>
              </a:rPr>
              <a:t>Funding</a:t>
            </a:r>
            <a:r>
              <a:rPr lang="en-US" sz="6100" dirty="0">
                <a:solidFill>
                  <a:srgbClr val="C00000"/>
                </a:solidFill>
                <a:latin typeface="Antonio Bold"/>
              </a:rPr>
              <a:t> </a:t>
            </a:r>
            <a:r>
              <a:rPr lang="en-US" sz="6100" dirty="0">
                <a:solidFill>
                  <a:schemeClr val="tx1"/>
                </a:solidFill>
                <a:latin typeface="Antonio Bold"/>
              </a:rPr>
              <a:t>Plan</a:t>
            </a:r>
            <a:r>
              <a:rPr lang="en-US" sz="6100" dirty="0">
                <a:solidFill>
                  <a:srgbClr val="C00000"/>
                </a:solidFill>
                <a:latin typeface="Antonio Bold"/>
              </a:rPr>
              <a:t>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airam 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6700"/>
            <a:ext cx="2626360" cy="838200"/>
          </a:xfrm>
          <a:prstGeom prst="rect">
            <a:avLst/>
          </a:prstGeom>
        </p:spPr>
      </p:pic>
      <p:pic>
        <p:nvPicPr>
          <p:cNvPr id="9" name="Picture 8" descr="Sairam innovation 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9603" y="266700"/>
            <a:ext cx="2132350" cy="838200"/>
          </a:xfrm>
          <a:prstGeom prst="rect">
            <a:avLst/>
          </a:prstGeom>
        </p:spPr>
      </p:pic>
      <p:pic>
        <p:nvPicPr>
          <p:cNvPr id="10" name="Picture 9" descr="Chairman sir 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8800" y="9182102"/>
            <a:ext cx="876300" cy="886733"/>
          </a:xfrm>
          <a:prstGeom prst="rect">
            <a:avLst/>
          </a:prstGeom>
        </p:spPr>
      </p:pic>
      <p:sp>
        <p:nvSpPr>
          <p:cNvPr id="6" name="TextBox 15"/>
          <p:cNvSpPr txBox="1"/>
          <p:nvPr/>
        </p:nvSpPr>
        <p:spPr>
          <a:xfrm>
            <a:off x="2895600" y="190502"/>
            <a:ext cx="12338484" cy="1115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746"/>
              </a:lnSpc>
            </a:pPr>
            <a:r>
              <a:rPr lang="en-US" sz="5400" b="1" dirty="0">
                <a:cs typeface="Times New Roman" panose="02020603050405020304" pitchFamily="18" charset="0"/>
              </a:rPr>
              <a:t>Team Composition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41B64D-B44D-44C6-BDBC-3EBF35934BD5}"/>
              </a:ext>
            </a:extLst>
          </p:cNvPr>
          <p:cNvSpPr/>
          <p:nvPr/>
        </p:nvSpPr>
        <p:spPr>
          <a:xfrm>
            <a:off x="811196" y="2963974"/>
            <a:ext cx="1581540" cy="1477001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</a:ln>
          <a:effectLst/>
        </p:spPr>
        <p:txBody>
          <a:bodyPr lIns="91439" tIns="45719" rIns="91439" bIns="45719" rtlCol="0" anchor="ctr"/>
          <a:lstStyle/>
          <a:p>
            <a:pPr algn="ctr">
              <a:buClr>
                <a:srgbClr val="000000"/>
              </a:buClr>
              <a:defRPr/>
            </a:pPr>
            <a:endParaRPr lang="en-ZA" sz="1100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942A5F-346B-4A9B-8B0F-4CA8E26F5936}"/>
              </a:ext>
            </a:extLst>
          </p:cNvPr>
          <p:cNvSpPr/>
          <p:nvPr/>
        </p:nvSpPr>
        <p:spPr>
          <a:xfrm>
            <a:off x="4469322" y="2977962"/>
            <a:ext cx="1475128" cy="147758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</a:ln>
          <a:effectLst/>
        </p:spPr>
        <p:txBody>
          <a:bodyPr lIns="91439" tIns="45719" rIns="91439" bIns="45719" rtlCol="0" anchor="ctr"/>
          <a:lstStyle/>
          <a:p>
            <a:pPr algn="ctr">
              <a:buClr>
                <a:srgbClr val="000000"/>
              </a:buClr>
              <a:defRPr/>
            </a:pPr>
            <a:endParaRPr lang="en-ZA" sz="1100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61E885-688B-47C4-BE5D-90587DA49207}"/>
              </a:ext>
            </a:extLst>
          </p:cNvPr>
          <p:cNvSpPr txBox="1"/>
          <p:nvPr/>
        </p:nvSpPr>
        <p:spPr>
          <a:xfrm>
            <a:off x="4603488" y="3240809"/>
            <a:ext cx="1340112" cy="446274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2300" kern="0" dirty="0">
                <a:solidFill>
                  <a:schemeClr val="accent2"/>
                </a:solidFill>
                <a:latin typeface="Arial"/>
                <a:cs typeface="Arial"/>
                <a:sym typeface="Arial"/>
              </a:rPr>
              <a:t>Picture</a:t>
            </a:r>
            <a:endParaRPr lang="en-ZA" sz="2300" kern="0" dirty="0">
              <a:solidFill>
                <a:schemeClr val="accent2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A7884A-0608-4E8F-AEEB-438C18DE1534}"/>
              </a:ext>
            </a:extLst>
          </p:cNvPr>
          <p:cNvSpPr/>
          <p:nvPr/>
        </p:nvSpPr>
        <p:spPr>
          <a:xfrm>
            <a:off x="7543800" y="2933702"/>
            <a:ext cx="1581540" cy="1477001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</a:ln>
          <a:effectLst/>
        </p:spPr>
        <p:txBody>
          <a:bodyPr lIns="91439" tIns="45719" rIns="91439" bIns="45719" rtlCol="0" anchor="ctr"/>
          <a:lstStyle/>
          <a:p>
            <a:pPr algn="ctr">
              <a:buClr>
                <a:srgbClr val="000000"/>
              </a:buClr>
              <a:defRPr/>
            </a:pPr>
            <a:endParaRPr lang="en-ZA" sz="1100" kern="0" dirty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74D554-969C-4697-B06E-D7709DC86278}"/>
              </a:ext>
            </a:extLst>
          </p:cNvPr>
          <p:cNvSpPr txBox="1"/>
          <p:nvPr/>
        </p:nvSpPr>
        <p:spPr>
          <a:xfrm>
            <a:off x="7630906" y="3245345"/>
            <a:ext cx="1340112" cy="446274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2300" kern="0" dirty="0">
                <a:solidFill>
                  <a:schemeClr val="accent2"/>
                </a:solidFill>
                <a:latin typeface="Arial"/>
                <a:cs typeface="Arial"/>
                <a:sym typeface="Arial"/>
              </a:rPr>
              <a:t>Picture</a:t>
            </a:r>
            <a:endParaRPr lang="en-ZA" sz="2300" kern="0" dirty="0">
              <a:solidFill>
                <a:schemeClr val="accent2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0B3626-D74C-4000-9FF5-75B635C12759}"/>
              </a:ext>
            </a:extLst>
          </p:cNvPr>
          <p:cNvSpPr txBox="1"/>
          <p:nvPr/>
        </p:nvSpPr>
        <p:spPr>
          <a:xfrm>
            <a:off x="970346" y="3126176"/>
            <a:ext cx="1340112" cy="446274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2300" kern="0" dirty="0">
                <a:solidFill>
                  <a:schemeClr val="accent2"/>
                </a:solidFill>
                <a:latin typeface="Arial"/>
                <a:cs typeface="Arial"/>
                <a:sym typeface="Arial"/>
              </a:rPr>
              <a:t>Picture</a:t>
            </a:r>
            <a:endParaRPr lang="en-ZA" sz="2300" kern="0" dirty="0">
              <a:solidFill>
                <a:schemeClr val="accent2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58428" y="2098215"/>
            <a:ext cx="1763942" cy="369330"/>
          </a:xfrm>
          <a:prstGeom prst="rect">
            <a:avLst/>
          </a:prstGeom>
        </p:spPr>
        <p:txBody>
          <a:bodyPr wrap="none" lIns="91439" tIns="45719" rIns="91439" bIns="45719">
            <a:spAutoFit/>
          </a:bodyPr>
          <a:lstStyle/>
          <a:p>
            <a:r>
              <a:rPr lang="en-US" dirty="0"/>
              <a:t>Team member 1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2856" y="2098215"/>
            <a:ext cx="2052536" cy="369330"/>
          </a:xfrm>
          <a:prstGeom prst="rect">
            <a:avLst/>
          </a:prstGeom>
        </p:spPr>
        <p:txBody>
          <a:bodyPr wrap="square" lIns="91439" tIns="45719" rIns="91439" bIns="45719">
            <a:spAutoFit/>
          </a:bodyPr>
          <a:lstStyle/>
          <a:p>
            <a:r>
              <a:rPr lang="en-US" dirty="0"/>
              <a:t>Team  member 2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59550" y="2058048"/>
            <a:ext cx="2389252" cy="369330"/>
          </a:xfrm>
          <a:prstGeom prst="rect">
            <a:avLst/>
          </a:prstGeom>
        </p:spPr>
        <p:txBody>
          <a:bodyPr wrap="square" lIns="91439" tIns="45719" rIns="91439" bIns="45719">
            <a:spAutoFit/>
          </a:bodyPr>
          <a:lstStyle/>
          <a:p>
            <a:pPr algn="ctr"/>
            <a:r>
              <a:rPr lang="en-US" dirty="0"/>
              <a:t>Team member 3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1199" y="5121772"/>
            <a:ext cx="1552281" cy="646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 lIns="91439" tIns="45719" rIns="91439" bIns="45719">
            <a:spAutoFit/>
          </a:bodyPr>
          <a:lstStyle/>
          <a:p>
            <a:pPr algn="ctr"/>
            <a:r>
              <a:rPr lang="en-US" dirty="0"/>
              <a:t>Role/Position: </a:t>
            </a:r>
          </a:p>
          <a:p>
            <a:pPr algn="ctr"/>
            <a:r>
              <a:rPr lang="en-US" dirty="0"/>
              <a:t>CEO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69188" y="5160611"/>
            <a:ext cx="1552282" cy="646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 lIns="91439" tIns="45719" rIns="91439" bIns="45719">
            <a:spAutoFit/>
          </a:bodyPr>
          <a:lstStyle/>
          <a:p>
            <a:r>
              <a:rPr lang="en-US" dirty="0"/>
              <a:t>Role/Position: </a:t>
            </a:r>
          </a:p>
          <a:p>
            <a:pPr algn="ctr"/>
            <a:r>
              <a:rPr lang="en-US" dirty="0"/>
              <a:t>COO/CTO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72551" y="5149468"/>
            <a:ext cx="1552281" cy="646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 lIns="91439" tIns="45719" rIns="91439" bIns="45719">
            <a:spAutoFit/>
          </a:bodyPr>
          <a:lstStyle/>
          <a:p>
            <a:pPr algn="ctr"/>
            <a:r>
              <a:rPr lang="en-US" dirty="0"/>
              <a:t>Role/Position: </a:t>
            </a:r>
          </a:p>
          <a:p>
            <a:pPr algn="ctr"/>
            <a:r>
              <a:rPr lang="en-US" dirty="0"/>
              <a:t>CFO/CMO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4203" y="6515102"/>
            <a:ext cx="2884998" cy="203645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lIns="91439" tIns="45719" rIns="91439" bIns="45719">
            <a:spAutoFit/>
          </a:bodyPr>
          <a:lstStyle/>
          <a:p>
            <a:pPr marL="90805">
              <a:lnSpc>
                <a:spcPct val="100000"/>
              </a:lnSpc>
              <a:spcBef>
                <a:spcPts val="245"/>
              </a:spcBef>
            </a:pPr>
            <a:r>
              <a:rPr lang="en-US" sz="1800" dirty="0">
                <a:latin typeface="Carlito"/>
              </a:rPr>
              <a:t>Key</a:t>
            </a:r>
            <a:r>
              <a:rPr lang="en-US" sz="1800" spc="-60" dirty="0">
                <a:latin typeface="Carlito"/>
              </a:rPr>
              <a:t> </a:t>
            </a:r>
            <a:r>
              <a:rPr lang="en-US" sz="1800" dirty="0">
                <a:latin typeface="Carlito"/>
              </a:rPr>
              <a:t>Strengths</a:t>
            </a:r>
            <a:r>
              <a:rPr lang="en-US" sz="1800" spc="-75" dirty="0">
                <a:latin typeface="Carlito"/>
              </a:rPr>
              <a:t> </a:t>
            </a:r>
            <a:r>
              <a:rPr lang="en-US" sz="1800" dirty="0">
                <a:latin typeface="Carlito"/>
              </a:rPr>
              <a:t>and</a:t>
            </a:r>
            <a:r>
              <a:rPr lang="en-US" sz="1800" spc="-55" dirty="0">
                <a:latin typeface="Carlito"/>
              </a:rPr>
              <a:t> </a:t>
            </a:r>
            <a:r>
              <a:rPr lang="en-US" sz="1800" dirty="0">
                <a:latin typeface="Carlito"/>
              </a:rPr>
              <a:t>abilities</a:t>
            </a:r>
            <a:r>
              <a:rPr lang="en-US" sz="1800" spc="-55" dirty="0">
                <a:latin typeface="Carlito"/>
              </a:rPr>
              <a:t> </a:t>
            </a:r>
            <a:r>
              <a:rPr lang="en-US" sz="1800" spc="-50" dirty="0">
                <a:latin typeface="Carlito"/>
              </a:rPr>
              <a:t>:</a:t>
            </a:r>
          </a:p>
          <a:p>
            <a:pPr marL="257175" indent="-166370">
              <a:lnSpc>
                <a:spcPct val="100000"/>
              </a:lnSpc>
              <a:spcBef>
                <a:spcPts val="2160"/>
              </a:spcBef>
              <a:buChar char="•"/>
            </a:pPr>
            <a:r>
              <a:rPr lang="en-US" sz="1800" spc="-10" dirty="0">
                <a:latin typeface="Carlito"/>
              </a:rPr>
              <a:t>Programming</a:t>
            </a:r>
          </a:p>
          <a:p>
            <a:pPr marL="255904" indent="-165099">
              <a:lnSpc>
                <a:spcPct val="100000"/>
              </a:lnSpc>
              <a:spcBef>
                <a:spcPts val="5"/>
              </a:spcBef>
              <a:buChar char="•"/>
            </a:pPr>
            <a:r>
              <a:rPr lang="en-US" sz="1800" spc="-10" dirty="0">
                <a:latin typeface="Carlito"/>
              </a:rPr>
              <a:t>Designer</a:t>
            </a:r>
          </a:p>
          <a:p>
            <a:pPr marL="255904" indent="-165099">
              <a:lnSpc>
                <a:spcPct val="100000"/>
              </a:lnSpc>
              <a:buChar char="•"/>
            </a:pPr>
            <a:r>
              <a:rPr lang="en-US" sz="1800" dirty="0">
                <a:latin typeface="Carlito"/>
              </a:rPr>
              <a:t>R</a:t>
            </a:r>
            <a:r>
              <a:rPr lang="en-US" sz="1800" spc="10" dirty="0">
                <a:latin typeface="Carlito"/>
              </a:rPr>
              <a:t> </a:t>
            </a:r>
            <a:r>
              <a:rPr lang="en-US" sz="1800" dirty="0">
                <a:latin typeface="Carlito"/>
              </a:rPr>
              <a:t>&amp;</a:t>
            </a:r>
            <a:r>
              <a:rPr lang="en-US" sz="1800" spc="-5" dirty="0">
                <a:latin typeface="Carlito"/>
              </a:rPr>
              <a:t> </a:t>
            </a:r>
            <a:r>
              <a:rPr lang="en-US" sz="1800" spc="-50" dirty="0">
                <a:latin typeface="Carlito"/>
              </a:rPr>
              <a:t>D</a:t>
            </a:r>
          </a:p>
          <a:p>
            <a:pPr marL="255904" indent="-165099">
              <a:lnSpc>
                <a:spcPct val="100000"/>
              </a:lnSpc>
              <a:buChar char="•"/>
            </a:pPr>
            <a:r>
              <a:rPr lang="en-US" sz="1800" spc="-10" dirty="0">
                <a:latin typeface="Carlito"/>
              </a:rPr>
              <a:t>Networking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84372" y="6515102"/>
            <a:ext cx="2845028" cy="28674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lIns="91439" tIns="45719" rIns="91439" bIns="45719">
            <a:spAutoFit/>
          </a:bodyPr>
          <a:lstStyle/>
          <a:p>
            <a:pPr marL="92075">
              <a:lnSpc>
                <a:spcPct val="100000"/>
              </a:lnSpc>
              <a:spcBef>
                <a:spcPts val="245"/>
              </a:spcBef>
            </a:pPr>
            <a:r>
              <a:rPr lang="en-US" sz="1800" dirty="0">
                <a:latin typeface="Carlito"/>
              </a:rPr>
              <a:t>Key</a:t>
            </a:r>
            <a:r>
              <a:rPr lang="en-US" sz="1800" spc="-60" dirty="0">
                <a:latin typeface="Carlito"/>
              </a:rPr>
              <a:t> </a:t>
            </a:r>
            <a:r>
              <a:rPr lang="en-US" sz="1800" dirty="0">
                <a:latin typeface="Carlito"/>
              </a:rPr>
              <a:t>Strengths</a:t>
            </a:r>
            <a:r>
              <a:rPr lang="en-US" sz="1800" spc="-75" dirty="0">
                <a:latin typeface="Carlito"/>
              </a:rPr>
              <a:t> </a:t>
            </a:r>
            <a:r>
              <a:rPr lang="en-US" sz="1800" dirty="0">
                <a:latin typeface="Carlito"/>
              </a:rPr>
              <a:t>and</a:t>
            </a:r>
            <a:r>
              <a:rPr lang="en-US" sz="1800" spc="-55" dirty="0">
                <a:latin typeface="Carlito"/>
              </a:rPr>
              <a:t> </a:t>
            </a:r>
            <a:r>
              <a:rPr lang="en-US" sz="1800" dirty="0">
                <a:latin typeface="Carlito"/>
              </a:rPr>
              <a:t>abilities</a:t>
            </a:r>
            <a:r>
              <a:rPr lang="en-US" sz="1800" spc="-55" dirty="0">
                <a:latin typeface="Carlito"/>
              </a:rPr>
              <a:t> </a:t>
            </a:r>
            <a:r>
              <a:rPr lang="en-US" sz="1800" spc="-50" dirty="0">
                <a:latin typeface="Carlito"/>
              </a:rPr>
              <a:t>:</a:t>
            </a:r>
          </a:p>
          <a:p>
            <a:pPr marL="258444" indent="-166370">
              <a:lnSpc>
                <a:spcPct val="100000"/>
              </a:lnSpc>
              <a:spcBef>
                <a:spcPts val="2160"/>
              </a:spcBef>
              <a:buChar char="•"/>
            </a:pPr>
            <a:r>
              <a:rPr lang="en-US" sz="1800" dirty="0">
                <a:latin typeface="Carlito"/>
              </a:rPr>
              <a:t>3D</a:t>
            </a:r>
            <a:r>
              <a:rPr lang="en-US" sz="1800" spc="-25" dirty="0">
                <a:latin typeface="Carlito"/>
              </a:rPr>
              <a:t> </a:t>
            </a:r>
            <a:r>
              <a:rPr lang="en-US" sz="1800" spc="-10" dirty="0">
                <a:latin typeface="Carlito"/>
              </a:rPr>
              <a:t>Modeling</a:t>
            </a:r>
          </a:p>
          <a:p>
            <a:pPr marL="257175" indent="-165099">
              <a:lnSpc>
                <a:spcPct val="100000"/>
              </a:lnSpc>
              <a:spcBef>
                <a:spcPts val="5"/>
              </a:spcBef>
              <a:buChar char="•"/>
            </a:pPr>
            <a:r>
              <a:rPr lang="en-US" sz="1800" spc="-10" dirty="0">
                <a:latin typeface="Carlito"/>
              </a:rPr>
              <a:t>Editing</a:t>
            </a:r>
          </a:p>
          <a:p>
            <a:pPr marL="257175" indent="-165099">
              <a:lnSpc>
                <a:spcPct val="100000"/>
              </a:lnSpc>
              <a:buChar char="•"/>
            </a:pPr>
            <a:r>
              <a:rPr lang="en-US" sz="1800" spc="-10" dirty="0">
                <a:latin typeface="Carlito"/>
              </a:rPr>
              <a:t>Debugging</a:t>
            </a:r>
          </a:p>
          <a:p>
            <a:pPr marL="257175" indent="-165099">
              <a:lnSpc>
                <a:spcPct val="100000"/>
              </a:lnSpc>
              <a:buChar char="•"/>
            </a:pPr>
            <a:r>
              <a:rPr lang="en-US" sz="1800" dirty="0">
                <a:latin typeface="Carlito"/>
              </a:rPr>
              <a:t>R</a:t>
            </a:r>
            <a:r>
              <a:rPr lang="en-US" sz="1800" spc="10" dirty="0">
                <a:latin typeface="Carlito"/>
              </a:rPr>
              <a:t> </a:t>
            </a:r>
            <a:r>
              <a:rPr lang="en-US" sz="1800" dirty="0">
                <a:latin typeface="Carlito"/>
              </a:rPr>
              <a:t>&amp;</a:t>
            </a:r>
            <a:r>
              <a:rPr lang="en-US" sz="1800" spc="-5" dirty="0">
                <a:latin typeface="Carlito"/>
              </a:rPr>
              <a:t> </a:t>
            </a:r>
            <a:r>
              <a:rPr lang="en-US" sz="1800" spc="-50" dirty="0">
                <a:latin typeface="Carlito"/>
              </a:rPr>
              <a:t>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7286869" y="6535301"/>
            <a:ext cx="2628546" cy="259045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lIns="91439" tIns="45719" rIns="91439" bIns="45719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lang="en-US" sz="1800" dirty="0">
                <a:latin typeface="Carlito"/>
              </a:rPr>
              <a:t>Key</a:t>
            </a:r>
            <a:r>
              <a:rPr lang="en-US" sz="1800" spc="-30" dirty="0">
                <a:latin typeface="Carlito"/>
              </a:rPr>
              <a:t> </a:t>
            </a:r>
            <a:r>
              <a:rPr lang="en-US" sz="1800" spc="-10" dirty="0">
                <a:latin typeface="Carlito"/>
              </a:rPr>
              <a:t>Strengths</a:t>
            </a:r>
            <a:r>
              <a:rPr lang="en-US" sz="1800" spc="-50" dirty="0">
                <a:latin typeface="Carlito"/>
              </a:rPr>
              <a:t> </a:t>
            </a:r>
            <a:r>
              <a:rPr lang="en-US" sz="1800" dirty="0">
                <a:latin typeface="Carlito"/>
              </a:rPr>
              <a:t>and</a:t>
            </a:r>
            <a:r>
              <a:rPr lang="en-US" sz="1800" spc="-25" dirty="0">
                <a:latin typeface="Carlito"/>
              </a:rPr>
              <a:t> </a:t>
            </a:r>
            <a:r>
              <a:rPr lang="en-US" sz="1800" dirty="0">
                <a:latin typeface="Carlito"/>
              </a:rPr>
              <a:t>abilities</a:t>
            </a:r>
            <a:r>
              <a:rPr lang="en-US" sz="1800" spc="-25" dirty="0">
                <a:latin typeface="Carlito"/>
              </a:rPr>
              <a:t> </a:t>
            </a:r>
            <a:r>
              <a:rPr lang="en-US" sz="1800" spc="-50" dirty="0">
                <a:latin typeface="Carlito"/>
              </a:rPr>
              <a:t>:</a:t>
            </a:r>
          </a:p>
          <a:p>
            <a:pPr marL="257175" indent="-165099">
              <a:lnSpc>
                <a:spcPct val="100000"/>
              </a:lnSpc>
              <a:spcBef>
                <a:spcPts val="2160"/>
              </a:spcBef>
              <a:buChar char="•"/>
            </a:pPr>
            <a:r>
              <a:rPr lang="en-US" sz="1800" spc="-10" dirty="0">
                <a:latin typeface="Carlito"/>
              </a:rPr>
              <a:t>Hardware troubleshooting and benchmarking</a:t>
            </a:r>
          </a:p>
          <a:p>
            <a:pPr marL="92075">
              <a:lnSpc>
                <a:spcPct val="100000"/>
              </a:lnSpc>
            </a:pPr>
            <a:r>
              <a:rPr lang="en-US" sz="1800" dirty="0">
                <a:latin typeface="Carlito"/>
              </a:rPr>
              <a:t>•R</a:t>
            </a:r>
            <a:r>
              <a:rPr lang="en-US" sz="1800" spc="-5" dirty="0">
                <a:latin typeface="Carlito"/>
              </a:rPr>
              <a:t> </a:t>
            </a:r>
            <a:r>
              <a:rPr lang="en-US" sz="1800" dirty="0">
                <a:latin typeface="Carlito"/>
              </a:rPr>
              <a:t>&amp;</a:t>
            </a:r>
            <a:r>
              <a:rPr lang="en-US" sz="1800" spc="-15" dirty="0">
                <a:latin typeface="Carlito"/>
              </a:rPr>
              <a:t> </a:t>
            </a:r>
            <a:r>
              <a:rPr lang="en-US" sz="1800" spc="-50" dirty="0">
                <a:latin typeface="Carlito"/>
              </a:rPr>
              <a:t>D</a:t>
            </a:r>
          </a:p>
          <a:p>
            <a:pPr marL="92075">
              <a:lnSpc>
                <a:spcPct val="100000"/>
              </a:lnSpc>
            </a:pPr>
            <a:r>
              <a:rPr lang="en-US" sz="1800" spc="-10" dirty="0">
                <a:latin typeface="Carlito"/>
              </a:rPr>
              <a:t>•Networking</a:t>
            </a:r>
          </a:p>
          <a:p>
            <a:pPr marL="92075">
              <a:lnSpc>
                <a:spcPct val="100000"/>
              </a:lnSpc>
            </a:pPr>
            <a:endParaRPr lang="en-US" sz="1800" spc="-10" dirty="0">
              <a:latin typeface="Carlito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0696364" y="3592686"/>
            <a:ext cx="6853156" cy="280486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 lIns="91439" tIns="45719" rIns="91439" bIns="45719">
            <a:spAutoFit/>
          </a:bodyPr>
          <a:lstStyle/>
          <a:p>
            <a:pPr>
              <a:lnSpc>
                <a:spcPct val="90000"/>
              </a:lnSpc>
              <a:spcBef>
                <a:spcPts val="750"/>
              </a:spcBef>
              <a:buClr>
                <a:srgbClr val="000000"/>
              </a:buClr>
            </a:pPr>
            <a:r>
              <a:rPr lang="en-GB" b="1" kern="0" dirty="0">
                <a:solidFill>
                  <a:srgbClr val="000000"/>
                </a:solidFill>
                <a:latin typeface="Arial"/>
                <a:ea typeface="+mn-lt"/>
                <a:cs typeface="Arial"/>
                <a:sym typeface="Arial"/>
              </a:rPr>
              <a:t>What makes us a good team to solve the problem we chose?</a:t>
            </a:r>
          </a:p>
          <a:p>
            <a:pPr>
              <a:lnSpc>
                <a:spcPct val="90000"/>
              </a:lnSpc>
              <a:spcBef>
                <a:spcPts val="750"/>
              </a:spcBef>
              <a:buClr>
                <a:srgbClr val="000000"/>
              </a:buClr>
            </a:pPr>
            <a:endParaRPr lang="en-GB" b="1" kern="0" dirty="0">
              <a:solidFill>
                <a:srgbClr val="000000"/>
              </a:solidFill>
              <a:latin typeface="Arial"/>
              <a:ea typeface="+mn-lt"/>
              <a:cs typeface="Arial"/>
              <a:sym typeface="Arial"/>
            </a:endParaRPr>
          </a:p>
          <a:p>
            <a:pPr>
              <a:lnSpc>
                <a:spcPct val="90000"/>
              </a:lnSpc>
              <a:spcBef>
                <a:spcPts val="750"/>
              </a:spcBef>
              <a:buClr>
                <a:srgbClr val="000000"/>
              </a:buClr>
            </a:pPr>
            <a:endParaRPr lang="en-GB" b="1" kern="0" dirty="0">
              <a:solidFill>
                <a:srgbClr val="000000"/>
              </a:solidFill>
              <a:latin typeface="Arial"/>
              <a:ea typeface="+mn-lt"/>
              <a:cs typeface="Arial"/>
              <a:sym typeface="Arial"/>
            </a:endParaRPr>
          </a:p>
          <a:p>
            <a:pPr>
              <a:lnSpc>
                <a:spcPct val="90000"/>
              </a:lnSpc>
              <a:spcBef>
                <a:spcPts val="750"/>
              </a:spcBef>
              <a:buClr>
                <a:srgbClr val="000000"/>
              </a:buClr>
            </a:pPr>
            <a:endParaRPr lang="en-GB" b="1" kern="0" dirty="0">
              <a:solidFill>
                <a:srgbClr val="000000"/>
              </a:solidFill>
              <a:latin typeface="Arial"/>
              <a:ea typeface="+mn-lt"/>
              <a:cs typeface="Arial"/>
              <a:sym typeface="Arial"/>
            </a:endParaRPr>
          </a:p>
          <a:p>
            <a:pPr>
              <a:lnSpc>
                <a:spcPct val="90000"/>
              </a:lnSpc>
              <a:spcBef>
                <a:spcPts val="750"/>
              </a:spcBef>
              <a:buClr>
                <a:srgbClr val="000000"/>
              </a:buClr>
            </a:pPr>
            <a:endParaRPr lang="en-GB" b="1" kern="0" dirty="0">
              <a:solidFill>
                <a:srgbClr val="000000"/>
              </a:solidFill>
              <a:latin typeface="Arial"/>
              <a:ea typeface="+mn-lt"/>
              <a:cs typeface="Arial"/>
              <a:sym typeface="Arial"/>
            </a:endParaRPr>
          </a:p>
          <a:p>
            <a:pPr>
              <a:lnSpc>
                <a:spcPct val="90000"/>
              </a:lnSpc>
              <a:spcBef>
                <a:spcPts val="750"/>
              </a:spcBef>
              <a:buClr>
                <a:srgbClr val="000000"/>
              </a:buClr>
            </a:pPr>
            <a:endParaRPr lang="en-GB" b="1" kern="0" dirty="0">
              <a:solidFill>
                <a:srgbClr val="000000"/>
              </a:solidFill>
              <a:latin typeface="Arial"/>
              <a:ea typeface="+mn-lt"/>
              <a:cs typeface="Arial"/>
              <a:sym typeface="Arial"/>
            </a:endParaRPr>
          </a:p>
          <a:p>
            <a:pPr>
              <a:lnSpc>
                <a:spcPct val="90000"/>
              </a:lnSpc>
              <a:spcBef>
                <a:spcPts val="750"/>
              </a:spcBef>
              <a:buClr>
                <a:srgbClr val="000000"/>
              </a:buClr>
            </a:pPr>
            <a:endParaRPr lang="en-GB" b="1" kern="0" dirty="0">
              <a:solidFill>
                <a:srgbClr val="000000"/>
              </a:solidFill>
              <a:latin typeface="Arial"/>
              <a:ea typeface="+mn-lt"/>
              <a:cs typeface="Arial"/>
              <a:sym typeface="Arial"/>
            </a:endParaRPr>
          </a:p>
          <a:p>
            <a:pPr>
              <a:lnSpc>
                <a:spcPct val="90000"/>
              </a:lnSpc>
              <a:spcBef>
                <a:spcPts val="750"/>
              </a:spcBef>
              <a:buClr>
                <a:srgbClr val="000000"/>
              </a:buClr>
            </a:pPr>
            <a:endParaRPr lang="en-GB" kern="0" dirty="0">
              <a:solidFill>
                <a:srgbClr val="000000"/>
              </a:solidFill>
              <a:latin typeface="Arial"/>
              <a:ea typeface="+mn-lt"/>
              <a:cs typeface="Arial"/>
              <a:sym typeface="Arial"/>
            </a:endParaRPr>
          </a:p>
        </p:txBody>
      </p:sp>
      <p:pic>
        <p:nvPicPr>
          <p:cNvPr id="2" name="object 16">
            <a:extLst>
              <a:ext uri="{FFF7CCED-D3EC-4404-866E-99405F502441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AC2C1D2C-E003-4FDC-B608-0E7D1FA3C11E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790955" y="2694432"/>
            <a:ext cx="1615186" cy="1985772"/>
          </a:xfrm>
          <a:prstGeom prst="rect">
            <a:avLst/>
          </a:prstGeom>
          <a:noFill/>
        </p:spPr>
      </p:pic>
      <p:pic>
        <p:nvPicPr>
          <p:cNvPr id="3" name="object 28">
            <a:extLst>
              <a:ext uri="{97B4F641-4B96-42C2-8012-E7F5FC0E559B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4CF6C24-8CA4-4C19-A396-932CB9BED215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4454652" y="2766060"/>
            <a:ext cx="1581912" cy="1914144"/>
          </a:xfrm>
          <a:prstGeom prst="rect">
            <a:avLst/>
          </a:prstGeom>
          <a:noFill/>
        </p:spPr>
      </p:pic>
      <p:pic>
        <p:nvPicPr>
          <p:cNvPr id="4" name="object 29">
            <a:extLst>
              <a:ext uri="{4293B957-A252-40D1-8FD0-3397AC06703E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CBD08832-E114-4F21-A8B6-315BA6214D1F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7447788" y="2694432"/>
            <a:ext cx="1696211" cy="205130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3581400" y="3898620"/>
            <a:ext cx="11353800" cy="19236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5000" dirty="0">
                <a:latin typeface="Agrandir Wide Black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9134</TotalTime>
  <Words>2630</Words>
  <Application>Microsoft Office PowerPoint</Application>
  <PresentationFormat>Custom</PresentationFormat>
  <Paragraphs>597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42" baseType="lpstr">
      <vt:lpstr>Times New Roman</vt:lpstr>
      <vt:lpstr>Agrandir Wide Black Bold</vt:lpstr>
      <vt:lpstr>Calibri</vt:lpstr>
      <vt:lpstr>Gill Sans</vt:lpstr>
      <vt:lpstr>Arial,Sans-Serif</vt:lpstr>
      <vt:lpstr>Montserrat</vt:lpstr>
      <vt:lpstr>Carlito</vt:lpstr>
      <vt:lpstr>Roboto</vt:lpstr>
      <vt:lpstr>Lexend Deca</vt:lpstr>
      <vt:lpstr>Open Sans</vt:lpstr>
      <vt:lpstr>Lato</vt:lpstr>
      <vt:lpstr>Avenir</vt:lpstr>
      <vt:lpstr>charter</vt:lpstr>
      <vt:lpstr>Arial</vt:lpstr>
      <vt:lpstr>Antonio Bold</vt:lpstr>
      <vt:lpstr>Verdana</vt:lpstr>
      <vt:lpstr>Raleway</vt:lpstr>
      <vt:lpstr>Barlow</vt:lpstr>
      <vt:lpstr>Wingdings</vt:lpstr>
      <vt:lpstr>Office Theme</vt:lpstr>
      <vt:lpstr>PowerPoint Presentation</vt:lpstr>
      <vt:lpstr>JUSTIFICATION FOR SUSTAINABLE DEVELOPMENT GOAL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Next-Gen 2021: Global Program Overview Editable Deck</dc:title>
  <dc:creator>R.Sujatha</dc:creator>
  <cp:lastModifiedBy>Akash Santhnu Sundar</cp:lastModifiedBy>
  <cp:revision>255</cp:revision>
  <dcterms:created xsi:type="dcterms:W3CDTF">2006-08-16T00:00:00Z</dcterms:created>
  <dcterms:modified xsi:type="dcterms:W3CDTF">2024-11-22T03:23:30Z</dcterms:modified>
  <dc:identifier>DAEgz1I4riU</dc:identifier>
</cp:coreProperties>
</file>